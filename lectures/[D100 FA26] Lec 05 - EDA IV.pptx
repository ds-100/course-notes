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y="5143500" cx="9144000"/>
  <p:notesSz cx="6858000" cy="9144000"/>
  <p:embeddedFontLst>
    <p:embeddedFont>
      <p:font typeface="Roboto Mono Medium"/>
      <p:regular r:id="rId68"/>
      <p:bold r:id="rId69"/>
      <p:italic r:id="rId70"/>
      <p:boldItalic r:id="rId71"/>
    </p:embeddedFont>
    <p:embeddedFont>
      <p:font typeface="Roboto Medium"/>
      <p:regular r:id="rId72"/>
      <p:bold r:id="rId73"/>
      <p:italic r:id="rId74"/>
      <p:boldItalic r:id="rId75"/>
    </p:embeddedFont>
    <p:embeddedFont>
      <p:font typeface="Inter"/>
      <p:regular r:id="rId76"/>
      <p:bold r:id="rId77"/>
      <p:italic r:id="rId78"/>
      <p:boldItalic r:id="rId79"/>
    </p:embeddedFont>
    <p:embeddedFont>
      <p:font typeface="Helvetica Neue"/>
      <p:regular r:id="rId80"/>
      <p:bold r:id="rId81"/>
      <p:italic r:id="rId82"/>
      <p:boldItalic r:id="rId83"/>
    </p:embeddedFont>
    <p:embeddedFont>
      <p:font typeface="Roboto Light"/>
      <p:regular r:id="rId84"/>
      <p:bold r:id="rId85"/>
      <p:italic r:id="rId86"/>
      <p:boldItalic r:id="rId87"/>
    </p:embeddedFont>
    <p:embeddedFont>
      <p:font typeface="Roboto Mono"/>
      <p:regular r:id="rId88"/>
      <p:bold r:id="rId89"/>
      <p:italic r:id="rId90"/>
      <p:boldItalic r:id="rId91"/>
    </p:embeddedFont>
    <p:embeddedFont>
      <p:font typeface="Century Gothic"/>
      <p:regular r:id="rId92"/>
      <p:bold r:id="rId93"/>
      <p:italic r:id="rId94"/>
      <p:boldItalic r:id="rId95"/>
    </p:embeddedFont>
    <p:embeddedFont>
      <p:font typeface="Roboto"/>
      <p:regular r:id="rId96"/>
      <p:bold r:id="rId97"/>
      <p:italic r:id="rId98"/>
      <p:boldItalic r:id="rId99"/>
    </p:embeddedFont>
    <p:embeddedFont>
      <p:font typeface="Inter Light"/>
      <p:regular r:id="rId100"/>
      <p:bold r:id="rId101"/>
      <p:italic r:id="rId102"/>
      <p:boldItalic r:id="rId103"/>
    </p:embeddedFont>
    <p:embeddedFont>
      <p:font typeface="Roboto Mono Light"/>
      <p:regular r:id="rId104"/>
      <p:bold r:id="rId105"/>
      <p:italic r:id="rId106"/>
      <p:boldItalic r:id="rId107"/>
    </p:embeddedFont>
    <p:embeddedFont>
      <p:font typeface="Inconsolata Medium"/>
      <p:regular r:id="rId108"/>
      <p:bold r:id="rId10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10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8C7BDA-818C-4EB6-94C1-2E421272494B}">
  <a:tblStyle styleId="{A18C7BDA-818C-4EB6-94C1-2E421272494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AFC322C-B537-4A77-A848-E48FA33A0D54}" styleName="Table_1">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105"/>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font" Target="fonts/RobotoMonoLight-boldItalic.fntdata"/><Relationship Id="rId106" Type="http://schemas.openxmlformats.org/officeDocument/2006/relationships/font" Target="fonts/RobotoMonoLight-italic.fntdata"/><Relationship Id="rId105" Type="http://schemas.openxmlformats.org/officeDocument/2006/relationships/font" Target="fonts/RobotoMonoLight-bold.fntdata"/><Relationship Id="rId104" Type="http://schemas.openxmlformats.org/officeDocument/2006/relationships/font" Target="fonts/RobotoMonoLight-regular.fntdata"/><Relationship Id="rId109" Type="http://schemas.openxmlformats.org/officeDocument/2006/relationships/font" Target="fonts/InconsolataMedium-bold.fntdata"/><Relationship Id="rId108" Type="http://schemas.openxmlformats.org/officeDocument/2006/relationships/font" Target="fonts/InconsolataMedium-regular.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font" Target="fonts/InterLight-boldItalic.fntdata"/><Relationship Id="rId102" Type="http://schemas.openxmlformats.org/officeDocument/2006/relationships/font" Target="fonts/InterLight-italic.fntdata"/><Relationship Id="rId101" Type="http://schemas.openxmlformats.org/officeDocument/2006/relationships/font" Target="fonts/InterLight-bold.fntdata"/><Relationship Id="rId100" Type="http://schemas.openxmlformats.org/officeDocument/2006/relationships/font" Target="fonts/InterLight-regular.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CenturyGothic-boldItalic.fntdata"/><Relationship Id="rId94" Type="http://schemas.openxmlformats.org/officeDocument/2006/relationships/font" Target="fonts/CenturyGothic-italic.fntdata"/><Relationship Id="rId97" Type="http://schemas.openxmlformats.org/officeDocument/2006/relationships/font" Target="fonts/Roboto-bold.fntdata"/><Relationship Id="rId96" Type="http://schemas.openxmlformats.org/officeDocument/2006/relationships/font" Target="fonts/Roboto-regular.fntdata"/><Relationship Id="rId11" Type="http://schemas.openxmlformats.org/officeDocument/2006/relationships/slide" Target="slides/slide5.xml"/><Relationship Id="rId99" Type="http://schemas.openxmlformats.org/officeDocument/2006/relationships/font" Target="fonts/Roboto-boldItalic.fntdata"/><Relationship Id="rId10" Type="http://schemas.openxmlformats.org/officeDocument/2006/relationships/slide" Target="slides/slide4.xml"/><Relationship Id="rId98" Type="http://schemas.openxmlformats.org/officeDocument/2006/relationships/font" Target="fonts/Roboto-italic.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RobotoMono-boldItalic.fntdata"/><Relationship Id="rId90" Type="http://schemas.openxmlformats.org/officeDocument/2006/relationships/font" Target="fonts/RobotoMono-italic.fntdata"/><Relationship Id="rId93" Type="http://schemas.openxmlformats.org/officeDocument/2006/relationships/font" Target="fonts/CenturyGothic-bold.fntdata"/><Relationship Id="rId92" Type="http://schemas.openxmlformats.org/officeDocument/2006/relationships/font" Target="fonts/CenturyGothic-regular.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font" Target="fonts/RobotoLight-regular.fntdata"/><Relationship Id="rId83" Type="http://schemas.openxmlformats.org/officeDocument/2006/relationships/font" Target="fonts/HelveticaNeue-boldItalic.fntdata"/><Relationship Id="rId86" Type="http://schemas.openxmlformats.org/officeDocument/2006/relationships/font" Target="fonts/RobotoLight-italic.fntdata"/><Relationship Id="rId85" Type="http://schemas.openxmlformats.org/officeDocument/2006/relationships/font" Target="fonts/RobotoLight-bold.fntdata"/><Relationship Id="rId88" Type="http://schemas.openxmlformats.org/officeDocument/2006/relationships/font" Target="fonts/RobotoMono-regular.fntdata"/><Relationship Id="rId87" Type="http://schemas.openxmlformats.org/officeDocument/2006/relationships/font" Target="fonts/RobotoLight-boldItalic.fntdata"/><Relationship Id="rId89" Type="http://schemas.openxmlformats.org/officeDocument/2006/relationships/font" Target="fonts/RobotoMono-bold.fntdata"/><Relationship Id="rId80" Type="http://schemas.openxmlformats.org/officeDocument/2006/relationships/font" Target="fonts/HelveticaNeue-regular.fntdata"/><Relationship Id="rId82" Type="http://schemas.openxmlformats.org/officeDocument/2006/relationships/font" Target="fonts/HelveticaNeue-italic.fntdata"/><Relationship Id="rId81" Type="http://schemas.openxmlformats.org/officeDocument/2006/relationships/font" Target="fonts/HelveticaNeue-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obotoMedium-bold.fntdata"/><Relationship Id="rId72" Type="http://schemas.openxmlformats.org/officeDocument/2006/relationships/font" Target="fonts/RobotoMedium-regular.fntdata"/><Relationship Id="rId75" Type="http://schemas.openxmlformats.org/officeDocument/2006/relationships/font" Target="fonts/RobotoMedium-boldItalic.fntdata"/><Relationship Id="rId74" Type="http://schemas.openxmlformats.org/officeDocument/2006/relationships/font" Target="fonts/RobotoMedium-italic.fntdata"/><Relationship Id="rId77" Type="http://schemas.openxmlformats.org/officeDocument/2006/relationships/font" Target="fonts/Inter-bold.fntdata"/><Relationship Id="rId76" Type="http://schemas.openxmlformats.org/officeDocument/2006/relationships/font" Target="fonts/Inter-regular.fntdata"/><Relationship Id="rId79" Type="http://schemas.openxmlformats.org/officeDocument/2006/relationships/font" Target="fonts/Inter-boldItalic.fntdata"/><Relationship Id="rId78" Type="http://schemas.openxmlformats.org/officeDocument/2006/relationships/font" Target="fonts/Inter-italic.fntdata"/><Relationship Id="rId71" Type="http://schemas.openxmlformats.org/officeDocument/2006/relationships/font" Target="fonts/RobotoMonoMedium-boldItalic.fntdata"/><Relationship Id="rId70" Type="http://schemas.openxmlformats.org/officeDocument/2006/relationships/font" Target="fonts/RobotoMonoMedium-italic.fntdata"/><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font" Target="fonts/RobotoMonoMedium-regular.fntdata"/><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font" Target="fonts/RobotoMonoMedium-bold.fntdata"/><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SLIDES_API147958754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SLIDES_API147958754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Slido interaction slide, please don't delete it.</a:t>
            </a:r>
            <a:br>
              <a:rPr lang="en"/>
            </a:br>
            <a:r>
              <a:rPr lang="en"/>
              <a:t>✅ Click on 'Present with Slido' and the joining instructions will appear when you get to this slide.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b3616a2ea1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b3616a2ea1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fa3be0d6fa_1_54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fa3be0d6fa_1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fa3be0d6fa_1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fa3be0d6fa_1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SLIDES_API79340811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SLIDES_API7934081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Slido interaction slide, please don't delete it.</a:t>
            </a:r>
            <a:br>
              <a:rPr lang="en"/>
            </a:br>
            <a:r>
              <a:rPr lang="en"/>
              <a:t>✅ Click on 'Present with Slido' and the poll will launch automatically when you get to this slide.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a3be0d6fa_1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fa3be0d6fa_1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SLIDES_API106971294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SLIDES_API106971294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Slido interaction slide, please don't delete it.</a:t>
            </a:r>
            <a:br>
              <a:rPr lang="en"/>
            </a:br>
            <a:r>
              <a:rPr lang="en"/>
              <a:t>✅ Click on 'Present with Slido' and the poll will launch automatically when you get to this slide.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fa3be0d6fa_1_31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fa3be0d6fa_1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a3be0d6fa_1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fa3be0d6fa_1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fa3be0d6fa_1_33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fa3be0d6fa_1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fa3be0d6fa_1_34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fa3be0d6fa_1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SLIDES_API151070437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SLIDES_API151070437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Slido interaction slide, please don't delete it.</a:t>
            </a:r>
            <a:br>
              <a:rPr lang="en"/>
            </a:br>
            <a:r>
              <a:rPr lang="en"/>
              <a:t>✅ Click on 'Present with Slido' and the poll will launch automatically when you get to this slide.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fa3be0d6fa_1_36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fa3be0d6fa_1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SLIDES_API104725553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SLIDES_API104725553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Slido interaction slide, please don't delete it.</a:t>
            </a:r>
            <a:br>
              <a:rPr lang="en"/>
            </a:br>
            <a:r>
              <a:rPr lang="en"/>
              <a:t>✅ Click on 'Present with Slido' and the poll will launch automatically when you get to this slide.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fa3be0d6fa_1_39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fa3be0d6fa_1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fa3be0d6fa_1_40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fa3be0d6fa_1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fa3be0d6fa_1_40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fa3be0d6fa_1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fa3be0d6fa_1_41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fa3be0d6fa_1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fa3be0d6fa_1_42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fa3be0d6fa_1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b3616a2ea1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2b3616a2ea1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b3616a2ea1_0_6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g2b3616a2ea1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b3616a2ea1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2b3616a2ea1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4270987107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g24270987107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g24270987107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4270987107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4270987107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(Lisa's edit 2/1/2022 post-lecture)</a:t>
            </a:r>
            <a:endParaRPr/>
          </a:p>
          <a:p>
            <a:pPr indent="0" lvl="0" marL="0" rtl="0" algn="l">
              <a:spcBef>
                <a:spcPts val="0"/>
              </a:spcBef>
              <a:spcAft>
                <a:spcPts val="0"/>
              </a:spcAft>
              <a:buNone/>
            </a:pPr>
            <a:r>
              <a:rPr lang="en"/>
              <a:t>There were several questions in lecture today:</a:t>
            </a:r>
            <a:endParaRPr/>
          </a:p>
          <a:p>
            <a:pPr indent="-298450" lvl="0" marL="457200" rtl="0" algn="l">
              <a:spcBef>
                <a:spcPts val="0"/>
              </a:spcBef>
              <a:spcAft>
                <a:spcPts val="0"/>
              </a:spcAft>
              <a:buSzPts val="1100"/>
              <a:buChar char="●"/>
            </a:pPr>
            <a:r>
              <a:rPr lang="en"/>
              <a:t>Couldn't GPA be quantitative discrete, since technically there are a finite number of possible GPAs?</a:t>
            </a:r>
            <a:endParaRPr/>
          </a:p>
          <a:p>
            <a:pPr indent="-298450" lvl="0" marL="457200" rtl="0" algn="l">
              <a:spcBef>
                <a:spcPts val="0"/>
              </a:spcBef>
              <a:spcAft>
                <a:spcPts val="0"/>
              </a:spcAft>
              <a:buSzPts val="1100"/>
              <a:buChar char="●"/>
            </a:pPr>
            <a:r>
              <a:rPr lang="en"/>
              <a:t>Couldn't Number of years of education be Qualitative Ordinal, since a gap of a "year" is dependent on when that year of education occurred?</a:t>
            </a:r>
            <a:endParaRPr/>
          </a:p>
          <a:p>
            <a:pPr indent="-298450" lvl="0" marL="457200" rtl="0" algn="l">
              <a:spcBef>
                <a:spcPts val="0"/>
              </a:spcBef>
              <a:spcAft>
                <a:spcPts val="0"/>
              </a:spcAft>
              <a:buSzPts val="1100"/>
              <a:buChar char="●"/>
            </a:pPr>
            <a:r>
              <a:rPr lang="en"/>
              <a:t>Couldn't Yelp Rating be quantitative discrete for the same reasons as GPA?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answer to all these questions (except education, see below) is: "Yes, it could! But it depends on what question you are trying to answer with data." We'll see next week that many of these feature types are tied to how you'd want to visualize data. Would you want to scatterplot GPA, or do you want to lineplot GPA? How do you want to present Yelp Ratings—categorically (e.g. bar plot), or quantitatively (e.g., scatter plot)? What story are you asking from the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Side note on education: In my (Lisa's) research I prefer asking education level as a Qualitative Nominal variable— high school, Undergrad, Master's, PhD, etc.—precisely because of the above points. As data scientists working with educational data it's highly likely that you won't care about quantitatively comparing number of years; you probably care more about type (i.e., category) of education.</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SLIDES_API164206803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SLIDES_API164206803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Slido interaction slide, please don't delete it.</a:t>
            </a:r>
            <a:br>
              <a:rPr lang="en"/>
            </a:br>
            <a:r>
              <a:rPr lang="en"/>
              <a:t>✅ Click on 'Present with Slido' and the poll will launch automatically when you get to this slide.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792ee6f09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792ee6f0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b3616a2ea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2b3616a2ea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2ec4090657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2ec4090657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2b3616a2ea1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2b3616a2ea1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SLIDES_API53899827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SLIDES_API53899827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Slido interaction slide, please don't delete it.</a:t>
            </a:r>
            <a:br>
              <a:rPr lang="en"/>
            </a:br>
            <a:r>
              <a:rPr lang="en"/>
              <a:t>✅ Click on 'Present with Slido' and the poll will launch automatically when you get to this slide.</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7cd04ef1a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7cd04ef1a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SLIDES_API118742257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SLIDES_API118742257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Slido interaction slide, please don't delete it.</a:t>
            </a:r>
            <a:br>
              <a:rPr lang="en"/>
            </a:br>
            <a:r>
              <a:rPr lang="en"/>
              <a:t>✅ Click on 'Present with Slido' and the poll will launch automatically when you get to this slide.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7cd04ef1a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7cd04ef1a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1ee15b92a69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1ee15b92a69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SLIDES_API15305658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SLIDES_API15305658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Slido interaction slide, please don't delete it.</a:t>
            </a:r>
            <a:br>
              <a:rPr lang="en"/>
            </a:br>
            <a:r>
              <a:rPr lang="en"/>
              <a:t>✅ Click on 'Present with Slido' and the poll will launch automatically when you get to this slide.</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2b556aa0d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2b556aa0d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427098710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2427098710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efafb4406b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3efafb4406b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efafb4406b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efafb4406b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efafb4406b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efafb4406b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efafb4406b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3efafb4406b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fafb4406b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efafb4406b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efafb4406b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3efafb4406b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efafb4406b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3efafb4406b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efafb4406b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3efafb4406b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efafb4406b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3efafb4406b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efafb4406b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3efafb4406b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efafb4406b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3efafb4406b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SLIDES_API205952158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SLIDES_API205952158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Slido interaction slide, please don't delete it.</a:t>
            </a:r>
            <a:br>
              <a:rPr lang="en"/>
            </a:br>
            <a:r>
              <a:rPr lang="en"/>
              <a:t>✅ Click on 'Present with Slido' and the poll will launch automatically when you get to this slide.</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fafb4406b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3efafb4406b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2b3616a2ea1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2b3616a2ea1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24270987107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24270987107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1ee15b92a69_4_9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1ee15b92a69_4_9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1ee15b92a69_4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1" name="Google Shape;851;g1ee15b92a69_4_1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1ee15b92a69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1ee15b92a69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1ee15b92a69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1ee15b92a69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SLIDES_API118275109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SLIDES_API118275109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This is Slido interaction slide, please don't delete it.</a:t>
            </a:r>
            <a:br>
              <a:rPr lang="en"/>
            </a:br>
            <a:r>
              <a:rPr lang="en"/>
              <a:t>✅ Click on 'Present with Slido' and the poll will launch automatically when you get to this slide.</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2bbb2ca81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32bbb2ca8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3bcc6fe9c99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3bcc6fe9c99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1ee15b92a69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1ee15b92a69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2f60dffdb7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3" name="Google Shape;923;g2f60dffdb7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4" name="Google Shape;14;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9" name="Google Shape;19;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4" name="Google Shape;24;p4"/>
          <p:cNvCxnSpPr/>
          <p:nvPr/>
        </p:nvCxnSpPr>
        <p:spPr>
          <a:xfrm flipH="1" rot="10800000">
            <a:off x="95431" y="398310"/>
            <a:ext cx="8477400" cy="390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5" name="Shape 25"/>
        <p:cNvGrpSpPr/>
        <p:nvPr/>
      </p:nvGrpSpPr>
      <p:grpSpPr>
        <a:xfrm>
          <a:off x="0" y="0"/>
          <a:ext cx="0" cy="0"/>
          <a:chOff x="0" y="0"/>
          <a:chExt cx="0" cy="0"/>
        </a:xfrm>
      </p:grpSpPr>
      <p:sp>
        <p:nvSpPr>
          <p:cNvPr id="26" name="Google Shape;26;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pic>
        <p:nvPicPr>
          <p:cNvPr id="29" name="Google Shape;29;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30" name="Google Shape;30;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31" name="Google Shape;31;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32" name="Google Shape;32;p5"/>
          <p:cNvSpPr txBox="1"/>
          <p:nvPr/>
        </p:nvSpPr>
        <p:spPr>
          <a:xfrm>
            <a:off x="177925" y="4068000"/>
            <a:ext cx="4158000" cy="393600"/>
          </a:xfrm>
          <a:prstGeom prst="rect">
            <a:avLst/>
          </a:prstGeom>
          <a:noFill/>
          <a:ln>
            <a:noFill/>
          </a:ln>
        </p:spPr>
        <p:txBody>
          <a:bodyPr anchorCtr="0" anchor="ctr" bIns="91425" lIns="91425" spcFirstLastPara="1" rIns="91425" wrap="square" tIns="91425">
            <a:noAutofit/>
          </a:bodyPr>
          <a:lstStyle/>
          <a:p>
            <a:pPr indent="0" lvl="0" marL="0" rtl="0" algn="l">
              <a:spcBef>
                <a:spcPts val="600"/>
              </a:spcBef>
              <a:spcAft>
                <a:spcPts val="0"/>
              </a:spcAft>
              <a:buNone/>
            </a:pPr>
            <a:r>
              <a:rPr lang="en" sz="1600">
                <a:latin typeface="Roboto Light"/>
                <a:ea typeface="Roboto Light"/>
                <a:cs typeface="Roboto Light"/>
                <a:sym typeface="Roboto Light"/>
              </a:rPr>
              <a:t>Lecture 5</a:t>
            </a:r>
            <a:r>
              <a:rPr lang="en" sz="1600">
                <a:solidFill>
                  <a:srgbClr val="000000"/>
                </a:solidFill>
                <a:latin typeface="Roboto Light"/>
                <a:ea typeface="Roboto Light"/>
                <a:cs typeface="Roboto Light"/>
                <a:sym typeface="Roboto Light"/>
              </a:rPr>
              <a:t>, Data 100 </a:t>
            </a:r>
            <a:r>
              <a:rPr lang="en" sz="1600">
                <a:latin typeface="Roboto Light"/>
                <a:ea typeface="Roboto Light"/>
                <a:cs typeface="Roboto Light"/>
                <a:sym typeface="Roboto Light"/>
              </a:rPr>
              <a:t>Summer 2026</a:t>
            </a:r>
            <a:endParaRPr sz="1600">
              <a:latin typeface="Roboto Light"/>
              <a:ea typeface="Roboto Light"/>
              <a:cs typeface="Roboto Light"/>
              <a:sym typeface="Roboto Ligh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33" name="Shape 33"/>
        <p:cNvGrpSpPr/>
        <p:nvPr/>
      </p:nvGrpSpPr>
      <p:grpSpPr>
        <a:xfrm>
          <a:off x="0" y="0"/>
          <a:ext cx="0" cy="0"/>
          <a:chOff x="0" y="0"/>
          <a:chExt cx="0" cy="0"/>
        </a:xfrm>
      </p:grpSpPr>
      <p:sp>
        <p:nvSpPr>
          <p:cNvPr id="34" name="Google Shape;34;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8" name="Google Shape;38;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39" name="Google Shape;39;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0" name="Google Shape;40;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41" name="Shape 41"/>
        <p:cNvGrpSpPr/>
        <p:nvPr/>
      </p:nvGrpSpPr>
      <p:grpSpPr>
        <a:xfrm>
          <a:off x="0" y="0"/>
          <a:ext cx="0" cy="0"/>
          <a:chOff x="0" y="0"/>
          <a:chExt cx="0" cy="0"/>
        </a:xfrm>
      </p:grpSpPr>
      <p:sp>
        <p:nvSpPr>
          <p:cNvPr id="42" name="Google Shape;42;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4" name="Google Shape;44;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5" name="Google Shape;45;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46" name="Google Shape;46;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7" name="Google Shape;47;p7"/>
          <p:cNvCxnSpPr/>
          <p:nvPr/>
        </p:nvCxnSpPr>
        <p:spPr>
          <a:xfrm flipH="1" rot="10800000">
            <a:off x="4667431" y="398310"/>
            <a:ext cx="3898200" cy="3900"/>
          </a:xfrm>
          <a:prstGeom prst="straightConnector1">
            <a:avLst/>
          </a:prstGeom>
          <a:noFill/>
          <a:ln cap="flat" cmpd="sng" w="19050">
            <a:solidFill>
              <a:srgbClr val="BF9000"/>
            </a:solidFill>
            <a:prstDash val="solid"/>
            <a:round/>
            <a:headEnd len="med" w="med" type="none"/>
            <a:tailEnd len="med" w="med" type="none"/>
          </a:ln>
        </p:spPr>
      </p:cxnSp>
      <p:pic>
        <p:nvPicPr>
          <p:cNvPr id="48" name="Google Shape;48;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9" name="Google Shape;49;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0" name="Shape 50"/>
        <p:cNvGrpSpPr/>
        <p:nvPr/>
      </p:nvGrpSpPr>
      <p:grpSpPr>
        <a:xfrm>
          <a:off x="0" y="0"/>
          <a:ext cx="0" cy="0"/>
          <a:chOff x="0" y="0"/>
          <a:chExt cx="0" cy="0"/>
        </a:xfrm>
      </p:grpSpPr>
      <p:sp>
        <p:nvSpPr>
          <p:cNvPr id="51" name="Google Shape;51;p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8"/>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53" name="Google Shape;53;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54" name="Google Shape;54;p8"/>
          <p:cNvCxnSpPr/>
          <p:nvPr/>
        </p:nvCxnSpPr>
        <p:spPr>
          <a:xfrm flipH="1" rot="10800000">
            <a:off x="95431" y="398310"/>
            <a:ext cx="8463300" cy="3900"/>
          </a:xfrm>
          <a:prstGeom prst="straightConnector1">
            <a:avLst/>
          </a:prstGeom>
          <a:noFill/>
          <a:ln cap="flat" cmpd="sng" w="19050">
            <a:solidFill>
              <a:srgbClr val="BF9000"/>
            </a:solidFill>
            <a:prstDash val="solid"/>
            <a:round/>
            <a:headEnd len="med" w="med" type="none"/>
            <a:tailEnd len="med" w="med" type="none"/>
          </a:ln>
        </p:spPr>
      </p:cxnSp>
      <p:sp>
        <p:nvSpPr>
          <p:cNvPr id="55" name="Google Shape;55;p8"/>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 name="Google Shape;5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59" name="Google Shape;59;p9"/>
          <p:cNvCxnSpPr/>
          <p:nvPr/>
        </p:nvCxnSpPr>
        <p:spPr>
          <a:xfrm>
            <a:off x="95431" y="402210"/>
            <a:ext cx="8427900" cy="330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0" name="Shape 60"/>
        <p:cNvGrpSpPr/>
        <p:nvPr/>
      </p:nvGrpSpPr>
      <p:grpSpPr>
        <a:xfrm>
          <a:off x="0" y="0"/>
          <a:ext cx="0" cy="0"/>
          <a:chOff x="0" y="0"/>
          <a:chExt cx="0" cy="0"/>
        </a:xfrm>
      </p:grpSpPr>
      <p:sp>
        <p:nvSpPr>
          <p:cNvPr id="61" name="Google Shape;61;p1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2" name="Google Shape;62;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63" name="Shape 63"/>
        <p:cNvGrpSpPr/>
        <p:nvPr/>
      </p:nvGrpSpPr>
      <p:grpSpPr>
        <a:xfrm>
          <a:off x="0" y="0"/>
          <a:ext cx="0" cy="0"/>
          <a:chOff x="0" y="0"/>
          <a:chExt cx="0" cy="0"/>
        </a:xfrm>
      </p:grpSpPr>
      <p:sp>
        <p:nvSpPr>
          <p:cNvPr id="64" name="Google Shape;64;p11"/>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6" name="Google Shape;66;p1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7" name="Google Shape;6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1"/>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9" name="Shape 69"/>
        <p:cNvGrpSpPr/>
        <p:nvPr/>
      </p:nvGrpSpPr>
      <p:grpSpPr>
        <a:xfrm>
          <a:off x="0" y="0"/>
          <a:ext cx="0" cy="0"/>
          <a:chOff x="0" y="0"/>
          <a:chExt cx="0" cy="0"/>
        </a:xfrm>
      </p:grpSpPr>
      <p:sp>
        <p:nvSpPr>
          <p:cNvPr id="70" name="Google Shape;7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1" name="Google Shape;71;p12"/>
          <p:cNvSpPr txBox="1"/>
          <p:nvPr>
            <p:ph type="title"/>
          </p:nvPr>
        </p:nvSpPr>
        <p:spPr>
          <a:xfrm>
            <a:off x="95425" y="4382350"/>
            <a:ext cx="8425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cxnSp>
        <p:nvCxnSpPr>
          <p:cNvPr id="72" name="Google Shape;72;p12"/>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3" name="Shape 73"/>
        <p:cNvGrpSpPr/>
        <p:nvPr/>
      </p:nvGrpSpPr>
      <p:grpSpPr>
        <a:xfrm>
          <a:off x="0" y="0"/>
          <a:ext cx="0" cy="0"/>
          <a:chOff x="0" y="0"/>
          <a:chExt cx="0" cy="0"/>
        </a:xfrm>
      </p:grpSpPr>
      <p:sp>
        <p:nvSpPr>
          <p:cNvPr id="74" name="Google Shape;74;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75" name="Shape 75"/>
        <p:cNvGrpSpPr/>
        <p:nvPr/>
      </p:nvGrpSpPr>
      <p:grpSpPr>
        <a:xfrm>
          <a:off x="0" y="0"/>
          <a:ext cx="0" cy="0"/>
          <a:chOff x="0" y="0"/>
          <a:chExt cx="0" cy="0"/>
        </a:xfrm>
      </p:grpSpPr>
      <p:sp>
        <p:nvSpPr>
          <p:cNvPr id="76" name="Google Shape;76;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77" name="Shape 77"/>
        <p:cNvGrpSpPr/>
        <p:nvPr/>
      </p:nvGrpSpPr>
      <p:grpSpPr>
        <a:xfrm>
          <a:off x="0" y="0"/>
          <a:ext cx="0" cy="0"/>
          <a:chOff x="0" y="0"/>
          <a:chExt cx="0" cy="0"/>
        </a:xfrm>
      </p:grpSpPr>
      <p:sp>
        <p:nvSpPr>
          <p:cNvPr id="78" name="Google Shape;78;p15"/>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0" name="Google Shape;80;p1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pic>
        <p:nvPicPr>
          <p:cNvPr id="81" name="Google Shape;81;p1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82" name="Google Shape;82;p1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83" name="Google Shape;83;p1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84" name="Google Shape;84;p1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6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_AND_BODY_1">
    <p:spTree>
      <p:nvGrpSpPr>
        <p:cNvPr id="85" name="Shape 85"/>
        <p:cNvGrpSpPr/>
        <p:nvPr/>
      </p:nvGrpSpPr>
      <p:grpSpPr>
        <a:xfrm>
          <a:off x="0" y="0"/>
          <a:ext cx="0" cy="0"/>
          <a:chOff x="0" y="0"/>
          <a:chExt cx="0" cy="0"/>
        </a:xfrm>
      </p:grpSpPr>
      <p:sp>
        <p:nvSpPr>
          <p:cNvPr id="86" name="Google Shape;86;p16"/>
          <p:cNvSpPr txBox="1"/>
          <p:nvPr>
            <p:ph type="title"/>
          </p:nvPr>
        </p:nvSpPr>
        <p:spPr>
          <a:xfrm>
            <a:off x="357188" y="198377"/>
            <a:ext cx="8429700" cy="624000"/>
          </a:xfrm>
          <a:prstGeom prst="rect">
            <a:avLst/>
          </a:prstGeom>
          <a:noFill/>
          <a:ln>
            <a:noFill/>
          </a:ln>
        </p:spPr>
        <p:txBody>
          <a:bodyPr anchorCtr="0" anchor="ctr" bIns="19050" lIns="19050" spcFirstLastPara="1" rIns="19050" wrap="square" tIns="19050">
            <a:noAutofit/>
          </a:bodyPr>
          <a:lstStyle>
            <a:lvl1pPr lvl="0" rtl="0" algn="ctr">
              <a:lnSpc>
                <a:spcPct val="90000"/>
              </a:lnSpc>
              <a:spcBef>
                <a:spcPts val="900"/>
              </a:spcBef>
              <a:spcAft>
                <a:spcPts val="0"/>
              </a:spcAft>
              <a:buClr>
                <a:srgbClr val="013262"/>
              </a:buClr>
              <a:buSzPts val="700"/>
              <a:buNone/>
              <a:defRPr/>
            </a:lvl1pPr>
            <a:lvl2pPr lvl="1" rtl="0" algn="ctr">
              <a:lnSpc>
                <a:spcPct val="90000"/>
              </a:lnSpc>
              <a:spcBef>
                <a:spcPts val="900"/>
              </a:spcBef>
              <a:spcAft>
                <a:spcPts val="0"/>
              </a:spcAft>
              <a:buClr>
                <a:srgbClr val="013262"/>
              </a:buClr>
              <a:buSzPts val="700"/>
              <a:buNone/>
              <a:defRPr/>
            </a:lvl2pPr>
            <a:lvl3pPr lvl="2" rtl="0" algn="ctr">
              <a:lnSpc>
                <a:spcPct val="90000"/>
              </a:lnSpc>
              <a:spcBef>
                <a:spcPts val="900"/>
              </a:spcBef>
              <a:spcAft>
                <a:spcPts val="0"/>
              </a:spcAft>
              <a:buClr>
                <a:srgbClr val="013262"/>
              </a:buClr>
              <a:buSzPts val="700"/>
              <a:buNone/>
              <a:defRPr/>
            </a:lvl3pPr>
            <a:lvl4pPr lvl="3" rtl="0" algn="ctr">
              <a:lnSpc>
                <a:spcPct val="90000"/>
              </a:lnSpc>
              <a:spcBef>
                <a:spcPts val="900"/>
              </a:spcBef>
              <a:spcAft>
                <a:spcPts val="0"/>
              </a:spcAft>
              <a:buClr>
                <a:srgbClr val="013262"/>
              </a:buClr>
              <a:buSzPts val="700"/>
              <a:buNone/>
              <a:defRPr/>
            </a:lvl4pPr>
            <a:lvl5pPr lvl="4" rtl="0" algn="ctr">
              <a:lnSpc>
                <a:spcPct val="90000"/>
              </a:lnSpc>
              <a:spcBef>
                <a:spcPts val="900"/>
              </a:spcBef>
              <a:spcAft>
                <a:spcPts val="0"/>
              </a:spcAft>
              <a:buClr>
                <a:srgbClr val="013262"/>
              </a:buClr>
              <a:buSzPts val="700"/>
              <a:buNone/>
              <a:defRPr/>
            </a:lvl5pPr>
            <a:lvl6pPr lvl="5" rtl="0" algn="ctr">
              <a:lnSpc>
                <a:spcPct val="90000"/>
              </a:lnSpc>
              <a:spcBef>
                <a:spcPts val="900"/>
              </a:spcBef>
              <a:spcAft>
                <a:spcPts val="0"/>
              </a:spcAft>
              <a:buClr>
                <a:srgbClr val="013262"/>
              </a:buClr>
              <a:buSzPts val="700"/>
              <a:buNone/>
              <a:defRPr/>
            </a:lvl6pPr>
            <a:lvl7pPr lvl="6" rtl="0" algn="ctr">
              <a:lnSpc>
                <a:spcPct val="90000"/>
              </a:lnSpc>
              <a:spcBef>
                <a:spcPts val="900"/>
              </a:spcBef>
              <a:spcAft>
                <a:spcPts val="0"/>
              </a:spcAft>
              <a:buClr>
                <a:srgbClr val="013262"/>
              </a:buClr>
              <a:buSzPts val="700"/>
              <a:buNone/>
              <a:defRPr/>
            </a:lvl7pPr>
            <a:lvl8pPr lvl="7" rtl="0" algn="ctr">
              <a:lnSpc>
                <a:spcPct val="90000"/>
              </a:lnSpc>
              <a:spcBef>
                <a:spcPts val="900"/>
              </a:spcBef>
              <a:spcAft>
                <a:spcPts val="0"/>
              </a:spcAft>
              <a:buClr>
                <a:srgbClr val="013262"/>
              </a:buClr>
              <a:buSzPts val="700"/>
              <a:buNone/>
              <a:defRPr/>
            </a:lvl8pPr>
            <a:lvl9pPr lvl="8" rtl="0" algn="ctr">
              <a:lnSpc>
                <a:spcPct val="90000"/>
              </a:lnSpc>
              <a:spcBef>
                <a:spcPts val="900"/>
              </a:spcBef>
              <a:spcAft>
                <a:spcPts val="0"/>
              </a:spcAft>
              <a:buClr>
                <a:srgbClr val="013262"/>
              </a:buClr>
              <a:buSzPts val="700"/>
              <a:buNone/>
              <a:defRPr/>
            </a:lvl9pPr>
          </a:lstStyle>
          <a:p/>
        </p:txBody>
      </p:sp>
      <p:sp>
        <p:nvSpPr>
          <p:cNvPr id="87" name="Google Shape;87;p16"/>
          <p:cNvSpPr txBox="1"/>
          <p:nvPr>
            <p:ph idx="12" type="sldNum"/>
          </p:nvPr>
        </p:nvSpPr>
        <p:spPr>
          <a:xfrm>
            <a:off x="4491037" y="4881563"/>
            <a:ext cx="157200" cy="190500"/>
          </a:xfrm>
          <a:prstGeom prst="rect">
            <a:avLst/>
          </a:prstGeom>
          <a:noFill/>
          <a:ln>
            <a:noFill/>
          </a:ln>
        </p:spPr>
        <p:txBody>
          <a:bodyPr anchorCtr="0" anchor="t" bIns="19050" lIns="19050" spcFirstLastPara="1" rIns="19050" wrap="square" tIns="19050">
            <a:noAutofit/>
          </a:bodyPr>
          <a:lstStyle>
            <a:lvl1pPr indent="0" lvl="0" marL="0" rtl="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1pPr>
            <a:lvl2pPr indent="0" lvl="1" marL="0" rtl="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2pPr>
            <a:lvl3pPr indent="0" lvl="2" marL="0" rtl="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3pPr>
            <a:lvl4pPr indent="0" lvl="3" marL="0" rtl="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4pPr>
            <a:lvl5pPr indent="0" lvl="4" marL="0" rtl="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5pPr>
            <a:lvl6pPr indent="0" lvl="5" marL="0" rtl="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6pPr>
            <a:lvl7pPr indent="0" lvl="6" marL="0" rtl="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7pPr>
            <a:lvl8pPr indent="0" lvl="7" marL="0" rtl="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8pPr>
            <a:lvl9pPr indent="0" lvl="8" marL="0" rtl="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9pPr>
          </a:lstStyle>
          <a:p>
            <a:pPr indent="0" lvl="0" marL="0" rtl="0" algn="ctr">
              <a:spcBef>
                <a:spcPts val="0"/>
              </a:spcBef>
              <a:spcAft>
                <a:spcPts val="0"/>
              </a:spcAft>
              <a:buNone/>
            </a:pPr>
            <a:fld id="{00000000-1234-1234-1234-123412341234}" type="slidenum">
              <a:rPr lang="en"/>
              <a:t>‹#›</a:t>
            </a:fld>
            <a:endParaRPr sz="1000">
              <a:solidFill>
                <a:schemeClr val="dk1"/>
              </a:solidFill>
              <a:latin typeface="Roboto"/>
              <a:ea typeface="Roboto"/>
              <a:cs typeface="Roboto"/>
              <a:sym typeface="Robot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1">
  <p:cSld name="TITLE_AND_BODY_2">
    <p:spTree>
      <p:nvGrpSpPr>
        <p:cNvPr id="88" name="Shape 88"/>
        <p:cNvGrpSpPr/>
        <p:nvPr/>
      </p:nvGrpSpPr>
      <p:grpSpPr>
        <a:xfrm>
          <a:off x="0" y="0"/>
          <a:ext cx="0" cy="0"/>
          <a:chOff x="0" y="0"/>
          <a:chExt cx="0" cy="0"/>
        </a:xfrm>
      </p:grpSpPr>
      <p:sp>
        <p:nvSpPr>
          <p:cNvPr id="89" name="Google Shape;89;p17"/>
          <p:cNvSpPr txBox="1"/>
          <p:nvPr>
            <p:ph type="title"/>
          </p:nvPr>
        </p:nvSpPr>
        <p:spPr>
          <a:xfrm>
            <a:off x="357188" y="198377"/>
            <a:ext cx="8429700" cy="624000"/>
          </a:xfrm>
          <a:prstGeom prst="rect">
            <a:avLst/>
          </a:prstGeom>
          <a:noFill/>
          <a:ln>
            <a:noFill/>
          </a:ln>
        </p:spPr>
        <p:txBody>
          <a:bodyPr anchorCtr="0" anchor="ctr" bIns="19050" lIns="19050" spcFirstLastPara="1" rIns="19050" wrap="square" tIns="19050">
            <a:noAutofit/>
          </a:bodyPr>
          <a:lstStyle>
            <a:lvl1pPr lvl="0" rtl="0" algn="ctr">
              <a:lnSpc>
                <a:spcPct val="90000"/>
              </a:lnSpc>
              <a:spcBef>
                <a:spcPts val="900"/>
              </a:spcBef>
              <a:spcAft>
                <a:spcPts val="0"/>
              </a:spcAft>
              <a:buClr>
                <a:srgbClr val="013262"/>
              </a:buClr>
              <a:buSzPts val="700"/>
              <a:buNone/>
              <a:defRPr/>
            </a:lvl1pPr>
            <a:lvl2pPr lvl="1" rtl="0" algn="ctr">
              <a:lnSpc>
                <a:spcPct val="90000"/>
              </a:lnSpc>
              <a:spcBef>
                <a:spcPts val="900"/>
              </a:spcBef>
              <a:spcAft>
                <a:spcPts val="0"/>
              </a:spcAft>
              <a:buClr>
                <a:srgbClr val="013262"/>
              </a:buClr>
              <a:buSzPts val="700"/>
              <a:buNone/>
              <a:defRPr/>
            </a:lvl2pPr>
            <a:lvl3pPr lvl="2" rtl="0" algn="ctr">
              <a:lnSpc>
                <a:spcPct val="90000"/>
              </a:lnSpc>
              <a:spcBef>
                <a:spcPts val="900"/>
              </a:spcBef>
              <a:spcAft>
                <a:spcPts val="0"/>
              </a:spcAft>
              <a:buClr>
                <a:srgbClr val="013262"/>
              </a:buClr>
              <a:buSzPts val="700"/>
              <a:buNone/>
              <a:defRPr/>
            </a:lvl3pPr>
            <a:lvl4pPr lvl="3" rtl="0" algn="ctr">
              <a:lnSpc>
                <a:spcPct val="90000"/>
              </a:lnSpc>
              <a:spcBef>
                <a:spcPts val="900"/>
              </a:spcBef>
              <a:spcAft>
                <a:spcPts val="0"/>
              </a:spcAft>
              <a:buClr>
                <a:srgbClr val="013262"/>
              </a:buClr>
              <a:buSzPts val="700"/>
              <a:buNone/>
              <a:defRPr/>
            </a:lvl4pPr>
            <a:lvl5pPr lvl="4" rtl="0" algn="ctr">
              <a:lnSpc>
                <a:spcPct val="90000"/>
              </a:lnSpc>
              <a:spcBef>
                <a:spcPts val="900"/>
              </a:spcBef>
              <a:spcAft>
                <a:spcPts val="0"/>
              </a:spcAft>
              <a:buClr>
                <a:srgbClr val="013262"/>
              </a:buClr>
              <a:buSzPts val="700"/>
              <a:buNone/>
              <a:defRPr/>
            </a:lvl5pPr>
            <a:lvl6pPr lvl="5" rtl="0" algn="ctr">
              <a:lnSpc>
                <a:spcPct val="90000"/>
              </a:lnSpc>
              <a:spcBef>
                <a:spcPts val="900"/>
              </a:spcBef>
              <a:spcAft>
                <a:spcPts val="0"/>
              </a:spcAft>
              <a:buClr>
                <a:srgbClr val="013262"/>
              </a:buClr>
              <a:buSzPts val="700"/>
              <a:buNone/>
              <a:defRPr/>
            </a:lvl6pPr>
            <a:lvl7pPr lvl="6" rtl="0" algn="ctr">
              <a:lnSpc>
                <a:spcPct val="90000"/>
              </a:lnSpc>
              <a:spcBef>
                <a:spcPts val="900"/>
              </a:spcBef>
              <a:spcAft>
                <a:spcPts val="0"/>
              </a:spcAft>
              <a:buClr>
                <a:srgbClr val="013262"/>
              </a:buClr>
              <a:buSzPts val="700"/>
              <a:buNone/>
              <a:defRPr/>
            </a:lvl7pPr>
            <a:lvl8pPr lvl="7" rtl="0" algn="ctr">
              <a:lnSpc>
                <a:spcPct val="90000"/>
              </a:lnSpc>
              <a:spcBef>
                <a:spcPts val="900"/>
              </a:spcBef>
              <a:spcAft>
                <a:spcPts val="0"/>
              </a:spcAft>
              <a:buClr>
                <a:srgbClr val="013262"/>
              </a:buClr>
              <a:buSzPts val="700"/>
              <a:buNone/>
              <a:defRPr/>
            </a:lvl8pPr>
            <a:lvl9pPr lvl="8" rtl="0" algn="ctr">
              <a:lnSpc>
                <a:spcPct val="90000"/>
              </a:lnSpc>
              <a:spcBef>
                <a:spcPts val="900"/>
              </a:spcBef>
              <a:spcAft>
                <a:spcPts val="0"/>
              </a:spcAft>
              <a:buClr>
                <a:srgbClr val="013262"/>
              </a:buClr>
              <a:buSzPts val="700"/>
              <a:buNone/>
              <a:defRPr/>
            </a:lvl9pPr>
          </a:lstStyle>
          <a:p/>
        </p:txBody>
      </p:sp>
      <p:sp>
        <p:nvSpPr>
          <p:cNvPr id="90" name="Google Shape;90;p17"/>
          <p:cNvSpPr txBox="1"/>
          <p:nvPr>
            <p:ph idx="12" type="sldNum"/>
          </p:nvPr>
        </p:nvSpPr>
        <p:spPr>
          <a:xfrm>
            <a:off x="4491037" y="4881563"/>
            <a:ext cx="157200" cy="190500"/>
          </a:xfrm>
          <a:prstGeom prst="rect">
            <a:avLst/>
          </a:prstGeom>
          <a:noFill/>
          <a:ln>
            <a:noFill/>
          </a:ln>
        </p:spPr>
        <p:txBody>
          <a:bodyPr anchorCtr="0" anchor="t" bIns="19050" lIns="19050" spcFirstLastPara="1" rIns="19050" wrap="square" tIns="19050">
            <a:noAutofit/>
          </a:bodyPr>
          <a:lstStyle>
            <a:lvl1pPr indent="0" lvl="0" marL="0" rtl="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1pPr>
            <a:lvl2pPr indent="0" lvl="1" marL="0" rtl="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2pPr>
            <a:lvl3pPr indent="0" lvl="2" marL="0" rtl="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3pPr>
            <a:lvl4pPr indent="0" lvl="3" marL="0" rtl="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4pPr>
            <a:lvl5pPr indent="0" lvl="4" marL="0" rtl="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5pPr>
            <a:lvl6pPr indent="0" lvl="5" marL="0" rtl="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6pPr>
            <a:lvl7pPr indent="0" lvl="6" marL="0" rtl="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7pPr>
            <a:lvl8pPr indent="0" lvl="7" marL="0" rtl="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8pPr>
            <a:lvl9pPr indent="0" lvl="8" marL="0" rtl="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9pPr>
          </a:lstStyle>
          <a:p>
            <a:pPr indent="0" lvl="0" marL="0" rtl="0" algn="ctr">
              <a:spcBef>
                <a:spcPts val="0"/>
              </a:spcBef>
              <a:spcAft>
                <a:spcPts val="0"/>
              </a:spcAft>
              <a:buNone/>
            </a:pPr>
            <a:fld id="{00000000-1234-1234-1234-123412341234}" type="slidenum">
              <a:rPr lang="en"/>
              <a:t>‹#›</a:t>
            </a:fld>
            <a:endParaRPr sz="1000">
              <a:solidFill>
                <a:schemeClr val="dk1"/>
              </a:solidFill>
              <a:latin typeface="Roboto"/>
              <a:ea typeface="Roboto"/>
              <a:cs typeface="Roboto"/>
              <a:sym typeface="Robot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91" name="Shape 91"/>
        <p:cNvGrpSpPr/>
        <p:nvPr/>
      </p:nvGrpSpPr>
      <p:grpSpPr>
        <a:xfrm>
          <a:off x="0" y="0"/>
          <a:ext cx="0" cy="0"/>
          <a:chOff x="0" y="0"/>
          <a:chExt cx="0" cy="0"/>
        </a:xfrm>
      </p:grpSpPr>
      <p:sp>
        <p:nvSpPr>
          <p:cNvPr id="92" name="Google Shape;92;p18"/>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4" name="Google Shape;94;p1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5" name="Google Shape;95;p1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96" name="Google Shape;96;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97" name="Shape 97"/>
        <p:cNvGrpSpPr/>
        <p:nvPr/>
      </p:nvGrpSpPr>
      <p:grpSpPr>
        <a:xfrm>
          <a:off x="0" y="0"/>
          <a:ext cx="0" cy="0"/>
          <a:chOff x="0" y="0"/>
          <a:chExt cx="0" cy="0"/>
        </a:xfrm>
      </p:grpSpPr>
      <p:sp>
        <p:nvSpPr>
          <p:cNvPr id="98" name="Google Shape;98;p19"/>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0" name="Google Shape;100;p19"/>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01" name="Google Shape;101;p19"/>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02" name="Google Shape;102;p19"/>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03" name="Google Shape;103;p19"/>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04" name="Shape 104"/>
        <p:cNvGrpSpPr/>
        <p:nvPr/>
      </p:nvGrpSpPr>
      <p:grpSpPr>
        <a:xfrm>
          <a:off x="0" y="0"/>
          <a:ext cx="0" cy="0"/>
          <a:chOff x="0" y="0"/>
          <a:chExt cx="0" cy="0"/>
        </a:xfrm>
      </p:grpSpPr>
      <p:sp>
        <p:nvSpPr>
          <p:cNvPr id="105" name="Google Shape;105;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08" name="Google Shape;108;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09" name="Google Shape;109;p20"/>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0" name="Google Shape;110;p20"/>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11" name="Google Shape;111;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4" name="Google Shape;114;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15" name="Shape 115"/>
        <p:cNvGrpSpPr/>
        <p:nvPr/>
      </p:nvGrpSpPr>
      <p:grpSpPr>
        <a:xfrm>
          <a:off x="0" y="0"/>
          <a:ext cx="0" cy="0"/>
          <a:chOff x="0" y="0"/>
          <a:chExt cx="0" cy="0"/>
        </a:xfrm>
      </p:grpSpPr>
      <p:sp>
        <p:nvSpPr>
          <p:cNvPr id="116" name="Google Shape;116;p22"/>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2"/>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19" name="Google Shape;119;p22"/>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0" name="Google Shape;120;p22"/>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SECTION_HEADER_1_1">
    <p:bg>
      <p:bgPr>
        <a:solidFill>
          <a:srgbClr val="4A86E8"/>
        </a:solidFill>
      </p:bgPr>
    </p:bg>
    <p:spTree>
      <p:nvGrpSpPr>
        <p:cNvPr id="121" name="Shape 121"/>
        <p:cNvGrpSpPr/>
        <p:nvPr/>
      </p:nvGrpSpPr>
      <p:grpSpPr>
        <a:xfrm>
          <a:off x="0" y="0"/>
          <a:ext cx="0" cy="0"/>
          <a:chOff x="0" y="0"/>
          <a:chExt cx="0" cy="0"/>
        </a:xfrm>
      </p:grpSpPr>
      <p:sp>
        <p:nvSpPr>
          <p:cNvPr id="122" name="Google Shape;122;p23"/>
          <p:cNvSpPr txBox="1"/>
          <p:nvPr>
            <p:ph type="title"/>
          </p:nvPr>
        </p:nvSpPr>
        <p:spPr>
          <a:xfrm>
            <a:off x="623888" y="1282305"/>
            <a:ext cx="7886700" cy="2139600"/>
          </a:xfrm>
          <a:prstGeom prst="rect">
            <a:avLst/>
          </a:prstGeom>
          <a:noFill/>
          <a:ln>
            <a:noFill/>
          </a:ln>
        </p:spPr>
        <p:txBody>
          <a:bodyPr anchorCtr="0" anchor="b" bIns="34275" lIns="68575" spcFirstLastPara="1" rIns="68575" wrap="square" tIns="34275">
            <a:noAutofit/>
          </a:bodyPr>
          <a:lstStyle>
            <a:lvl1pPr lvl="0" rtl="0" algn="l">
              <a:lnSpc>
                <a:spcPct val="90000"/>
              </a:lnSpc>
              <a:spcBef>
                <a:spcPts val="0"/>
              </a:spcBef>
              <a:spcAft>
                <a:spcPts val="0"/>
              </a:spcAft>
              <a:buClr>
                <a:schemeClr val="lt1"/>
              </a:buClr>
              <a:buSzPts val="4500"/>
              <a:buFont typeface="Century Gothic"/>
              <a:buNone/>
              <a:defRPr sz="45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3" name="Google Shape;123;p23"/>
          <p:cNvSpPr txBox="1"/>
          <p:nvPr>
            <p:ph idx="1" type="body"/>
          </p:nvPr>
        </p:nvSpPr>
        <p:spPr>
          <a:xfrm>
            <a:off x="623888" y="3442098"/>
            <a:ext cx="7886700" cy="11253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1700"/>
              </a:spcBef>
              <a:spcAft>
                <a:spcPts val="0"/>
              </a:spcAft>
              <a:buClr>
                <a:schemeClr val="lt1"/>
              </a:buClr>
              <a:buSzPts val="1800"/>
              <a:buNone/>
              <a:defRPr sz="1800">
                <a:solidFill>
                  <a:schemeClr val="lt1"/>
                </a:solidFill>
              </a:defRPr>
            </a:lvl1pPr>
            <a:lvl2pPr indent="-228600" lvl="1" marL="914400" rtl="0" algn="l">
              <a:lnSpc>
                <a:spcPct val="90000"/>
              </a:lnSpc>
              <a:spcBef>
                <a:spcPts val="400"/>
              </a:spcBef>
              <a:spcAft>
                <a:spcPts val="0"/>
              </a:spcAft>
              <a:buClr>
                <a:srgbClr val="888888"/>
              </a:buClr>
              <a:buSzPts val="1500"/>
              <a:buNone/>
              <a:defRPr sz="1500">
                <a:solidFill>
                  <a:srgbClr val="888888"/>
                </a:solidFill>
              </a:defRPr>
            </a:lvl2pPr>
            <a:lvl3pPr indent="-228600" lvl="2" marL="1371600" rtl="0" algn="l">
              <a:lnSpc>
                <a:spcPct val="90000"/>
              </a:lnSpc>
              <a:spcBef>
                <a:spcPts val="400"/>
              </a:spcBef>
              <a:spcAft>
                <a:spcPts val="0"/>
              </a:spcAft>
              <a:buClr>
                <a:srgbClr val="888888"/>
              </a:buClr>
              <a:buSzPts val="1400"/>
              <a:buNone/>
              <a:defRPr sz="1400">
                <a:solidFill>
                  <a:srgbClr val="888888"/>
                </a:solidFill>
              </a:defRPr>
            </a:lvl3pPr>
            <a:lvl4pPr indent="-228600" lvl="3" marL="1828800" rtl="0" algn="l">
              <a:lnSpc>
                <a:spcPct val="90000"/>
              </a:lnSpc>
              <a:spcBef>
                <a:spcPts val="400"/>
              </a:spcBef>
              <a:spcAft>
                <a:spcPts val="0"/>
              </a:spcAft>
              <a:buClr>
                <a:srgbClr val="888888"/>
              </a:buClr>
              <a:buSzPts val="1200"/>
              <a:buNone/>
              <a:defRPr sz="1200">
                <a:solidFill>
                  <a:srgbClr val="888888"/>
                </a:solidFill>
              </a:defRPr>
            </a:lvl4pPr>
            <a:lvl5pPr indent="-228600" lvl="4" marL="2286000" rtl="0" algn="l">
              <a:lnSpc>
                <a:spcPct val="90000"/>
              </a:lnSpc>
              <a:spcBef>
                <a:spcPts val="400"/>
              </a:spcBef>
              <a:spcAft>
                <a:spcPts val="0"/>
              </a:spcAft>
              <a:buClr>
                <a:srgbClr val="888888"/>
              </a:buClr>
              <a:buSzPts val="1200"/>
              <a:buNone/>
              <a:defRPr sz="1200">
                <a:solidFill>
                  <a:srgbClr val="888888"/>
                </a:solidFill>
              </a:defRPr>
            </a:lvl5pPr>
            <a:lvl6pPr indent="-228600" lvl="5" marL="2743200" rtl="0" algn="l">
              <a:lnSpc>
                <a:spcPct val="90000"/>
              </a:lnSpc>
              <a:spcBef>
                <a:spcPts val="400"/>
              </a:spcBef>
              <a:spcAft>
                <a:spcPts val="0"/>
              </a:spcAft>
              <a:buClr>
                <a:srgbClr val="888888"/>
              </a:buClr>
              <a:buSzPts val="1200"/>
              <a:buNone/>
              <a:defRPr sz="1200">
                <a:solidFill>
                  <a:srgbClr val="888888"/>
                </a:solidFill>
              </a:defRPr>
            </a:lvl6pPr>
            <a:lvl7pPr indent="-228600" lvl="6" marL="3200400" rtl="0" algn="l">
              <a:lnSpc>
                <a:spcPct val="90000"/>
              </a:lnSpc>
              <a:spcBef>
                <a:spcPts val="400"/>
              </a:spcBef>
              <a:spcAft>
                <a:spcPts val="0"/>
              </a:spcAft>
              <a:buClr>
                <a:srgbClr val="888888"/>
              </a:buClr>
              <a:buSzPts val="1200"/>
              <a:buNone/>
              <a:defRPr sz="1200">
                <a:solidFill>
                  <a:srgbClr val="888888"/>
                </a:solidFill>
              </a:defRPr>
            </a:lvl7pPr>
            <a:lvl8pPr indent="-228600" lvl="7" marL="3657600" rtl="0" algn="l">
              <a:lnSpc>
                <a:spcPct val="90000"/>
              </a:lnSpc>
              <a:spcBef>
                <a:spcPts val="400"/>
              </a:spcBef>
              <a:spcAft>
                <a:spcPts val="0"/>
              </a:spcAft>
              <a:buClr>
                <a:srgbClr val="888888"/>
              </a:buClr>
              <a:buSzPts val="1200"/>
              <a:buNone/>
              <a:defRPr sz="1200">
                <a:solidFill>
                  <a:srgbClr val="888888"/>
                </a:solidFill>
              </a:defRPr>
            </a:lvl8pPr>
            <a:lvl9pPr indent="-228600" lvl="8" marL="4114800" rtl="0" algn="l">
              <a:lnSpc>
                <a:spcPct val="90000"/>
              </a:lnSpc>
              <a:spcBef>
                <a:spcPts val="400"/>
              </a:spcBef>
              <a:spcAft>
                <a:spcPts val="0"/>
              </a:spcAft>
              <a:buClr>
                <a:srgbClr val="888888"/>
              </a:buClr>
              <a:buSzPts val="1200"/>
              <a:buNone/>
              <a:defRPr sz="1200">
                <a:solidFill>
                  <a:srgbClr val="888888"/>
                </a:solidFill>
              </a:defRPr>
            </a:lvl9pPr>
          </a:lstStyle>
          <a:p/>
        </p:txBody>
      </p:sp>
      <p:sp>
        <p:nvSpPr>
          <p:cNvPr id="124" name="Google Shape;124;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sz="1100">
                <a:solidFill>
                  <a:schemeClr val="lt1"/>
                </a:solidFill>
              </a:defRPr>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125" name="Google Shape;125;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sz="1100">
                <a:solidFill>
                  <a:schemeClr val="lt1"/>
                </a:solidFill>
              </a:defRPr>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126" name="Google Shape;126;p23"/>
          <p:cNvSpPr txBox="1"/>
          <p:nvPr>
            <p:ph idx="12" type="sldNum"/>
          </p:nvPr>
        </p:nvSpPr>
        <p:spPr>
          <a:xfrm>
            <a:off x="-190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l">
              <a:spcBef>
                <a:spcPts val="0"/>
              </a:spcBef>
              <a:buNone/>
              <a:defRPr sz="900">
                <a:solidFill>
                  <a:schemeClr val="lt1"/>
                </a:solidFill>
                <a:latin typeface="Helvetica Neue"/>
                <a:ea typeface="Helvetica Neue"/>
                <a:cs typeface="Helvetica Neue"/>
                <a:sym typeface="Helvetica Neue"/>
              </a:defRPr>
            </a:lvl1pPr>
            <a:lvl2pPr indent="0" lvl="1" marL="0" rtl="0" algn="l">
              <a:spcBef>
                <a:spcPts val="0"/>
              </a:spcBef>
              <a:buNone/>
              <a:defRPr sz="900">
                <a:solidFill>
                  <a:schemeClr val="lt1"/>
                </a:solidFill>
                <a:latin typeface="Helvetica Neue"/>
                <a:ea typeface="Helvetica Neue"/>
                <a:cs typeface="Helvetica Neue"/>
                <a:sym typeface="Helvetica Neue"/>
              </a:defRPr>
            </a:lvl2pPr>
            <a:lvl3pPr indent="0" lvl="2" marL="0" rtl="0" algn="l">
              <a:spcBef>
                <a:spcPts val="0"/>
              </a:spcBef>
              <a:buNone/>
              <a:defRPr sz="900">
                <a:solidFill>
                  <a:schemeClr val="lt1"/>
                </a:solidFill>
                <a:latin typeface="Helvetica Neue"/>
                <a:ea typeface="Helvetica Neue"/>
                <a:cs typeface="Helvetica Neue"/>
                <a:sym typeface="Helvetica Neue"/>
              </a:defRPr>
            </a:lvl3pPr>
            <a:lvl4pPr indent="0" lvl="3" marL="0" rtl="0" algn="l">
              <a:spcBef>
                <a:spcPts val="0"/>
              </a:spcBef>
              <a:buNone/>
              <a:defRPr sz="900">
                <a:solidFill>
                  <a:schemeClr val="lt1"/>
                </a:solidFill>
                <a:latin typeface="Helvetica Neue"/>
                <a:ea typeface="Helvetica Neue"/>
                <a:cs typeface="Helvetica Neue"/>
                <a:sym typeface="Helvetica Neue"/>
              </a:defRPr>
            </a:lvl4pPr>
            <a:lvl5pPr indent="0" lvl="4" marL="0" rtl="0" algn="l">
              <a:spcBef>
                <a:spcPts val="0"/>
              </a:spcBef>
              <a:buNone/>
              <a:defRPr sz="900">
                <a:solidFill>
                  <a:schemeClr val="lt1"/>
                </a:solidFill>
                <a:latin typeface="Helvetica Neue"/>
                <a:ea typeface="Helvetica Neue"/>
                <a:cs typeface="Helvetica Neue"/>
                <a:sym typeface="Helvetica Neue"/>
              </a:defRPr>
            </a:lvl5pPr>
            <a:lvl6pPr indent="0" lvl="5" marL="0" rtl="0" algn="l">
              <a:spcBef>
                <a:spcPts val="0"/>
              </a:spcBef>
              <a:buNone/>
              <a:defRPr sz="900">
                <a:solidFill>
                  <a:schemeClr val="lt1"/>
                </a:solidFill>
                <a:latin typeface="Helvetica Neue"/>
                <a:ea typeface="Helvetica Neue"/>
                <a:cs typeface="Helvetica Neue"/>
                <a:sym typeface="Helvetica Neue"/>
              </a:defRPr>
            </a:lvl6pPr>
            <a:lvl7pPr indent="0" lvl="6" marL="0" rtl="0" algn="l">
              <a:spcBef>
                <a:spcPts val="0"/>
              </a:spcBef>
              <a:buNone/>
              <a:defRPr sz="900">
                <a:solidFill>
                  <a:schemeClr val="lt1"/>
                </a:solidFill>
                <a:latin typeface="Helvetica Neue"/>
                <a:ea typeface="Helvetica Neue"/>
                <a:cs typeface="Helvetica Neue"/>
                <a:sym typeface="Helvetica Neue"/>
              </a:defRPr>
            </a:lvl7pPr>
            <a:lvl8pPr indent="0" lvl="7" marL="0" rtl="0" algn="l">
              <a:spcBef>
                <a:spcPts val="0"/>
              </a:spcBef>
              <a:buNone/>
              <a:defRPr sz="900">
                <a:solidFill>
                  <a:schemeClr val="lt1"/>
                </a:solidFill>
                <a:latin typeface="Helvetica Neue"/>
                <a:ea typeface="Helvetica Neue"/>
                <a:cs typeface="Helvetica Neue"/>
                <a:sym typeface="Helvetica Neue"/>
              </a:defRPr>
            </a:lvl8pPr>
            <a:lvl9pPr indent="0" lvl="8" marL="0" rtl="0" algn="l">
              <a:spcBef>
                <a:spcPts val="0"/>
              </a:spcBef>
              <a:buNone/>
              <a:defRPr sz="900">
                <a:solidFill>
                  <a:schemeClr val="lt1"/>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7" name="Shape 127"/>
        <p:cNvGrpSpPr/>
        <p:nvPr/>
      </p:nvGrpSpPr>
      <p:grpSpPr>
        <a:xfrm>
          <a:off x="0" y="0"/>
          <a:ext cx="0" cy="0"/>
          <a:chOff x="0" y="0"/>
          <a:chExt cx="0" cy="0"/>
        </a:xfrm>
      </p:grpSpPr>
      <p:sp>
        <p:nvSpPr>
          <p:cNvPr id="128" name="Google Shape;128;p24"/>
          <p:cNvSpPr txBox="1"/>
          <p:nvPr>
            <p:ph type="title"/>
          </p:nvPr>
        </p:nvSpPr>
        <p:spPr>
          <a:xfrm>
            <a:off x="414338" y="240506"/>
            <a:ext cx="81012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9" name="Google Shape;129;p2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61950" lvl="0" marL="457200" rtl="0" algn="l">
              <a:lnSpc>
                <a:spcPct val="90000"/>
              </a:lnSpc>
              <a:spcBef>
                <a:spcPts val="1700"/>
              </a:spcBef>
              <a:spcAft>
                <a:spcPts val="0"/>
              </a:spcAft>
              <a:buClr>
                <a:schemeClr val="dk1"/>
              </a:buClr>
              <a:buSzPts val="2100"/>
              <a:buFont typeface="Noto Sans Symbols"/>
              <a:buChar char="⮚"/>
              <a:defRPr/>
            </a:lvl1pPr>
            <a:lvl2pPr indent="-342900" lvl="1" marL="914400" rtl="0" algn="l">
              <a:lnSpc>
                <a:spcPct val="90000"/>
              </a:lnSpc>
              <a:spcBef>
                <a:spcPts val="400"/>
              </a:spcBef>
              <a:spcAft>
                <a:spcPts val="0"/>
              </a:spcAft>
              <a:buClr>
                <a:schemeClr val="dk1"/>
              </a:buClr>
              <a:buSzPts val="1800"/>
              <a:buChar char="•"/>
              <a:defRPr/>
            </a:lvl2pPr>
            <a:lvl3pPr indent="-323850" lvl="2" marL="1371600" rtl="0" algn="l">
              <a:lnSpc>
                <a:spcPct val="90000"/>
              </a:lnSpc>
              <a:spcBef>
                <a:spcPts val="400"/>
              </a:spcBef>
              <a:spcAft>
                <a:spcPts val="0"/>
              </a:spcAft>
              <a:buClr>
                <a:schemeClr val="dk1"/>
              </a:buClr>
              <a:buSzPts val="15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30" name="Google Shape;130;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131" name="Google Shape;131;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132" name="Google Shape;132;p24"/>
          <p:cNvSpPr txBox="1"/>
          <p:nvPr>
            <p:ph idx="12" type="sldNum"/>
          </p:nvPr>
        </p:nvSpPr>
        <p:spPr>
          <a:xfrm>
            <a:off x="-190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l">
              <a:spcBef>
                <a:spcPts val="0"/>
              </a:spcBef>
              <a:buNone/>
              <a:defRPr>
                <a:solidFill>
                  <a:srgbClr val="888888"/>
                </a:solidFill>
              </a:defRPr>
            </a:lvl1pPr>
            <a:lvl2pPr indent="0" lvl="1" marL="0" rtl="0" algn="l">
              <a:spcBef>
                <a:spcPts val="0"/>
              </a:spcBef>
              <a:buNone/>
              <a:defRPr>
                <a:solidFill>
                  <a:srgbClr val="888888"/>
                </a:solidFill>
              </a:defRPr>
            </a:lvl2pPr>
            <a:lvl3pPr indent="0" lvl="2" marL="0" rtl="0" algn="l">
              <a:spcBef>
                <a:spcPts val="0"/>
              </a:spcBef>
              <a:buNone/>
              <a:defRPr>
                <a:solidFill>
                  <a:srgbClr val="888888"/>
                </a:solidFill>
              </a:defRPr>
            </a:lvl3pPr>
            <a:lvl4pPr indent="0" lvl="3" marL="0" rtl="0" algn="l">
              <a:spcBef>
                <a:spcPts val="0"/>
              </a:spcBef>
              <a:buNone/>
              <a:defRPr>
                <a:solidFill>
                  <a:srgbClr val="888888"/>
                </a:solidFill>
              </a:defRPr>
            </a:lvl4pPr>
            <a:lvl5pPr indent="0" lvl="4" marL="0" rtl="0" algn="l">
              <a:spcBef>
                <a:spcPts val="0"/>
              </a:spcBef>
              <a:buNone/>
              <a:defRPr>
                <a:solidFill>
                  <a:srgbClr val="888888"/>
                </a:solidFill>
              </a:defRPr>
            </a:lvl5pPr>
            <a:lvl6pPr indent="0" lvl="5" marL="0" rtl="0" algn="l">
              <a:spcBef>
                <a:spcPts val="0"/>
              </a:spcBef>
              <a:buNone/>
              <a:defRPr>
                <a:solidFill>
                  <a:srgbClr val="888888"/>
                </a:solidFill>
              </a:defRPr>
            </a:lvl6pPr>
            <a:lvl7pPr indent="0" lvl="6" marL="0" rtl="0" algn="l">
              <a:spcBef>
                <a:spcPts val="0"/>
              </a:spcBef>
              <a:buNone/>
              <a:defRPr>
                <a:solidFill>
                  <a:srgbClr val="888888"/>
                </a:solidFill>
              </a:defRPr>
            </a:lvl7pPr>
            <a:lvl8pPr indent="0" lvl="7" marL="0" rtl="0" algn="l">
              <a:spcBef>
                <a:spcPts val="0"/>
              </a:spcBef>
              <a:buNone/>
              <a:defRPr>
                <a:solidFill>
                  <a:srgbClr val="888888"/>
                </a:solidFill>
              </a:defRPr>
            </a:lvl8pPr>
            <a:lvl9pPr indent="0" lvl="8" marL="0" rtl="0" algn="l">
              <a:spcBef>
                <a:spcPts val="0"/>
              </a:spcBef>
              <a:buNone/>
              <a:defRPr>
                <a:solidFill>
                  <a:srgbClr val="888888"/>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Body">
  <p:cSld name="TITLE_AND_BODY_1_1">
    <p:spTree>
      <p:nvGrpSpPr>
        <p:cNvPr id="133" name="Shape 133"/>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2">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6D9EEB"/>
              </a:buClr>
              <a:buSzPts val="3600"/>
              <a:buNone/>
              <a:defRPr sz="3600">
                <a:solidFill>
                  <a:srgbClr val="6D9EEB"/>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6" name="Google Shape;136;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1">
  <p:cSld name="SECTION_TITLE_AND_DESCRIPTION_1_4">
    <p:spTree>
      <p:nvGrpSpPr>
        <p:cNvPr id="137" name="Shape 137"/>
        <p:cNvGrpSpPr/>
        <p:nvPr/>
      </p:nvGrpSpPr>
      <p:grpSpPr>
        <a:xfrm>
          <a:off x="0" y="0"/>
          <a:ext cx="0" cy="0"/>
          <a:chOff x="0" y="0"/>
          <a:chExt cx="0" cy="0"/>
        </a:xfrm>
      </p:grpSpPr>
      <p:sp>
        <p:nvSpPr>
          <p:cNvPr id="138" name="Google Shape;138;p27"/>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0" name="Google Shape;140;p27"/>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pic>
        <p:nvPicPr>
          <p:cNvPr id="141" name="Google Shape;141;p2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42" name="Google Shape;142;p27"/>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143" name="Google Shape;143;p27"/>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44" name="Google Shape;144;p27"/>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2">
  <p:cSld name="SECTION_TITLE_AND_DESCRIPTION_1_5">
    <p:spTree>
      <p:nvGrpSpPr>
        <p:cNvPr id="145" name="Shape 145"/>
        <p:cNvGrpSpPr/>
        <p:nvPr/>
      </p:nvGrpSpPr>
      <p:grpSpPr>
        <a:xfrm>
          <a:off x="0" y="0"/>
          <a:ext cx="0" cy="0"/>
          <a:chOff x="0" y="0"/>
          <a:chExt cx="0" cy="0"/>
        </a:xfrm>
      </p:grpSpPr>
      <p:sp>
        <p:nvSpPr>
          <p:cNvPr id="146" name="Google Shape;146;p28"/>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pic>
        <p:nvPicPr>
          <p:cNvPr id="149" name="Google Shape;149;p2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50" name="Google Shape;150;p2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151" name="Google Shape;151;p2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52" name="Google Shape;152;p2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3">
  <p:cSld name="SECTION_TITLE_AND_DESCRIPTION_1_6">
    <p:spTree>
      <p:nvGrpSpPr>
        <p:cNvPr id="153" name="Shape 153"/>
        <p:cNvGrpSpPr/>
        <p:nvPr/>
      </p:nvGrpSpPr>
      <p:grpSpPr>
        <a:xfrm>
          <a:off x="0" y="0"/>
          <a:ext cx="0" cy="0"/>
          <a:chOff x="0" y="0"/>
          <a:chExt cx="0" cy="0"/>
        </a:xfrm>
      </p:grpSpPr>
      <p:sp>
        <p:nvSpPr>
          <p:cNvPr id="154" name="Google Shape;154;p29"/>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6" name="Google Shape;156;p29"/>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pic>
        <p:nvPicPr>
          <p:cNvPr id="157" name="Google Shape;157;p2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58" name="Google Shape;158;p29"/>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159" name="Google Shape;159;p29"/>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60" name="Google Shape;160;p29"/>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4">
  <p:cSld name="SECTION_TITLE_AND_DESCRIPTION_1_7">
    <p:spTree>
      <p:nvGrpSpPr>
        <p:cNvPr id="161" name="Shape 161"/>
        <p:cNvGrpSpPr/>
        <p:nvPr/>
      </p:nvGrpSpPr>
      <p:grpSpPr>
        <a:xfrm>
          <a:off x="0" y="0"/>
          <a:ext cx="0" cy="0"/>
          <a:chOff x="0" y="0"/>
          <a:chExt cx="0" cy="0"/>
        </a:xfrm>
      </p:grpSpPr>
      <p:sp>
        <p:nvSpPr>
          <p:cNvPr id="162" name="Google Shape;162;p30"/>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30"/>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pic>
        <p:nvPicPr>
          <p:cNvPr id="165" name="Google Shape;165;p3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66" name="Google Shape;166;p30"/>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167" name="Google Shape;167;p30"/>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68" name="Google Shape;168;p30"/>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5">
  <p:cSld name="SECTION_TITLE_AND_DESCRIPTION_1_8">
    <p:spTree>
      <p:nvGrpSpPr>
        <p:cNvPr id="169" name="Shape 169"/>
        <p:cNvGrpSpPr/>
        <p:nvPr/>
      </p:nvGrpSpPr>
      <p:grpSpPr>
        <a:xfrm>
          <a:off x="0" y="0"/>
          <a:ext cx="0" cy="0"/>
          <a:chOff x="0" y="0"/>
          <a:chExt cx="0" cy="0"/>
        </a:xfrm>
      </p:grpSpPr>
      <p:sp>
        <p:nvSpPr>
          <p:cNvPr id="170" name="Google Shape;170;p31"/>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2" name="Google Shape;172;p31"/>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pic>
        <p:nvPicPr>
          <p:cNvPr id="173" name="Google Shape;173;p31"/>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74" name="Google Shape;174;p31"/>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175" name="Google Shape;175;p31"/>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76" name="Google Shape;176;p31"/>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8.xml"/><Relationship Id="rId22" Type="http://schemas.openxmlformats.org/officeDocument/2006/relationships/slideLayout" Target="../slideLayouts/slideLayout20.xml"/><Relationship Id="rId21" Type="http://schemas.openxmlformats.org/officeDocument/2006/relationships/slideLayout" Target="../slideLayouts/slideLayout19.xml"/><Relationship Id="rId24" Type="http://schemas.openxmlformats.org/officeDocument/2006/relationships/slideLayout" Target="../slideLayouts/slideLayout22.xml"/><Relationship Id="rId23" Type="http://schemas.openxmlformats.org/officeDocument/2006/relationships/slideLayout" Target="../slideLayouts/slideLayout21.xml"/><Relationship Id="rId1" Type="http://schemas.openxmlformats.org/officeDocument/2006/relationships/image" Target="../media/image1.png"/><Relationship Id="rId2" Type="http://schemas.openxmlformats.org/officeDocument/2006/relationships/image" Target="../media/image35.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26" Type="http://schemas.openxmlformats.org/officeDocument/2006/relationships/slideLayout" Target="../slideLayouts/slideLayout24.xml"/><Relationship Id="rId25" Type="http://schemas.openxmlformats.org/officeDocument/2006/relationships/slideLayout" Target="../slideLayouts/slideLayout23.xml"/><Relationship Id="rId28" Type="http://schemas.openxmlformats.org/officeDocument/2006/relationships/slideLayout" Target="../slideLayouts/slideLayout26.xml"/><Relationship Id="rId27" Type="http://schemas.openxmlformats.org/officeDocument/2006/relationships/slideLayout" Target="../slideLayouts/slideLayout25.xml"/><Relationship Id="rId5" Type="http://schemas.openxmlformats.org/officeDocument/2006/relationships/slideLayout" Target="../slideLayouts/slideLayout3.xml"/><Relationship Id="rId6" Type="http://schemas.openxmlformats.org/officeDocument/2006/relationships/slideLayout" Target="../slideLayouts/slideLayout4.xml"/><Relationship Id="rId29" Type="http://schemas.openxmlformats.org/officeDocument/2006/relationships/slideLayout" Target="../slideLayouts/slideLayout27.xml"/><Relationship Id="rId7" Type="http://schemas.openxmlformats.org/officeDocument/2006/relationships/slideLayout" Target="../slideLayouts/slideLayout5.xml"/><Relationship Id="rId8" Type="http://schemas.openxmlformats.org/officeDocument/2006/relationships/slideLayout" Target="../slideLayouts/slideLayout6.xml"/><Relationship Id="rId31" Type="http://schemas.openxmlformats.org/officeDocument/2006/relationships/slideLayout" Target="../slideLayouts/slideLayout29.xml"/><Relationship Id="rId30" Type="http://schemas.openxmlformats.org/officeDocument/2006/relationships/slideLayout" Target="../slideLayouts/slideLayout28.xml"/><Relationship Id="rId11" Type="http://schemas.openxmlformats.org/officeDocument/2006/relationships/slideLayout" Target="../slideLayouts/slideLayout9.xml"/><Relationship Id="rId33" Type="http://schemas.openxmlformats.org/officeDocument/2006/relationships/theme" Target="../theme/theme2.xml"/><Relationship Id="rId10" Type="http://schemas.openxmlformats.org/officeDocument/2006/relationships/slideLayout" Target="../slideLayouts/slideLayout8.xml"/><Relationship Id="rId32" Type="http://schemas.openxmlformats.org/officeDocument/2006/relationships/slideLayout" Target="../slideLayouts/slideLayout30.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19" Type="http://schemas.openxmlformats.org/officeDocument/2006/relationships/slideLayout" Target="../slideLayouts/slideLayout17.xml"/><Relationship Id="rId1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30200" lvl="0" marL="457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1pPr>
            <a:lvl2pPr indent="-330200" lvl="1" marL="9144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2pPr>
            <a:lvl3pPr indent="-330200" lvl="2" marL="13716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3pPr>
            <a:lvl4pPr indent="-330200" lvl="3" marL="18288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4pPr>
            <a:lvl5pPr indent="-330200" lvl="4" marL="22860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5pPr>
            <a:lvl6pPr indent="-330200" lvl="5" marL="2743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6pPr>
            <a:lvl7pPr indent="-330200" lvl="6" marL="32004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7pPr>
            <a:lvl8pPr indent="-330200" lvl="7" marL="36576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8pPr>
            <a:lvl9pPr indent="-330200" lvl="8" marL="41148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0" y="4983478"/>
            <a:ext cx="457200" cy="160022"/>
          </a:xfrm>
          <a:prstGeom prst="rect">
            <a:avLst/>
          </a:prstGeom>
          <a:noFill/>
          <a:ln>
            <a:noFill/>
          </a:ln>
        </p:spPr>
      </p:pic>
      <p:sp>
        <p:nvSpPr>
          <p:cNvPr id="10" name="Google Shape;10;p1"/>
          <p:cNvSpPr txBox="1"/>
          <p:nvPr/>
        </p:nvSpPr>
        <p:spPr>
          <a:xfrm>
            <a:off x="8591790" y="588703"/>
            <a:ext cx="5064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latin typeface="Roboto Light"/>
                <a:ea typeface="Roboto Light"/>
                <a:cs typeface="Roboto Light"/>
                <a:sym typeface="Roboto Light"/>
              </a:rPr>
              <a:t>3348181</a:t>
            </a:r>
            <a:endParaRPr sz="1000">
              <a:latin typeface="Roboto Light"/>
              <a:ea typeface="Roboto Light"/>
              <a:cs typeface="Roboto Light"/>
              <a:sym typeface="Roboto Light"/>
            </a:endParaRPr>
          </a:p>
        </p:txBody>
      </p:sp>
      <p:pic>
        <p:nvPicPr>
          <p:cNvPr id="11" name="Google Shape;11;p1"/>
          <p:cNvPicPr preferRelativeResize="0"/>
          <p:nvPr/>
        </p:nvPicPr>
        <p:blipFill>
          <a:blip r:embed="rId2">
            <a:alphaModFix/>
          </a:blip>
          <a:stretch>
            <a:fillRect/>
          </a:stretch>
        </p:blipFill>
        <p:spPr>
          <a:xfrm>
            <a:off x="8570650" y="40000"/>
            <a:ext cx="548700" cy="5487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 id="2147483666" r:id="rId21"/>
    <p:sldLayoutId id="2147483667" r:id="rId22"/>
    <p:sldLayoutId id="2147483668" r:id="rId23"/>
    <p:sldLayoutId id="2147483669" r:id="rId24"/>
    <p:sldLayoutId id="2147483670" r:id="rId25"/>
    <p:sldLayoutId id="2147483671" r:id="rId26"/>
    <p:sldLayoutId id="2147483672" r:id="rId27"/>
    <p:sldLayoutId id="2147483673" r:id="rId28"/>
    <p:sldLayoutId id="2147483674" r:id="rId29"/>
    <p:sldLayoutId id="2147483675" r:id="rId30"/>
    <p:sldLayoutId id="2147483676" r:id="rId31"/>
    <p:sldLayoutId id="2147483677" r:id="rId3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www.sli.do/features-google-slides?payload=eyJwcmVzZW50YXRpb25JZCI6IjFUSU4ybDZEUVIxQUFkTGJjamlDZERqSXAxWDVxd0tJVjFGMTFBRGNVM2Y0Iiwic2xpZGVJZCI6IlNMSURFU19BUEkxNDc5NTg3NTQxXzAiLCJ0eXBlIjoiU2xpZG9Kb2luaW5nIn0%3D" TargetMode="External"/><Relationship Id="rId4" Type="http://schemas.openxmlformats.org/officeDocument/2006/relationships/image" Target="../media/image29.png"/><Relationship Id="rId5" Type="http://schemas.openxmlformats.org/officeDocument/2006/relationships/hyperlink" Target="https://chrome.google.com/webstore/detail/slido/dhhclfjehmpacimcdknijodpjpmppkii" TargetMode="External"/><Relationship Id="rId6" Type="http://schemas.openxmlformats.org/officeDocument/2006/relationships/hyperlink" Target="https://www.sli.do/features-google-slides?interaction-type=Sm9pbg%3D%3D" TargetMode="External"/><Relationship Id="rId7"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ds100.org/acknowledgemen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s://www.slido.com/support/gsi/how-to-change-the-design" TargetMode="External"/><Relationship Id="rId4" Type="http://schemas.openxmlformats.org/officeDocument/2006/relationships/hyperlink" Target="https://chrome.google.com/webstore/detail/slido/dhhclfjehmpacimcdknijodpjpmppkii" TargetMode="External"/><Relationship Id="rId9"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hyperlink" Target="https://www.sli.do/features-google-slides?payload=eyJrZWVwUG9sbEFjdGl2ZSI6ZmFsc2UsInBvbGxVdWlkIjoiZTE2NjNiZGUtZWNlOC00ZTI2LWIxM2UtOThkZGZmOThlNDczIiwicHJlc2VudGF0aW9uSWQiOiIxVElOMmw2RFFSMUFBZExiY2ppQ2REaklwMVg1cXdLSVYxRjExQURjVTNmNCIsInNsaWRlSWQiOiJTTElERVNfQVBJNzkzNDA4MTE0XzAiLCJ0aW1lbGluZSI6W3sic2hvd1Jlc3VsdHMiOmZhbHNlLCJwb2xsUXVlc3Rpb25VdWlkIjoiODc2ZjIzNDUtMDczMy00OTZiLTk5ZDUtNjFjYWNjMDljNWRiIn0seyJwb2xsUXVlc3Rpb25VdWlkIjoiODc2ZjIzNDUtMDczMy00OTZiLTk5ZDUtNjFjYWNjMDljNWRiIiwic2hvd1Jlc3VsdHMiOnRydWV9XSwidHlwZSI6IlNsaWRvUG9sbCJ9" TargetMode="External"/><Relationship Id="rId7" Type="http://schemas.openxmlformats.org/officeDocument/2006/relationships/image" Target="../media/image6.png"/><Relationship Id="rId8" Type="http://schemas.openxmlformats.org/officeDocument/2006/relationships/hyperlink" Target="https://www.sli.do/features-google-slides?interaction-type=T3BlblRleHQ%3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hyperlink" Target="https://www.slido.com/support/gsi/how-to-change-the-design" TargetMode="External"/><Relationship Id="rId4" Type="http://schemas.openxmlformats.org/officeDocument/2006/relationships/hyperlink" Target="https://chrome.google.com/webstore/detail/slido/dhhclfjehmpacimcdknijodpjpmppkii" TargetMode="External"/><Relationship Id="rId9"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hyperlink" Target="https://www.sli.do/features-google-slides?payload=eyJrZWVwUG9sbEFjdGl2ZSI6ZmFsc2UsInBvbGxVdWlkIjoiYzZhOGQxODktY2Y5NS00ZTFlLWE5N2YtOGE1YjQ2ZTcyODMwIiwicHJlc2VudGF0aW9uSWQiOiIxVElOMmw2RFFSMUFBZExiY2ppQ2REaklwMVg1cXdLSVYxRjExQURjVTNmNCIsInNsaWRlSWQiOiJTTElERVNfQVBJMTA2OTcxMjk0NF8wIiwidGltZWxpbmUiOlt7InNob3dSZXN1bHRzIjpmYWxzZSwicG9sbFF1ZXN0aW9uVXVpZCI6ImZiNDZmMTNhLTBmMTMtNGM4Yy1hMmE3LTNlOWZmZGVhMzMzMyJ9LHsic2hvd1Jlc3VsdHMiOnRydWUsInBvbGxRdWVzdGlvblV1aWQiOiJmYjQ2ZjEzYS0wZjEzLTRjOGMtYTJhNy0zZTlmZmRlYTMzMzMifV0sInR5cGUiOiJTbGlkb1BvbGwifQ%3D%3D" TargetMode="External"/><Relationship Id="rId7" Type="http://schemas.openxmlformats.org/officeDocument/2006/relationships/image" Target="../media/image6.png"/><Relationship Id="rId8" Type="http://schemas.openxmlformats.org/officeDocument/2006/relationships/hyperlink" Target="https://www.sli.do/features-google-slides?interaction-type=T3BlblRleHQ%3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23.png"/><Relationship Id="rId5" Type="http://schemas.openxmlformats.org/officeDocument/2006/relationships/image" Target="../media/image4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hyperlink" Target="https://www.slido.com/support/gsi/how-to-change-the-design" TargetMode="External"/><Relationship Id="rId4" Type="http://schemas.openxmlformats.org/officeDocument/2006/relationships/hyperlink" Target="https://chrome.google.com/webstore/detail/slido/dhhclfjehmpacimcdknijodpjpmppkii" TargetMode="External"/><Relationship Id="rId9"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hyperlink" Target="https://www.sli.do/features-google-slides?payload=eyJrZWVwUG9sbEFjdGl2ZSI6ZmFsc2UsInBvbGxVdWlkIjoiMTY3M2M5YTUtYjZhYy00OGY1LWEyZjAtYTE2YTE0YzI0YjNlIiwicHJlc2VudGF0aW9uSWQiOiIxVElOMmw2RFFSMUFBZExiY2ppQ2REaklwMVg1cXdLSVYxRjExQURjVTNmNCIsInNsaWRlSWQiOiJTTElERVNfQVBJMTUxMDcwNDM3Nl8wIiwidGltZWxpbmUiOlt7InNob3dSZXN1bHRzIjpmYWxzZSwicG9sbFF1ZXN0aW9uVXVpZCI6IjdhNzhjMmIxLWI2MDUtNDI5OS1iM2EyLTQ3ODg0YWNkOTgxMiJ9LHsic2hvd1Jlc3VsdHMiOnRydWUsInBvbGxRdWVzdGlvblV1aWQiOiI3YTc4YzJiMS1iNjA1LTQyOTktYjNhMi00Nzg4NGFjZDk4MTIifV0sInR5cGUiOiJTbGlkb1BvbGwifQ%3D%3D" TargetMode="External"/><Relationship Id="rId7" Type="http://schemas.openxmlformats.org/officeDocument/2006/relationships/image" Target="../media/image6.png"/><Relationship Id="rId8" Type="http://schemas.openxmlformats.org/officeDocument/2006/relationships/hyperlink" Target="https://www.sli.do/features-google-slides?interaction-type=T3BlblRleHQ%3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hyperlink" Target="https://www.slido.com/support/gsi/how-to-change-the-design" TargetMode="External"/><Relationship Id="rId4" Type="http://schemas.openxmlformats.org/officeDocument/2006/relationships/hyperlink" Target="https://chrome.google.com/webstore/detail/slido/dhhclfjehmpacimcdknijodpjpmppkii" TargetMode="External"/><Relationship Id="rId9"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hyperlink" Target="https://www.sli.do/features-google-slides?payload=eyJrZWVwUG9sbEFjdGl2ZSI6ZmFsc2UsInBvbGxVdWlkIjoiMWVhNzBkNjMtMjdiMC00NzgzLWJjZWQtOGIyYjI3Yjc2MGRjIiwicHJlc2VudGF0aW9uSWQiOiIxVElOMmw2RFFSMUFBZExiY2ppQ2REaklwMVg1cXdLSVYxRjExQURjVTNmNCIsInNsaWRlSWQiOiJTTElERVNfQVBJMTA0NzI1NTUzMF8wIiwidGltZWxpbmUiOlt7InBvbGxRdWVzdGlvblV1aWQiOiIyMjc4MWE0Mi0wYTFiLTRmYTUtYWQ2MS00NTM4OGU4YWQ2NGEiLCJzaG93UmVzdWx0cyI6ZmFsc2V9LHsicG9sbFF1ZXN0aW9uVXVpZCI6IjIyNzgxYTQyLTBhMWItNGZhNS1hZDYxLTQ1Mzg4ZThhZDY0YSIsInNob3dSZXN1bHRzIjp0cnVlfV0sInR5cGUiOiJTbGlkb1BvbGwifQ%3D%3D" TargetMode="External"/><Relationship Id="rId7" Type="http://schemas.openxmlformats.org/officeDocument/2006/relationships/image" Target="../media/image6.png"/><Relationship Id="rId8" Type="http://schemas.openxmlformats.org/officeDocument/2006/relationships/hyperlink" Target="https://www.sli.do/features-google-slides?interaction-type=T3BlblRleHQ%3D"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hyperlink" Target="https://www.slido.com/support/gsi/how-to-change-the-design" TargetMode="External"/><Relationship Id="rId4" Type="http://schemas.openxmlformats.org/officeDocument/2006/relationships/hyperlink" Target="https://chrome.google.com/webstore/detail/slido/dhhclfjehmpacimcdknijodpjpmppkii" TargetMode="External"/><Relationship Id="rId9" Type="http://schemas.openxmlformats.org/officeDocument/2006/relationships/image" Target="../media/image26.png"/><Relationship Id="rId5" Type="http://schemas.openxmlformats.org/officeDocument/2006/relationships/image" Target="../media/image5.png"/><Relationship Id="rId6" Type="http://schemas.openxmlformats.org/officeDocument/2006/relationships/hyperlink" Target="https://www.sli.do/features-google-slides?payload=eyJwb2xsVXVpZCI6IjYwMGFkYzYwLWZhMzAtNDljNC04YTgyLWNiOTFkYzBjYTBmNyIsInByZXNlbnRhdGlvbklkIjoiMVRJTjJsNkRRUjFBQWRMYmNqaUNkRGpJcDFYNXF3S0lWMUYxMUFEY1UzZjQiLCJzbGlkZUlkIjoiU0xJREVTX0FQSTE2NDIwNjgwMzJfMCIsInRpbWVsaW5lIjpbeyJzaG93UmVzdWx0cyI6ZmFsc2UsInBvbGxRdWVzdGlvblV1aWQiOiJjZjg3YzEzOC1kZGFkLTQ5OGQtODZiNi03YTZhNGMwNzIwMDQifSx7InNob3dSZXN1bHRzIjp0cnVlLCJwb2xsUXVlc3Rpb25VdWlkIjoiY2Y4N2MxMzgtZGRhZC00OThkLTg2YjYtN2E2YTRjMDcyMDA0In1dLCJ0eXBlIjoiU2xpZG9Qb2xsIn0%3D" TargetMode="External"/><Relationship Id="rId7" Type="http://schemas.openxmlformats.org/officeDocument/2006/relationships/image" Target="../media/image6.png"/><Relationship Id="rId8" Type="http://schemas.openxmlformats.org/officeDocument/2006/relationships/hyperlink" Target="https://www.sli.do/features-google-slides?interaction-type=TXVsdGlwbGVDaG9pY2U%3D"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hyperlink" Target="https://www.slido.com/support/gsi/how-to-change-the-design" TargetMode="External"/><Relationship Id="rId4" Type="http://schemas.openxmlformats.org/officeDocument/2006/relationships/hyperlink" Target="https://chrome.google.com/webstore/detail/slido/dhhclfjehmpacimcdknijodpjpmppkii" TargetMode="External"/><Relationship Id="rId9" Type="http://schemas.openxmlformats.org/officeDocument/2006/relationships/image" Target="../media/image38.png"/><Relationship Id="rId5" Type="http://schemas.openxmlformats.org/officeDocument/2006/relationships/image" Target="../media/image5.png"/><Relationship Id="rId6" Type="http://schemas.openxmlformats.org/officeDocument/2006/relationships/hyperlink" Target="https://www.sli.do/features-google-slides?payload=eyJwb2xsVXVpZCI6IjY4OWVhMjlmLTEzNTctNDQ4ZS1hNTJmLTYzNmQxYmY5MTBkMiIsInByZXNlbnRhdGlvbklkIjoiMVRJTjJsNkRRUjFBQWRMYmNqaUNkRGpJcDFYNXF3S0lWMUYxMUFEY1UzZjQiLCJzbGlkZUlkIjoiU0xJREVTX0FQSTUzODk5ODI3MV8wIiwidGltZWxpbmUiOlt7InNob3dSZXN1bHRzIjpmYWxzZSwicG9sbFF1ZXN0aW9uVXVpZCI6ImI4YTY4ZDU4LTI1OGEtNDc4Ni04NTVlLWU4MzI4NDU0NzA1NyJ9LHsic2hvd1Jlc3VsdHMiOnRydWUsInBvbGxRdWVzdGlvblV1aWQiOiJiOGE2OGQ1OC0yNThhLTQ3ODYtODU1ZS1lODMyODQ1NDcwNTcifV0sInR5cGUiOiJTbGlkb1BvbGwifQ%3D%3D" TargetMode="External"/><Relationship Id="rId7" Type="http://schemas.openxmlformats.org/officeDocument/2006/relationships/image" Target="../media/image6.png"/><Relationship Id="rId8" Type="http://schemas.openxmlformats.org/officeDocument/2006/relationships/hyperlink" Target="https://www.sli.do/features-google-slides?interaction-type=V29yZENsb3Vk"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hyperlink" Target="https://www.slido.com/support/gsi/how-to-change-the-design" TargetMode="External"/><Relationship Id="rId4" Type="http://schemas.openxmlformats.org/officeDocument/2006/relationships/hyperlink" Target="https://chrome.google.com/webstore/detail/slido/dhhclfjehmpacimcdknijodpjpmppkii" TargetMode="External"/><Relationship Id="rId9" Type="http://schemas.openxmlformats.org/officeDocument/2006/relationships/image" Target="../media/image38.png"/><Relationship Id="rId5" Type="http://schemas.openxmlformats.org/officeDocument/2006/relationships/image" Target="../media/image5.png"/><Relationship Id="rId6" Type="http://schemas.openxmlformats.org/officeDocument/2006/relationships/hyperlink" Target="https://www.sli.do/features-google-slides?payload=eyJwb2xsVXVpZCI6ImQ2YzlhZTBiLTQ1ZjktNDFlZi04OGJjLWY2NzNlZWUzYjNlOSIsInByZXNlbnRhdGlvbklkIjoiMVRJTjJsNkRRUjFBQWRMYmNqaUNkRGpJcDFYNXF3S0lWMUYxMUFEY1UzZjQiLCJzbGlkZUlkIjoiU0xJREVTX0FQSTExODc0MjI1NzhfMCIsInRpbWVsaW5lIjpbeyJwb2xsUXVlc3Rpb25VdWlkIjoiMmIxOTBhNTMtY2QwNy00NjgyLWJmOTctNWJjYTI2YjE2ZTdmIiwic2hvd1Jlc3VsdHMiOmZhbHNlfSx7InNob3dSZXN1bHRzIjp0cnVlLCJwb2xsUXVlc3Rpb25VdWlkIjoiMmIxOTBhNTMtY2QwNy00NjgyLWJmOTctNWJjYTI2YjE2ZTdmIn1dLCJ0eXBlIjoiU2xpZG9Qb2xsIn0%3D" TargetMode="External"/><Relationship Id="rId7" Type="http://schemas.openxmlformats.org/officeDocument/2006/relationships/image" Target="../media/image6.png"/><Relationship Id="rId8" Type="http://schemas.openxmlformats.org/officeDocument/2006/relationships/hyperlink" Target="https://www.sli.do/features-google-slides?interaction-type=V29yZENsb3Vk"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hyperlink" Target="https://www.sli.do/features-google-slides?payload=eyJwb2xsVXVpZCI6ImYzZjAxZTc5LTY1YTAtNDUyMy1iYzhkLWUxZTQwNmVlMmJiZCIsInByZXNlbnRhdGlvbklkIjoiMVRJTjJsNkRRUjFBQWRMYmNqaUNkRGpJcDFYNXF3S0lWMUYxMUFEY1UzZjQiLCJzbGlkZUlkIjoiU0xJREVTX0FQSTE1MzA1NjU4Ml8wIiwidGltZWxpbmUiOlt7InBvbGxRdWVzdGlvblV1aWQiOiI2ZWVkYjBkYi00Nzk4LTQxMWUtOGJkYS01YjJmMTMzNjE2YmUiLCJzaG93UmVzdWx0cyI6ZmFsc2V9LHsic2hvd1Jlc3VsdHMiOnRydWUsInBvbGxRdWVzdGlvblV1aWQiOiI2ZWVkYjBkYi00Nzk4LTQxMWUtOGJkYS01YjJmMTMzNjE2YmUifV0sInR5cGUiOiJTbGlkb1BvbGwifQ%3D%3D" TargetMode="External"/><Relationship Id="rId4" Type="http://schemas.openxmlformats.org/officeDocument/2006/relationships/image" Target="../media/image43.png"/><Relationship Id="rId5" Type="http://schemas.openxmlformats.org/officeDocument/2006/relationships/hyperlink" Target="https://chrome.google.com/webstore/detail/slido/dhhclfjehmpacimcdknijodpjpmppkii" TargetMode="External"/><Relationship Id="rId6" Type="http://schemas.openxmlformats.org/officeDocument/2006/relationships/hyperlink" Target="https://www.sli.do/features-google-slides?interaction-type=TXVsdGlwbGVDaG9pY2U%3D" TargetMode="External"/><Relationship Id="rId7"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2.png"/><Relationship Id="rId4" Type="http://schemas.openxmlformats.org/officeDocument/2006/relationships/image" Target="../media/image34.png"/><Relationship Id="rId5" Type="http://schemas.openxmlformats.org/officeDocument/2006/relationships/image" Target="../media/image39.png"/><Relationship Id="rId6" Type="http://schemas.openxmlformats.org/officeDocument/2006/relationships/image" Target="../media/image45.png"/><Relationship Id="rId7" Type="http://schemas.openxmlformats.org/officeDocument/2006/relationships/image" Target="../media/image5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50.png"/><Relationship Id="rId4" Type="http://schemas.openxmlformats.org/officeDocument/2006/relationships/image" Target="../media/image6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60.png"/><Relationship Id="rId4" Type="http://schemas.openxmlformats.org/officeDocument/2006/relationships/image" Target="../media/image4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6.png"/><Relationship Id="rId4" Type="http://schemas.openxmlformats.org/officeDocument/2006/relationships/image" Target="../media/image55.png"/><Relationship Id="rId5" Type="http://schemas.openxmlformats.org/officeDocument/2006/relationships/image" Target="../media/image4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6.png"/><Relationship Id="rId4" Type="http://schemas.openxmlformats.org/officeDocument/2006/relationships/image" Target="../media/image44.png"/><Relationship Id="rId5" Type="http://schemas.openxmlformats.org/officeDocument/2006/relationships/image" Target="../media/image5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6.png"/><Relationship Id="rId4" Type="http://schemas.openxmlformats.org/officeDocument/2006/relationships/image" Target="../media/image44.png"/><Relationship Id="rId5" Type="http://schemas.openxmlformats.org/officeDocument/2006/relationships/image" Target="../media/image5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hyperlink" Target="https://www.slido.com/support/gsi/how-to-change-the-design" TargetMode="External"/><Relationship Id="rId4" Type="http://schemas.openxmlformats.org/officeDocument/2006/relationships/hyperlink" Target="https://chrome.google.com/webstore/detail/slido/dhhclfjehmpacimcdknijodpjpmppkii" TargetMode="External"/><Relationship Id="rId9" Type="http://schemas.openxmlformats.org/officeDocument/2006/relationships/image" Target="../media/image26.png"/><Relationship Id="rId5" Type="http://schemas.openxmlformats.org/officeDocument/2006/relationships/image" Target="../media/image5.png"/><Relationship Id="rId6" Type="http://schemas.openxmlformats.org/officeDocument/2006/relationships/hyperlink" Target="https://www.sli.do/features-google-slides?payload=eyJwb2xsVXVpZCI6ImJmZmZlOGZlLTQ5NmYtNGJlMi1hMjhjLTdhZjA2YWE5MjcwMyIsInByZXNlbnRhdGlvbklkIjoiMVRJTjJsNkRRUjFBQWRMYmNqaUNkRGpJcDFYNXF3S0lWMUYxMUFEY1UzZjQiLCJzbGlkZUlkIjoiU0xJREVTX0FQSTIwNTk1MjE1ODlfMCIsInRpbWVsaW5lIjpbeyJwb2xsUXVlc3Rpb25VdWlkIjoiMTRlMTQ3NjItNDBiZS00OGZjLTg0OWMtYTc5M2RlZDgwY2FkIiwic2hvd1Jlc3VsdHMiOmZhbHNlfSx7InBvbGxRdWVzdGlvblV1aWQiOiIxNGUxNDc2Mi00MGJlLTQ4ZmMtODQ5Yy1hNzkzZGVkODBjYWQiLCJzaG93UmVzdWx0cyI6dHJ1ZX1dLCJ0eXBlIjoiU2xpZG9Qb2xsIn0%3D" TargetMode="External"/><Relationship Id="rId7" Type="http://schemas.openxmlformats.org/officeDocument/2006/relationships/image" Target="../media/image6.png"/><Relationship Id="rId8" Type="http://schemas.openxmlformats.org/officeDocument/2006/relationships/hyperlink" Target="https://www.sli.do/features-google-slides?interaction-type=TXVsdGlwbGVDaG9pY2U%3D"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55.png"/><Relationship Id="rId4" Type="http://schemas.openxmlformats.org/officeDocument/2006/relationships/image" Target="../media/image5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 Id="rId3" Type="http://schemas.openxmlformats.org/officeDocument/2006/relationships/hyperlink" Target="https://gis.cdc.gov/grasp/fluview/fluportaldashboard.html" TargetMode="External"/><Relationship Id="rId4" Type="http://schemas.openxmlformats.org/officeDocument/2006/relationships/hyperlink" Target="https://pandas.pydata.org/pandas-docs/stable/reference/api/pandas.read_csv.html?highlight=read_csv"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 Id="rId3" Type="http://schemas.openxmlformats.org/officeDocument/2006/relationships/hyperlink" Target="https://pandas.pydata.org/pandas-docs/stable/reference/api/pandas.read_csv.html?highlight=read_csv" TargetMode="External"/><Relationship Id="rId4" Type="http://schemas.openxmlformats.org/officeDocument/2006/relationships/image" Target="../media/image5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 Id="rId3" Type="http://schemas.openxmlformats.org/officeDocument/2006/relationships/hyperlink" Target="https://gpo.congress.gov/" TargetMode="External"/><Relationship Id="rId4" Type="http://schemas.openxmlformats.org/officeDocument/2006/relationships/hyperlink" Target="https://pandas.pydata.org/pandas-docs/stable/reference/api/pandas.read_json.html" TargetMode="External"/><Relationship Id="rId5" Type="http://schemas.openxmlformats.org/officeDocument/2006/relationships/hyperlink" Target="https://pandas.pydata.org/docs/reference/api/pandas.DataFrame.html"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hyperlink" Target="https://www.sli.do/features-google-slides?payload=eyJwb2xsVXVpZCI6ImYwZDg3NTczLTIwMmEtNGY1Yy05NzMzLTRhN2I5YzRkZmFlNCIsInByZXNlbnRhdGlvbklkIjoiMVRJTjJsNkRRUjFBQWRMYmNqaUNkRGpJcDFYNXF3S0lWMUYxMUFEY1UzZjQiLCJzbGlkZUlkIjoiU0xJREVTX0FQSTExODI3NTEwOTZfMCIsInRpbWVsaW5lIjpbeyJwb2xsUXVlc3Rpb25VdWlkIjoiNDg2ZjliZmQtYzU3NC00ZjcxLWI2NDctZjgyNDgxNjJmOTIyIiwic2hvd1Jlc3VsdHMiOmZhbHNlfSx7InBvbGxRdWVzdGlvblV1aWQiOiI0ODZmOWJmZC1jNTc0LTRmNzEtYjY0Ny1mODI0ODE2MmY5MjIiLCJzaG93UmVzdWx0cyI6dHJ1ZX1dLCJ0eXBlIjoiU2xpZG9Qb2xsIn0%3D" TargetMode="External"/><Relationship Id="rId4" Type="http://schemas.openxmlformats.org/officeDocument/2006/relationships/image" Target="../media/image6.png"/><Relationship Id="rId5" Type="http://schemas.openxmlformats.org/officeDocument/2006/relationships/hyperlink" Target="https://chrome.google.com/webstore/detail/slido/dhhclfjehmpacimcdknijodpjpmppkii" TargetMode="External"/><Relationship Id="rId6" Type="http://schemas.openxmlformats.org/officeDocument/2006/relationships/hyperlink" Target="https://www.sli.do/features-google-slides?interaction-type=V29yZENsb3Vk" TargetMode="External"/><Relationship Id="rId7" Type="http://schemas.openxmlformats.org/officeDocument/2006/relationships/image" Target="../media/image3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hyperlink" Target="http://onlinelibrary.wiley.com/doi/abs/10.1111/jels.12343"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hyperlink" Target="https://ds100.org/acknowledgement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 name="Shape 180"/>
        <p:cNvGrpSpPr/>
        <p:nvPr/>
      </p:nvGrpSpPr>
      <p:grpSpPr>
        <a:xfrm>
          <a:off x="0" y="0"/>
          <a:ext cx="0" cy="0"/>
          <a:chOff x="0" y="0"/>
          <a:chExt cx="0" cy="0"/>
        </a:xfrm>
      </p:grpSpPr>
      <p:pic>
        <p:nvPicPr>
          <p:cNvPr descr="logo-id" id="181" name="Google Shape;181;p32">
            <a:hlinkClick r:id="rId3"/>
          </p:cNvPr>
          <p:cNvPicPr preferRelativeResize="0"/>
          <p:nvPr/>
        </p:nvPicPr>
        <p:blipFill>
          <a:blip r:embed="rId4">
            <a:alphaModFix/>
          </a:blip>
          <a:stretch>
            <a:fillRect/>
          </a:stretch>
        </p:blipFill>
        <p:spPr>
          <a:xfrm>
            <a:off x="2612020" y="508000"/>
            <a:ext cx="874500" cy="382594"/>
          </a:xfrm>
          <a:prstGeom prst="rect">
            <a:avLst/>
          </a:prstGeom>
          <a:noFill/>
          <a:ln>
            <a:noFill/>
          </a:ln>
        </p:spPr>
      </p:pic>
      <p:sp>
        <p:nvSpPr>
          <p:cNvPr descr="title-id" id="182" name="Google Shape;182;p32"/>
          <p:cNvSpPr txBox="1"/>
          <p:nvPr/>
        </p:nvSpPr>
        <p:spPr>
          <a:xfrm>
            <a:off x="2687250" y="1928838"/>
            <a:ext cx="6045300" cy="128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00">
                <a:solidFill>
                  <a:srgbClr val="5B5B5B"/>
                </a:solidFill>
                <a:latin typeface="Roboto"/>
                <a:ea typeface="Roboto"/>
                <a:cs typeface="Roboto"/>
                <a:sym typeface="Roboto"/>
              </a:rPr>
              <a:t>Join at slido.com</a:t>
            </a:r>
            <a:br>
              <a:rPr b="1" lang="en" sz="3600">
                <a:solidFill>
                  <a:srgbClr val="5B5B5B"/>
                </a:solidFill>
                <a:latin typeface="Roboto"/>
                <a:ea typeface="Roboto"/>
                <a:cs typeface="Roboto"/>
                <a:sym typeface="Roboto"/>
              </a:rPr>
            </a:br>
            <a:r>
              <a:rPr b="1" lang="en" sz="3600">
                <a:solidFill>
                  <a:srgbClr val="5B5B5B"/>
                </a:solidFill>
                <a:latin typeface="Roboto"/>
                <a:ea typeface="Roboto"/>
                <a:cs typeface="Roboto"/>
                <a:sym typeface="Roboto"/>
              </a:rPr>
              <a:t>#3348181</a:t>
            </a:r>
            <a:endParaRPr b="1" sz="3600">
              <a:solidFill>
                <a:srgbClr val="5B5B5B"/>
              </a:solidFill>
              <a:latin typeface="Roboto"/>
              <a:ea typeface="Roboto"/>
              <a:cs typeface="Roboto"/>
              <a:sym typeface="Roboto"/>
            </a:endParaRPr>
          </a:p>
        </p:txBody>
      </p:sp>
      <p:sp>
        <p:nvSpPr>
          <p:cNvPr descr="footer-id" id="183" name="Google Shape;183;p32"/>
          <p:cNvSpPr txBox="1"/>
          <p:nvPr/>
        </p:nvSpPr>
        <p:spPr>
          <a:xfrm>
            <a:off x="2286000" y="4381500"/>
            <a:ext cx="304800" cy="38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rgbClr val="5B5B5B"/>
                </a:solidFill>
                <a:latin typeface="Roboto"/>
                <a:ea typeface="Roboto"/>
                <a:cs typeface="Roboto"/>
                <a:sym typeface="Roboto"/>
              </a:rPr>
              <a:t>ⓘ</a:t>
            </a:r>
            <a:endParaRPr b="1" sz="1300">
              <a:solidFill>
                <a:srgbClr val="5B5B5B"/>
              </a:solidFill>
              <a:latin typeface="Roboto"/>
              <a:ea typeface="Roboto"/>
              <a:cs typeface="Roboto"/>
              <a:sym typeface="Roboto"/>
            </a:endParaRPr>
          </a:p>
        </p:txBody>
      </p:sp>
      <p:sp>
        <p:nvSpPr>
          <p:cNvPr descr="footer-id" id="184" name="Google Shape;184;p32"/>
          <p:cNvSpPr txBox="1"/>
          <p:nvPr/>
        </p:nvSpPr>
        <p:spPr>
          <a:xfrm>
            <a:off x="2590800" y="4381500"/>
            <a:ext cx="6045300" cy="38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5B5B5B"/>
                </a:solidFill>
                <a:latin typeface="Roboto Light"/>
                <a:ea typeface="Roboto Light"/>
                <a:cs typeface="Roboto Light"/>
                <a:sym typeface="Roboto Light"/>
              </a:rPr>
              <a:t>Click </a:t>
            </a:r>
            <a:r>
              <a:rPr b="1" lang="en">
                <a:solidFill>
                  <a:srgbClr val="5B5B5B"/>
                </a:solidFill>
                <a:latin typeface="Roboto"/>
                <a:ea typeface="Roboto"/>
                <a:cs typeface="Roboto"/>
                <a:sym typeface="Roboto"/>
              </a:rPr>
              <a:t>Present with Slido</a:t>
            </a:r>
            <a:r>
              <a:rPr lang="en">
                <a:solidFill>
                  <a:srgbClr val="5B5B5B"/>
                </a:solidFill>
                <a:latin typeface="Roboto Light"/>
                <a:ea typeface="Roboto Light"/>
                <a:cs typeface="Roboto Light"/>
                <a:sym typeface="Roboto Light"/>
              </a:rPr>
              <a:t> or install our </a:t>
            </a:r>
            <a:r>
              <a:rPr lang="en" u="sng">
                <a:solidFill>
                  <a:schemeClr val="hlink"/>
                </a:solidFill>
                <a:latin typeface="Roboto Light"/>
                <a:ea typeface="Roboto Light"/>
                <a:cs typeface="Roboto Light"/>
                <a:sym typeface="Roboto Light"/>
                <a:hlinkClick r:id="rId5"/>
              </a:rPr>
              <a:t>Chrome extension</a:t>
            </a:r>
            <a:r>
              <a:rPr lang="en">
                <a:solidFill>
                  <a:srgbClr val="5B5B5B"/>
                </a:solidFill>
                <a:latin typeface="Roboto Light"/>
                <a:ea typeface="Roboto Light"/>
                <a:cs typeface="Roboto Light"/>
                <a:sym typeface="Roboto Light"/>
              </a:rPr>
              <a:t> to display joining instructions for participants while presenting.</a:t>
            </a:r>
            <a:endParaRPr>
              <a:solidFill>
                <a:srgbClr val="5B5B5B"/>
              </a:solidFill>
              <a:latin typeface="Roboto Light"/>
              <a:ea typeface="Roboto Light"/>
              <a:cs typeface="Roboto Light"/>
              <a:sym typeface="Roboto Light"/>
            </a:endParaRPr>
          </a:p>
        </p:txBody>
      </p:sp>
      <p:pic>
        <p:nvPicPr>
          <p:cNvPr descr="poll-type-id" id="185" name="Google Shape;185;p32">
            <a:hlinkClick r:id="rId6"/>
          </p:cNvPr>
          <p:cNvPicPr preferRelativeResize="0"/>
          <p:nvPr/>
        </p:nvPicPr>
        <p:blipFill>
          <a:blip r:embed="rId7">
            <a:alphaModFix/>
          </a:blip>
          <a:stretch>
            <a:fillRect/>
          </a:stretch>
        </p:blipFill>
        <p:spPr>
          <a:xfrm>
            <a:off x="509782" y="1659132"/>
            <a:ext cx="1825235" cy="182523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chemeClr val="accent3"/>
                </a:solidFill>
              </a:rPr>
              <a:t>Exploratory Data Analysis (EDA) IV</a:t>
            </a:r>
            <a:endParaRPr sz="3600"/>
          </a:p>
        </p:txBody>
      </p:sp>
      <p:sp>
        <p:nvSpPr>
          <p:cNvPr id="191" name="Google Shape;191;p33"/>
          <p:cNvSpPr txBox="1"/>
          <p:nvPr>
            <p:ph idx="1" type="subTitle"/>
          </p:nvPr>
        </p:nvSpPr>
        <p:spPr>
          <a:xfrm>
            <a:off x="311700" y="2797175"/>
            <a:ext cx="8520600" cy="445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800">
                <a:solidFill>
                  <a:srgbClr val="666666"/>
                </a:solidFill>
              </a:rPr>
              <a:t>Missing data, arriving at a conclusion, and key EDA concepts.</a:t>
            </a:r>
            <a:endParaRPr sz="1800">
              <a:solidFill>
                <a:srgbClr val="666666"/>
              </a:solidFill>
            </a:endParaRPr>
          </a:p>
        </p:txBody>
      </p:sp>
      <p:sp>
        <p:nvSpPr>
          <p:cNvPr id="192" name="Google Shape;192;p33"/>
          <p:cNvSpPr txBox="1"/>
          <p:nvPr>
            <p:ph idx="1" type="subTitle"/>
          </p:nvPr>
        </p:nvSpPr>
        <p:spPr>
          <a:xfrm>
            <a:off x="311700" y="3854350"/>
            <a:ext cx="8520600" cy="658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sz="1600">
                <a:latin typeface="Roboto Medium"/>
                <a:ea typeface="Roboto Medium"/>
                <a:cs typeface="Roboto Medium"/>
                <a:sym typeface="Roboto Medium"/>
              </a:rPr>
              <a:t>Data C100/Data C200, Fall 2026 @ UC Berkeley</a:t>
            </a:r>
            <a:endParaRPr sz="1600">
              <a:latin typeface="Roboto Medium"/>
              <a:ea typeface="Roboto Medium"/>
              <a:cs typeface="Roboto Medium"/>
              <a:sym typeface="Roboto Medium"/>
            </a:endParaRPr>
          </a:p>
          <a:p>
            <a:pPr indent="0" lvl="0" marL="0" rtl="0" algn="l">
              <a:spcBef>
                <a:spcPts val="600"/>
              </a:spcBef>
              <a:spcAft>
                <a:spcPts val="0"/>
              </a:spcAft>
              <a:buClr>
                <a:schemeClr val="dk1"/>
              </a:buClr>
              <a:buSzPts val="1100"/>
              <a:buFont typeface="Arial"/>
              <a:buNone/>
            </a:pPr>
            <a:r>
              <a:rPr lang="en" sz="1600"/>
              <a:t>Ramesh Sridharan and Jeremy Sanchez</a:t>
            </a:r>
            <a:endParaRPr sz="1600">
              <a:latin typeface="Roboto Medium"/>
              <a:ea typeface="Roboto Medium"/>
              <a:cs typeface="Roboto Medium"/>
              <a:sym typeface="Roboto Medium"/>
            </a:endParaRPr>
          </a:p>
          <a:p>
            <a:pPr indent="0" lvl="0" marL="0" rtl="0" algn="l">
              <a:spcBef>
                <a:spcPts val="600"/>
              </a:spcBef>
              <a:spcAft>
                <a:spcPts val="0"/>
              </a:spcAft>
              <a:buClr>
                <a:schemeClr val="dk1"/>
              </a:buClr>
              <a:buSzPts val="1100"/>
              <a:buFont typeface="Arial"/>
              <a:buNone/>
            </a:pPr>
            <a:r>
              <a:rPr lang="en" sz="1600"/>
              <a:t>Content credit: </a:t>
            </a:r>
            <a:r>
              <a:rPr lang="en" sz="1600" u="sng">
                <a:solidFill>
                  <a:schemeClr val="hlink"/>
                </a:solidFill>
                <a:hlinkClick r:id="rId3"/>
              </a:rPr>
              <a:t>Acknowledgments</a:t>
            </a:r>
            <a:endParaRPr sz="1600">
              <a:latin typeface="Roboto Medium"/>
              <a:ea typeface="Roboto Medium"/>
              <a:cs typeface="Roboto Medium"/>
              <a:sym typeface="Roboto Medium"/>
            </a:endParaRPr>
          </a:p>
        </p:txBody>
      </p:sp>
      <p:sp>
        <p:nvSpPr>
          <p:cNvPr id="193" name="Google Shape;193;p33"/>
          <p:cNvSpPr txBox="1"/>
          <p:nvPr/>
        </p:nvSpPr>
        <p:spPr>
          <a:xfrm>
            <a:off x="345775" y="1825900"/>
            <a:ext cx="11502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5</a:t>
            </a:r>
            <a:endParaRPr sz="1200">
              <a:solidFill>
                <a:srgbClr val="BF9000"/>
              </a:solidFill>
              <a:latin typeface="Roboto Medium"/>
              <a:ea typeface="Roboto Medium"/>
              <a:cs typeface="Roboto Medium"/>
              <a:sym typeface="Roboto Medium"/>
            </a:endParaRPr>
          </a:p>
        </p:txBody>
      </p:sp>
      <p:sp>
        <p:nvSpPr>
          <p:cNvPr id="194" name="Google Shape;194;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5" name="Google Shape;195;p33"/>
          <p:cNvSpPr txBox="1"/>
          <p:nvPr/>
        </p:nvSpPr>
        <p:spPr>
          <a:xfrm>
            <a:off x="0" y="0"/>
            <a:ext cx="5116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000000"/>
                </a:solidFill>
                <a:latin typeface="Roboto Light"/>
                <a:ea typeface="Roboto Light"/>
                <a:cs typeface="Roboto Light"/>
                <a:sym typeface="Roboto Light"/>
              </a:rPr>
              <a:t>⚠️ Reminder to start the Zoom recording!</a:t>
            </a:r>
            <a:endParaRPr sz="1600">
              <a:solidFill>
                <a:srgbClr val="000000"/>
              </a:solidFill>
              <a:latin typeface="Roboto Light"/>
              <a:ea typeface="Roboto Light"/>
              <a:cs typeface="Roboto Light"/>
              <a:sym typeface="Roboto Light"/>
            </a:endParaRPr>
          </a:p>
        </p:txBody>
      </p:sp>
      <p:sp>
        <p:nvSpPr>
          <p:cNvPr id="196" name="Google Shape;196;p33"/>
          <p:cNvSpPr txBox="1"/>
          <p:nvPr/>
        </p:nvSpPr>
        <p:spPr>
          <a:xfrm>
            <a:off x="520200" y="955113"/>
            <a:ext cx="3122400" cy="431100"/>
          </a:xfrm>
          <a:prstGeom prst="rect">
            <a:avLst/>
          </a:prstGeom>
          <a:solidFill>
            <a:srgbClr val="F4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000000"/>
                </a:solidFill>
                <a:latin typeface="Roboto Light"/>
                <a:ea typeface="Roboto Light"/>
                <a:cs typeface="Roboto Light"/>
                <a:sym typeface="Roboto Light"/>
              </a:rPr>
              <a:t>⚠️ Reminder to start Askademia!</a:t>
            </a:r>
            <a:endParaRPr sz="1600">
              <a:solidFill>
                <a:srgbClr val="000000"/>
              </a:solidFill>
              <a:latin typeface="Roboto Light"/>
              <a:ea typeface="Roboto Light"/>
              <a:cs typeface="Roboto Light"/>
              <a:sym typeface="Roboto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Announcements</a:t>
            </a:r>
            <a:endParaRPr/>
          </a:p>
        </p:txBody>
      </p:sp>
      <p:sp>
        <p:nvSpPr>
          <p:cNvPr id="202" name="Google Shape;202;p34"/>
          <p:cNvSpPr txBox="1"/>
          <p:nvPr>
            <p:ph idx="1" type="body"/>
          </p:nvPr>
        </p:nvSpPr>
        <p:spPr>
          <a:xfrm>
            <a:off x="107050" y="402200"/>
            <a:ext cx="8520600" cy="47412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sz="1800"/>
              <a:t>HW 1 due </a:t>
            </a:r>
            <a:r>
              <a:rPr b="1" lang="en" sz="1800">
                <a:latin typeface="Roboto"/>
                <a:ea typeface="Roboto"/>
                <a:cs typeface="Roboto"/>
                <a:sym typeface="Roboto"/>
              </a:rPr>
              <a:t>tomorrow</a:t>
            </a:r>
            <a:r>
              <a:rPr lang="en" sz="1800"/>
              <a:t>!</a:t>
            </a:r>
            <a:endParaRPr/>
          </a:p>
          <a:p>
            <a:pPr indent="0" lvl="0" marL="0" rtl="0" algn="l">
              <a:lnSpc>
                <a:spcPct val="115000"/>
              </a:lnSpc>
              <a:spcBef>
                <a:spcPts val="600"/>
              </a:spcBef>
              <a:spcAft>
                <a:spcPts val="0"/>
              </a:spcAft>
              <a:buNone/>
            </a:pPr>
            <a:r>
              <a:t/>
            </a:r>
            <a:endParaRPr/>
          </a:p>
        </p:txBody>
      </p:sp>
      <p:sp>
        <p:nvSpPr>
          <p:cNvPr id="203" name="Google Shape;203;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Admission rates have a different pattern</a:t>
            </a:r>
            <a:endParaRPr/>
          </a:p>
        </p:txBody>
      </p:sp>
      <p:sp>
        <p:nvSpPr>
          <p:cNvPr id="209" name="Google Shape;209;p3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What's going on here? </a:t>
            </a:r>
            <a:endParaRPr/>
          </a:p>
        </p:txBody>
      </p:sp>
      <p:sp>
        <p:nvSpPr>
          <p:cNvPr id="210" name="Google Shape;210;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11" name="Google Shape;211;p35"/>
          <p:cNvPicPr preferRelativeResize="0"/>
          <p:nvPr/>
        </p:nvPicPr>
        <p:blipFill>
          <a:blip r:embed="rId3">
            <a:alphaModFix/>
          </a:blip>
          <a:stretch>
            <a:fillRect/>
          </a:stretch>
        </p:blipFill>
        <p:spPr>
          <a:xfrm>
            <a:off x="216950" y="972650"/>
            <a:ext cx="3836449" cy="2806324"/>
          </a:xfrm>
          <a:prstGeom prst="rect">
            <a:avLst/>
          </a:prstGeom>
          <a:noFill/>
          <a:ln>
            <a:noFill/>
          </a:ln>
        </p:spPr>
      </p:pic>
      <p:pic>
        <p:nvPicPr>
          <p:cNvPr id="212" name="Google Shape;212;p35"/>
          <p:cNvPicPr preferRelativeResize="0"/>
          <p:nvPr/>
        </p:nvPicPr>
        <p:blipFill>
          <a:blip r:embed="rId4">
            <a:alphaModFix/>
          </a:blip>
          <a:stretch>
            <a:fillRect/>
          </a:stretch>
        </p:blipFill>
        <p:spPr>
          <a:xfrm>
            <a:off x="4622225" y="867675"/>
            <a:ext cx="3648851" cy="2767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 name="Shape 216"/>
        <p:cNvGrpSpPr/>
        <p:nvPr/>
      </p:nvGrpSpPr>
      <p:grpSpPr>
        <a:xfrm>
          <a:off x="0" y="0"/>
          <a:ext cx="0" cy="0"/>
          <a:chOff x="0" y="0"/>
          <a:chExt cx="0" cy="0"/>
        </a:xfrm>
      </p:grpSpPr>
      <p:sp>
        <p:nvSpPr>
          <p:cNvPr id="217" name="Google Shape;217;p36"/>
          <p:cNvSpPr/>
          <p:nvPr/>
        </p:nvSpPr>
        <p:spPr>
          <a:xfrm rot="5400000">
            <a:off x="7365228" y="0"/>
            <a:ext cx="1778700" cy="1778700"/>
          </a:xfrm>
          <a:prstGeom prst="diagStripe">
            <a:avLst>
              <a:gd fmla="val 50000" name="adj"/>
            </a:avLst>
          </a:prstGeom>
          <a:solidFill>
            <a:srgbClr val="EDFA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18" name="Google Shape;218;p36"/>
          <p:cNvSpPr txBox="1"/>
          <p:nvPr/>
        </p:nvSpPr>
        <p:spPr>
          <a:xfrm rot="2700000">
            <a:off x="7215273" y="386217"/>
            <a:ext cx="2501461" cy="583787"/>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98038"/>
                </a:solidFill>
                <a:latin typeface="Inter"/>
                <a:ea typeface="Inter"/>
                <a:cs typeface="Inter"/>
                <a:sym typeface="Inter"/>
              </a:rPr>
              <a:t>Do not edit</a:t>
            </a:r>
            <a:endParaRPr b="1" sz="1200">
              <a:solidFill>
                <a:srgbClr val="198038"/>
              </a:solidFill>
              <a:latin typeface="Inter"/>
              <a:ea typeface="Inter"/>
              <a:cs typeface="Inter"/>
              <a:sym typeface="Inter"/>
            </a:endParaRPr>
          </a:p>
          <a:p>
            <a:pPr indent="0" lvl="0" marL="0" rtl="0" algn="ctr">
              <a:spcBef>
                <a:spcPts val="0"/>
              </a:spcBef>
              <a:spcAft>
                <a:spcPts val="0"/>
              </a:spcAft>
              <a:buNone/>
            </a:pPr>
            <a:r>
              <a:rPr lang="en" sz="1200" u="sng">
                <a:solidFill>
                  <a:srgbClr val="198038"/>
                </a:solidFill>
                <a:latin typeface="Inter Light"/>
                <a:ea typeface="Inter Light"/>
                <a:cs typeface="Inter Light"/>
                <a:sym typeface="Inter Light"/>
                <a:hlinkClick r:id="rId3">
                  <a:extLst>
                    <a:ext uri="{A12FA001-AC4F-418D-AE19-62706E023703}">
                      <ahyp:hlinkClr val="tx"/>
                    </a:ext>
                  </a:extLst>
                </a:hlinkClick>
              </a:rPr>
              <a:t>How to change the design</a:t>
            </a:r>
            <a:endParaRPr sz="1200">
              <a:solidFill>
                <a:srgbClr val="198038"/>
              </a:solidFill>
              <a:latin typeface="Inter Light"/>
              <a:ea typeface="Inter Light"/>
              <a:cs typeface="Inter Light"/>
              <a:sym typeface="Inter Light"/>
            </a:endParaRPr>
          </a:p>
        </p:txBody>
      </p:sp>
      <p:sp>
        <p:nvSpPr>
          <p:cNvPr descr="title-id" id="219" name="Google Shape;219;p36"/>
          <p:cNvSpPr txBox="1"/>
          <p:nvPr/>
        </p:nvSpPr>
        <p:spPr>
          <a:xfrm>
            <a:off x="2334638" y="1320628"/>
            <a:ext cx="6364800" cy="175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00">
                <a:solidFill>
                  <a:srgbClr val="5B5B5B"/>
                </a:solidFill>
                <a:latin typeface="Inter"/>
                <a:ea typeface="Inter"/>
                <a:cs typeface="Inter"/>
                <a:sym typeface="Inter"/>
              </a:rPr>
              <a:t>What could be responsible for the reversed pattern in admission?</a:t>
            </a:r>
            <a:endParaRPr b="1" sz="3600">
              <a:solidFill>
                <a:srgbClr val="5B5B5B"/>
              </a:solidFill>
              <a:latin typeface="Inter"/>
              <a:ea typeface="Inter"/>
              <a:cs typeface="Inter"/>
              <a:sym typeface="Inter"/>
            </a:endParaRPr>
          </a:p>
        </p:txBody>
      </p:sp>
      <p:sp>
        <p:nvSpPr>
          <p:cNvPr id="220" name="Google Shape;220;p36"/>
          <p:cNvSpPr/>
          <p:nvPr/>
        </p:nvSpPr>
        <p:spPr>
          <a:xfrm>
            <a:off x="0" y="4365024"/>
            <a:ext cx="9144000" cy="778500"/>
          </a:xfrm>
          <a:prstGeom prst="rect">
            <a:avLst/>
          </a:prstGeom>
          <a:solidFill>
            <a:srgbClr val="19803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21" name="Google Shape;221;p36"/>
          <p:cNvSpPr txBox="1"/>
          <p:nvPr/>
        </p:nvSpPr>
        <p:spPr>
          <a:xfrm>
            <a:off x="555866" y="4365024"/>
            <a:ext cx="6948300" cy="77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FFFFFF"/>
                </a:solidFill>
                <a:latin typeface="Inter Light"/>
                <a:ea typeface="Inter Light"/>
                <a:cs typeface="Inter Light"/>
                <a:sym typeface="Inter Light"/>
              </a:rPr>
              <a:t>Presenting with animations, GIFs or speaker notes? Enable our </a:t>
            </a:r>
            <a:r>
              <a:rPr lang="en" sz="1200" u="sng">
                <a:solidFill>
                  <a:srgbClr val="FFFFFF"/>
                </a:solidFill>
                <a:latin typeface="Inter Light"/>
                <a:ea typeface="Inter Light"/>
                <a:cs typeface="Inter Light"/>
                <a:sym typeface="Inter Light"/>
                <a:hlinkClick r:id="rId4">
                  <a:extLst>
                    <a:ext uri="{A12FA001-AC4F-418D-AE19-62706E023703}">
                      <ahyp:hlinkClr val="tx"/>
                    </a:ext>
                  </a:extLst>
                </a:hlinkClick>
              </a:rPr>
              <a:t>Chrome extension</a:t>
            </a:r>
            <a:endParaRPr sz="1200">
              <a:solidFill>
                <a:srgbClr val="FFFFFF"/>
              </a:solidFill>
              <a:latin typeface="Inter Light"/>
              <a:ea typeface="Inter Light"/>
              <a:cs typeface="Inter Light"/>
              <a:sym typeface="Inter Light"/>
            </a:endParaRPr>
          </a:p>
        </p:txBody>
      </p:sp>
      <p:pic>
        <p:nvPicPr>
          <p:cNvPr id="222" name="Google Shape;222;p36"/>
          <p:cNvPicPr preferRelativeResize="0"/>
          <p:nvPr/>
        </p:nvPicPr>
        <p:blipFill>
          <a:blip r:embed="rId5">
            <a:alphaModFix/>
          </a:blip>
          <a:stretch>
            <a:fillRect/>
          </a:stretch>
        </p:blipFill>
        <p:spPr>
          <a:xfrm>
            <a:off x="222347" y="4643089"/>
            <a:ext cx="222347" cy="222347"/>
          </a:xfrm>
          <a:prstGeom prst="rect">
            <a:avLst/>
          </a:prstGeom>
          <a:noFill/>
          <a:ln>
            <a:noFill/>
          </a:ln>
        </p:spPr>
      </p:pic>
      <p:pic>
        <p:nvPicPr>
          <p:cNvPr descr="logo-id" id="223" name="Google Shape;223;p36">
            <a:hlinkClick r:id="rId6"/>
          </p:cNvPr>
          <p:cNvPicPr preferRelativeResize="0"/>
          <p:nvPr/>
        </p:nvPicPr>
        <p:blipFill>
          <a:blip r:embed="rId7">
            <a:alphaModFix/>
          </a:blip>
          <a:stretch>
            <a:fillRect/>
          </a:stretch>
        </p:blipFill>
        <p:spPr>
          <a:xfrm>
            <a:off x="7921094" y="4476329"/>
            <a:ext cx="1111733" cy="555866"/>
          </a:xfrm>
          <a:prstGeom prst="rect">
            <a:avLst/>
          </a:prstGeom>
          <a:noFill/>
          <a:ln>
            <a:noFill/>
          </a:ln>
        </p:spPr>
      </p:pic>
      <p:pic>
        <p:nvPicPr>
          <p:cNvPr descr="poll-type-id" id="224" name="Google Shape;224;p36">
            <a:hlinkClick r:id="rId8"/>
          </p:cNvPr>
          <p:cNvPicPr preferRelativeResize="0"/>
          <p:nvPr/>
        </p:nvPicPr>
        <p:blipFill>
          <a:blip r:embed="rId9">
            <a:alphaModFix/>
          </a:blip>
          <a:stretch>
            <a:fillRect/>
          </a:stretch>
        </p:blipFill>
        <p:spPr>
          <a:xfrm>
            <a:off x="333520" y="1307027"/>
            <a:ext cx="1778772" cy="177877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Admission rates have a different pattern</a:t>
            </a:r>
            <a:endParaRPr/>
          </a:p>
        </p:txBody>
      </p:sp>
      <p:sp>
        <p:nvSpPr>
          <p:cNvPr id="230" name="Google Shape;230;p3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What's going on here? </a:t>
            </a:r>
            <a:endParaRPr/>
          </a:p>
        </p:txBody>
      </p:sp>
      <p:sp>
        <p:nvSpPr>
          <p:cNvPr id="231" name="Google Shape;231;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32" name="Google Shape;232;p37"/>
          <p:cNvPicPr preferRelativeResize="0"/>
          <p:nvPr/>
        </p:nvPicPr>
        <p:blipFill>
          <a:blip r:embed="rId3">
            <a:alphaModFix/>
          </a:blip>
          <a:stretch>
            <a:fillRect/>
          </a:stretch>
        </p:blipFill>
        <p:spPr>
          <a:xfrm>
            <a:off x="216950" y="972650"/>
            <a:ext cx="3836449" cy="2806324"/>
          </a:xfrm>
          <a:prstGeom prst="rect">
            <a:avLst/>
          </a:prstGeom>
          <a:noFill/>
          <a:ln>
            <a:noFill/>
          </a:ln>
        </p:spPr>
      </p:pic>
      <p:sp>
        <p:nvSpPr>
          <p:cNvPr id="233" name="Google Shape;233;p37"/>
          <p:cNvSpPr txBox="1"/>
          <p:nvPr/>
        </p:nvSpPr>
        <p:spPr>
          <a:xfrm>
            <a:off x="285750" y="3965475"/>
            <a:ext cx="8234700" cy="12468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Clr>
                <a:schemeClr val="dk1"/>
              </a:buClr>
              <a:buSzPts val="1100"/>
              <a:buFont typeface="Arial"/>
              <a:buNone/>
            </a:pPr>
            <a:r>
              <a:rPr b="1" lang="en" sz="1600">
                <a:solidFill>
                  <a:schemeClr val="dk1"/>
                </a:solidFill>
                <a:latin typeface="Roboto"/>
                <a:ea typeface="Roboto"/>
                <a:cs typeface="Roboto"/>
                <a:sym typeface="Roboto"/>
              </a:rPr>
              <a:t>Selection effects</a:t>
            </a:r>
            <a:r>
              <a:rPr lang="en" sz="1600">
                <a:solidFill>
                  <a:schemeClr val="dk1"/>
                </a:solidFill>
                <a:latin typeface="Roboto Light"/>
                <a:ea typeface="Roboto Light"/>
                <a:cs typeface="Roboto Light"/>
                <a:sym typeface="Roboto Light"/>
              </a:rPr>
              <a:t>: Stronger students are the most likely to still apply when app_rate is low.</a:t>
            </a:r>
            <a:endParaRPr sz="1600">
              <a:solidFill>
                <a:schemeClr val="dk1"/>
              </a:solidFill>
              <a:latin typeface="Roboto Light"/>
              <a:ea typeface="Roboto Light"/>
              <a:cs typeface="Roboto Light"/>
              <a:sym typeface="Roboto Light"/>
            </a:endParaRPr>
          </a:p>
          <a:p>
            <a:pPr indent="0" lvl="0" marL="0" rtl="0" algn="l">
              <a:spcBef>
                <a:spcPts val="600"/>
              </a:spcBef>
              <a:spcAft>
                <a:spcPts val="0"/>
              </a:spcAft>
              <a:buClr>
                <a:schemeClr val="dk1"/>
              </a:buClr>
              <a:buSzPts val="1100"/>
              <a:buFont typeface="Arial"/>
              <a:buNone/>
            </a:pPr>
            <a:br>
              <a:rPr lang="en" sz="1600">
                <a:solidFill>
                  <a:schemeClr val="dk1"/>
                </a:solidFill>
                <a:latin typeface="Roboto Light"/>
                <a:ea typeface="Roboto Light"/>
                <a:cs typeface="Roboto Light"/>
                <a:sym typeface="Roboto Light"/>
              </a:rPr>
            </a:br>
            <a:r>
              <a:rPr lang="en" sz="1600">
                <a:solidFill>
                  <a:schemeClr val="dk1"/>
                </a:solidFill>
                <a:latin typeface="Roboto Light"/>
                <a:ea typeface="Roboto Light"/>
                <a:cs typeface="Roboto Light"/>
                <a:sym typeface="Roboto Light"/>
              </a:rPr>
              <a:t>UC admissions policy: Top K at high schools in California. If low # apply, do most get in?</a:t>
            </a:r>
            <a:endParaRPr sz="1600">
              <a:solidFill>
                <a:schemeClr val="dk1"/>
              </a:solidFill>
              <a:latin typeface="Roboto Light"/>
              <a:ea typeface="Roboto Light"/>
              <a:cs typeface="Roboto Light"/>
              <a:sym typeface="Roboto Light"/>
            </a:endParaRPr>
          </a:p>
          <a:p>
            <a:pPr indent="0" lvl="0" marL="0" rtl="0" algn="l">
              <a:spcBef>
                <a:spcPts val="0"/>
              </a:spcBef>
              <a:spcAft>
                <a:spcPts val="0"/>
              </a:spcAft>
              <a:buNone/>
            </a:pPr>
            <a:r>
              <a:t/>
            </a:r>
            <a:endParaRPr sz="1600">
              <a:solidFill>
                <a:schemeClr val="dk1"/>
              </a:solidFill>
              <a:latin typeface="Roboto Light"/>
              <a:ea typeface="Roboto Light"/>
              <a:cs typeface="Roboto Light"/>
              <a:sym typeface="Roboto Light"/>
            </a:endParaRPr>
          </a:p>
        </p:txBody>
      </p:sp>
      <p:pic>
        <p:nvPicPr>
          <p:cNvPr id="234" name="Google Shape;234;p37"/>
          <p:cNvPicPr preferRelativeResize="0"/>
          <p:nvPr/>
        </p:nvPicPr>
        <p:blipFill>
          <a:blip r:embed="rId4">
            <a:alphaModFix/>
          </a:blip>
          <a:stretch>
            <a:fillRect/>
          </a:stretch>
        </p:blipFill>
        <p:spPr>
          <a:xfrm>
            <a:off x="4622225" y="867675"/>
            <a:ext cx="3648851" cy="2767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 name="Shape 238"/>
        <p:cNvGrpSpPr/>
        <p:nvPr/>
      </p:nvGrpSpPr>
      <p:grpSpPr>
        <a:xfrm>
          <a:off x="0" y="0"/>
          <a:ext cx="0" cy="0"/>
          <a:chOff x="0" y="0"/>
          <a:chExt cx="0" cy="0"/>
        </a:xfrm>
      </p:grpSpPr>
      <p:sp>
        <p:nvSpPr>
          <p:cNvPr id="239" name="Google Shape;239;p38"/>
          <p:cNvSpPr/>
          <p:nvPr/>
        </p:nvSpPr>
        <p:spPr>
          <a:xfrm rot="5400000">
            <a:off x="7365228" y="0"/>
            <a:ext cx="1778700" cy="1778700"/>
          </a:xfrm>
          <a:prstGeom prst="diagStripe">
            <a:avLst>
              <a:gd fmla="val 50000" name="adj"/>
            </a:avLst>
          </a:prstGeom>
          <a:solidFill>
            <a:srgbClr val="EDFA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40" name="Google Shape;240;p38"/>
          <p:cNvSpPr txBox="1"/>
          <p:nvPr/>
        </p:nvSpPr>
        <p:spPr>
          <a:xfrm rot="2700000">
            <a:off x="7215273" y="386217"/>
            <a:ext cx="2501461" cy="583787"/>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98038"/>
                </a:solidFill>
                <a:latin typeface="Inter"/>
                <a:ea typeface="Inter"/>
                <a:cs typeface="Inter"/>
                <a:sym typeface="Inter"/>
              </a:rPr>
              <a:t>Do not edit</a:t>
            </a:r>
            <a:endParaRPr b="1" sz="1200">
              <a:solidFill>
                <a:srgbClr val="198038"/>
              </a:solidFill>
              <a:latin typeface="Inter"/>
              <a:ea typeface="Inter"/>
              <a:cs typeface="Inter"/>
              <a:sym typeface="Inter"/>
            </a:endParaRPr>
          </a:p>
          <a:p>
            <a:pPr indent="0" lvl="0" marL="0" rtl="0" algn="ctr">
              <a:spcBef>
                <a:spcPts val="0"/>
              </a:spcBef>
              <a:spcAft>
                <a:spcPts val="0"/>
              </a:spcAft>
              <a:buNone/>
            </a:pPr>
            <a:r>
              <a:rPr lang="en" sz="1200" u="sng">
                <a:solidFill>
                  <a:srgbClr val="198038"/>
                </a:solidFill>
                <a:latin typeface="Inter Light"/>
                <a:ea typeface="Inter Light"/>
                <a:cs typeface="Inter Light"/>
                <a:sym typeface="Inter Light"/>
                <a:hlinkClick r:id="rId3">
                  <a:extLst>
                    <a:ext uri="{A12FA001-AC4F-418D-AE19-62706E023703}">
                      <ahyp:hlinkClr val="tx"/>
                    </a:ext>
                  </a:extLst>
                </a:hlinkClick>
              </a:rPr>
              <a:t>How to change the design</a:t>
            </a:r>
            <a:endParaRPr sz="1200">
              <a:solidFill>
                <a:srgbClr val="198038"/>
              </a:solidFill>
              <a:latin typeface="Inter Light"/>
              <a:ea typeface="Inter Light"/>
              <a:cs typeface="Inter Light"/>
              <a:sym typeface="Inter Light"/>
            </a:endParaRPr>
          </a:p>
        </p:txBody>
      </p:sp>
      <p:sp>
        <p:nvSpPr>
          <p:cNvPr descr="title-id" id="241" name="Google Shape;241;p38"/>
          <p:cNvSpPr txBox="1"/>
          <p:nvPr/>
        </p:nvSpPr>
        <p:spPr>
          <a:xfrm>
            <a:off x="2334638" y="1320628"/>
            <a:ext cx="6364800" cy="175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rgbClr val="5B5B5B"/>
                </a:solidFill>
                <a:latin typeface="Inter"/>
                <a:ea typeface="Inter"/>
                <a:cs typeface="Inter"/>
                <a:sym typeface="Inter"/>
              </a:rPr>
              <a:t>How should we compute attendance rates for each frl_percentile? How do we handle null values?</a:t>
            </a:r>
            <a:endParaRPr b="1" sz="2600">
              <a:solidFill>
                <a:srgbClr val="5B5B5B"/>
              </a:solidFill>
              <a:latin typeface="Inter"/>
              <a:ea typeface="Inter"/>
              <a:cs typeface="Inter"/>
              <a:sym typeface="Inter"/>
            </a:endParaRPr>
          </a:p>
        </p:txBody>
      </p:sp>
      <p:sp>
        <p:nvSpPr>
          <p:cNvPr id="242" name="Google Shape;242;p38"/>
          <p:cNvSpPr/>
          <p:nvPr/>
        </p:nvSpPr>
        <p:spPr>
          <a:xfrm>
            <a:off x="0" y="4365024"/>
            <a:ext cx="9144000" cy="778500"/>
          </a:xfrm>
          <a:prstGeom prst="rect">
            <a:avLst/>
          </a:prstGeom>
          <a:solidFill>
            <a:srgbClr val="19803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43" name="Google Shape;243;p38"/>
          <p:cNvSpPr txBox="1"/>
          <p:nvPr/>
        </p:nvSpPr>
        <p:spPr>
          <a:xfrm>
            <a:off x="555866" y="4365024"/>
            <a:ext cx="6948300" cy="77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FFFFFF"/>
                </a:solidFill>
                <a:latin typeface="Inter Light"/>
                <a:ea typeface="Inter Light"/>
                <a:cs typeface="Inter Light"/>
                <a:sym typeface="Inter Light"/>
              </a:rPr>
              <a:t>Presenting with animations, GIFs or speaker notes? Enable our </a:t>
            </a:r>
            <a:r>
              <a:rPr lang="en" sz="1200" u="sng">
                <a:solidFill>
                  <a:srgbClr val="FFFFFF"/>
                </a:solidFill>
                <a:latin typeface="Inter Light"/>
                <a:ea typeface="Inter Light"/>
                <a:cs typeface="Inter Light"/>
                <a:sym typeface="Inter Light"/>
                <a:hlinkClick r:id="rId4">
                  <a:extLst>
                    <a:ext uri="{A12FA001-AC4F-418D-AE19-62706E023703}">
                      <ahyp:hlinkClr val="tx"/>
                    </a:ext>
                  </a:extLst>
                </a:hlinkClick>
              </a:rPr>
              <a:t>Chrome extension</a:t>
            </a:r>
            <a:endParaRPr sz="1200">
              <a:solidFill>
                <a:srgbClr val="FFFFFF"/>
              </a:solidFill>
              <a:latin typeface="Inter Light"/>
              <a:ea typeface="Inter Light"/>
              <a:cs typeface="Inter Light"/>
              <a:sym typeface="Inter Light"/>
            </a:endParaRPr>
          </a:p>
        </p:txBody>
      </p:sp>
      <p:pic>
        <p:nvPicPr>
          <p:cNvPr id="244" name="Google Shape;244;p38"/>
          <p:cNvPicPr preferRelativeResize="0"/>
          <p:nvPr/>
        </p:nvPicPr>
        <p:blipFill>
          <a:blip r:embed="rId5">
            <a:alphaModFix/>
          </a:blip>
          <a:stretch>
            <a:fillRect/>
          </a:stretch>
        </p:blipFill>
        <p:spPr>
          <a:xfrm>
            <a:off x="222347" y="4643089"/>
            <a:ext cx="222347" cy="222347"/>
          </a:xfrm>
          <a:prstGeom prst="rect">
            <a:avLst/>
          </a:prstGeom>
          <a:noFill/>
          <a:ln>
            <a:noFill/>
          </a:ln>
        </p:spPr>
      </p:pic>
      <p:pic>
        <p:nvPicPr>
          <p:cNvPr descr="logo-id" id="245" name="Google Shape;245;p38">
            <a:hlinkClick r:id="rId6"/>
          </p:cNvPr>
          <p:cNvPicPr preferRelativeResize="0"/>
          <p:nvPr/>
        </p:nvPicPr>
        <p:blipFill>
          <a:blip r:embed="rId7">
            <a:alphaModFix/>
          </a:blip>
          <a:stretch>
            <a:fillRect/>
          </a:stretch>
        </p:blipFill>
        <p:spPr>
          <a:xfrm>
            <a:off x="7921094" y="4476329"/>
            <a:ext cx="1111733" cy="555866"/>
          </a:xfrm>
          <a:prstGeom prst="rect">
            <a:avLst/>
          </a:prstGeom>
          <a:noFill/>
          <a:ln>
            <a:noFill/>
          </a:ln>
        </p:spPr>
      </p:pic>
      <p:pic>
        <p:nvPicPr>
          <p:cNvPr descr="poll-type-id" id="246" name="Google Shape;246;p38">
            <a:hlinkClick r:id="rId8"/>
          </p:cNvPr>
          <p:cNvPicPr preferRelativeResize="0"/>
          <p:nvPr/>
        </p:nvPicPr>
        <p:blipFill>
          <a:blip r:embed="rId9">
            <a:alphaModFix/>
          </a:blip>
          <a:stretch>
            <a:fillRect/>
          </a:stretch>
        </p:blipFill>
        <p:spPr>
          <a:xfrm>
            <a:off x="333520" y="1307027"/>
            <a:ext cx="1778772" cy="177877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2" name="Google Shape;252;p3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Missing Data: Redux</a:t>
            </a:r>
            <a:endParaRPr/>
          </a:p>
        </p:txBody>
      </p:sp>
      <p:sp>
        <p:nvSpPr>
          <p:cNvPr id="253" name="Google Shape;253;p39"/>
          <p:cNvSpPr txBox="1"/>
          <p:nvPr>
            <p:ph idx="1" type="body"/>
          </p:nvPr>
        </p:nvSpPr>
        <p:spPr>
          <a:xfrm>
            <a:off x="73900" y="440875"/>
            <a:ext cx="8520600" cy="576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Attendance rates are trickier, since admitted can also be NaN!</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pic>
        <p:nvPicPr>
          <p:cNvPr id="254" name="Google Shape;254;p39"/>
          <p:cNvPicPr preferRelativeResize="0"/>
          <p:nvPr/>
        </p:nvPicPr>
        <p:blipFill rotWithShape="1">
          <a:blip r:embed="rId3">
            <a:alphaModFix/>
          </a:blip>
          <a:srcRect b="0" l="0" r="63719" t="0"/>
          <a:stretch/>
        </p:blipFill>
        <p:spPr>
          <a:xfrm>
            <a:off x="157925" y="1180625"/>
            <a:ext cx="3206876" cy="2546450"/>
          </a:xfrm>
          <a:prstGeom prst="rect">
            <a:avLst/>
          </a:prstGeom>
          <a:noFill/>
          <a:ln>
            <a:noFill/>
          </a:ln>
        </p:spPr>
      </p:pic>
      <p:sp>
        <p:nvSpPr>
          <p:cNvPr id="255" name="Google Shape;255;p39"/>
          <p:cNvSpPr txBox="1"/>
          <p:nvPr/>
        </p:nvSpPr>
        <p:spPr>
          <a:xfrm>
            <a:off x="3558225" y="1467950"/>
            <a:ext cx="5379900" cy="179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Roboto Light"/>
                <a:ea typeface="Roboto Light"/>
                <a:cs typeface="Roboto Light"/>
                <a:sym typeface="Roboto Light"/>
              </a:rPr>
              <a:t>Here is one possible approach:</a:t>
            </a:r>
            <a:endParaRPr sz="1600">
              <a:solidFill>
                <a:schemeClr val="dk1"/>
              </a:solidFill>
              <a:latin typeface="Roboto Light"/>
              <a:ea typeface="Roboto Light"/>
              <a:cs typeface="Roboto Light"/>
              <a:sym typeface="Roboto Light"/>
            </a:endParaRPr>
          </a:p>
          <a:p>
            <a:pPr indent="0" lvl="0" marL="0" rtl="0" algn="l">
              <a:spcBef>
                <a:spcPts val="0"/>
              </a:spcBef>
              <a:spcAft>
                <a:spcPts val="0"/>
              </a:spcAft>
              <a:buNone/>
            </a:pPr>
            <a:r>
              <a:t/>
            </a:r>
            <a:endParaRPr sz="1600">
              <a:solidFill>
                <a:schemeClr val="dk1"/>
              </a:solidFill>
              <a:latin typeface="Roboto Light"/>
              <a:ea typeface="Roboto Light"/>
              <a:cs typeface="Roboto Light"/>
              <a:sym typeface="Roboto Light"/>
            </a:endParaRPr>
          </a:p>
          <a:p>
            <a:pPr indent="-330200" lvl="0" marL="457200" rtl="0" algn="l">
              <a:lnSpc>
                <a:spcPct val="100000"/>
              </a:lnSpc>
              <a:spcBef>
                <a:spcPts val="0"/>
              </a:spcBef>
              <a:spcAft>
                <a:spcPts val="0"/>
              </a:spcAft>
              <a:buClr>
                <a:schemeClr val="dk1"/>
              </a:buClr>
              <a:buSzPts val="1600"/>
              <a:buFont typeface="Roboto Light"/>
              <a:buChar char="●"/>
            </a:pPr>
            <a:r>
              <a:rPr lang="en" sz="1600">
                <a:solidFill>
                  <a:schemeClr val="dk1"/>
                </a:solidFill>
                <a:latin typeface="Roboto Light"/>
                <a:ea typeface="Roboto Light"/>
                <a:cs typeface="Roboto Light"/>
                <a:sym typeface="Roboto Light"/>
              </a:rPr>
              <a:t>Ignore the rows with admitted=NaN and attended=NaN. </a:t>
            </a:r>
            <a:endParaRPr sz="1600">
              <a:solidFill>
                <a:schemeClr val="dk1"/>
              </a:solidFill>
              <a:latin typeface="Roboto Light"/>
              <a:ea typeface="Roboto Light"/>
              <a:cs typeface="Roboto Light"/>
              <a:sym typeface="Roboto Light"/>
            </a:endParaRPr>
          </a:p>
          <a:p>
            <a:pPr indent="-330200" lvl="0" marL="457200" rtl="0" algn="l">
              <a:lnSpc>
                <a:spcPct val="100000"/>
              </a:lnSpc>
              <a:spcBef>
                <a:spcPts val="1000"/>
              </a:spcBef>
              <a:spcAft>
                <a:spcPts val="1000"/>
              </a:spcAft>
              <a:buClr>
                <a:schemeClr val="dk1"/>
              </a:buClr>
              <a:buSzPts val="1600"/>
              <a:buFont typeface="Roboto Light"/>
              <a:buChar char="●"/>
            </a:pPr>
            <a:r>
              <a:rPr lang="en" sz="1600">
                <a:solidFill>
                  <a:schemeClr val="dk1"/>
                </a:solidFill>
                <a:latin typeface="Roboto Light"/>
                <a:ea typeface="Roboto Light"/>
                <a:cs typeface="Roboto Light"/>
                <a:sym typeface="Roboto Light"/>
              </a:rPr>
              <a:t>Otherwise, replace attended=NaN with a random value between 0 and 2</a:t>
            </a:r>
            <a:endParaRPr sz="1600">
              <a:solidFill>
                <a:schemeClr val="dk1"/>
              </a:solidFill>
              <a:latin typeface="Roboto Light"/>
              <a:ea typeface="Roboto Light"/>
              <a:cs typeface="Roboto Light"/>
              <a:sym typeface="Roboto Light"/>
            </a:endParaRPr>
          </a:p>
        </p:txBody>
      </p:sp>
      <p:sp>
        <p:nvSpPr>
          <p:cNvPr id="256" name="Google Shape;256;p39"/>
          <p:cNvSpPr txBox="1"/>
          <p:nvPr/>
        </p:nvSpPr>
        <p:spPr>
          <a:xfrm>
            <a:off x="85650" y="4514100"/>
            <a:ext cx="8349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Roboto Light"/>
                <a:ea typeface="Roboto Light"/>
                <a:cs typeface="Roboto Light"/>
                <a:sym typeface="Roboto Light"/>
              </a:rPr>
              <a:t>Should we do a stability check of our method? Probably! For the sake of lecture time, we will proceed with this approach.</a:t>
            </a:r>
            <a:endParaRPr sz="1100">
              <a:solidFill>
                <a:schemeClr val="dk1"/>
              </a:solidFill>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Yield rates have a different pattern</a:t>
            </a:r>
            <a:endParaRPr>
              <a:solidFill>
                <a:schemeClr val="accent3"/>
              </a:solidFill>
            </a:endParaRPr>
          </a:p>
          <a:p>
            <a:pPr indent="0" lvl="0" marL="0" rtl="0" algn="l">
              <a:spcBef>
                <a:spcPts val="0"/>
              </a:spcBef>
              <a:spcAft>
                <a:spcPts val="0"/>
              </a:spcAft>
              <a:buNone/>
            </a:pPr>
            <a:r>
              <a:t/>
            </a:r>
            <a:endParaRPr/>
          </a:p>
        </p:txBody>
      </p:sp>
      <p:sp>
        <p:nvSpPr>
          <p:cNvPr id="262" name="Google Shape;262;p4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What's going on here? </a:t>
            </a:r>
            <a:endParaRPr/>
          </a:p>
        </p:txBody>
      </p:sp>
      <p:sp>
        <p:nvSpPr>
          <p:cNvPr id="263" name="Google Shape;263;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64" name="Google Shape;264;p40"/>
          <p:cNvPicPr preferRelativeResize="0"/>
          <p:nvPr/>
        </p:nvPicPr>
        <p:blipFill>
          <a:blip r:embed="rId3">
            <a:alphaModFix/>
          </a:blip>
          <a:stretch>
            <a:fillRect/>
          </a:stretch>
        </p:blipFill>
        <p:spPr>
          <a:xfrm>
            <a:off x="232825" y="1249942"/>
            <a:ext cx="2650350" cy="1938708"/>
          </a:xfrm>
          <a:prstGeom prst="rect">
            <a:avLst/>
          </a:prstGeom>
          <a:noFill/>
          <a:ln>
            <a:noFill/>
          </a:ln>
        </p:spPr>
      </p:pic>
      <p:sp>
        <p:nvSpPr>
          <p:cNvPr id="265" name="Google Shape;265;p40"/>
          <p:cNvSpPr txBox="1"/>
          <p:nvPr/>
        </p:nvSpPr>
        <p:spPr>
          <a:xfrm>
            <a:off x="169325" y="3445450"/>
            <a:ext cx="7937400" cy="15699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600">
                <a:solidFill>
                  <a:schemeClr val="dk1"/>
                </a:solidFill>
                <a:latin typeface="Roboto Light"/>
                <a:ea typeface="Roboto Light"/>
                <a:cs typeface="Roboto Light"/>
                <a:sym typeface="Roboto Light"/>
              </a:rPr>
              <a:t>Attending college is expensive!</a:t>
            </a:r>
            <a:endParaRPr sz="1600">
              <a:solidFill>
                <a:schemeClr val="dk1"/>
              </a:solidFill>
              <a:latin typeface="Roboto Light"/>
              <a:ea typeface="Roboto Light"/>
              <a:cs typeface="Roboto Light"/>
              <a:sym typeface="Roboto Light"/>
            </a:endParaRPr>
          </a:p>
          <a:p>
            <a:pPr indent="0" lvl="0" marL="0" rtl="0" algn="l">
              <a:spcBef>
                <a:spcPts val="600"/>
              </a:spcBef>
              <a:spcAft>
                <a:spcPts val="0"/>
              </a:spcAft>
              <a:buNone/>
            </a:pPr>
            <a:r>
              <a:t/>
            </a:r>
            <a:endParaRPr sz="1600">
              <a:solidFill>
                <a:schemeClr val="dk1"/>
              </a:solidFill>
              <a:latin typeface="Roboto Light"/>
              <a:ea typeface="Roboto Light"/>
              <a:cs typeface="Roboto Light"/>
              <a:sym typeface="Roboto Light"/>
            </a:endParaRPr>
          </a:p>
          <a:p>
            <a:pPr indent="0" lvl="0" marL="0" rtl="0" algn="l">
              <a:spcBef>
                <a:spcPts val="600"/>
              </a:spcBef>
              <a:spcAft>
                <a:spcPts val="0"/>
              </a:spcAft>
              <a:buNone/>
            </a:pPr>
            <a:r>
              <a:rPr lang="en" sz="1600">
                <a:solidFill>
                  <a:schemeClr val="dk1"/>
                </a:solidFill>
                <a:latin typeface="Roboto Light"/>
                <a:ea typeface="Roboto Light"/>
                <a:cs typeface="Roboto Light"/>
                <a:sym typeface="Roboto Light"/>
              </a:rPr>
              <a:t>Maybe Berkeley knows that yield rates are lower at high FRL schools, so they admit more students from those schools to compensate?</a:t>
            </a:r>
            <a:endParaRPr sz="1600">
              <a:solidFill>
                <a:schemeClr val="dk1"/>
              </a:solidFill>
              <a:latin typeface="Roboto Light"/>
              <a:ea typeface="Roboto Light"/>
              <a:cs typeface="Roboto Light"/>
              <a:sym typeface="Roboto Light"/>
            </a:endParaRPr>
          </a:p>
          <a:p>
            <a:pPr indent="0" lvl="0" marL="0" rtl="0" algn="l">
              <a:spcBef>
                <a:spcPts val="0"/>
              </a:spcBef>
              <a:spcAft>
                <a:spcPts val="0"/>
              </a:spcAft>
              <a:buNone/>
            </a:pPr>
            <a:r>
              <a:t/>
            </a:r>
            <a:endParaRPr sz="1600">
              <a:solidFill>
                <a:schemeClr val="dk1"/>
              </a:solidFill>
              <a:latin typeface="Roboto Light"/>
              <a:ea typeface="Roboto Light"/>
              <a:cs typeface="Roboto Light"/>
              <a:sym typeface="Roboto Light"/>
            </a:endParaRPr>
          </a:p>
        </p:txBody>
      </p:sp>
      <p:pic>
        <p:nvPicPr>
          <p:cNvPr id="266" name="Google Shape;266;p40"/>
          <p:cNvPicPr preferRelativeResize="0"/>
          <p:nvPr/>
        </p:nvPicPr>
        <p:blipFill>
          <a:blip r:embed="rId4">
            <a:alphaModFix/>
          </a:blip>
          <a:stretch>
            <a:fillRect/>
          </a:stretch>
        </p:blipFill>
        <p:spPr>
          <a:xfrm>
            <a:off x="3196750" y="1145425"/>
            <a:ext cx="2694050" cy="2043225"/>
          </a:xfrm>
          <a:prstGeom prst="rect">
            <a:avLst/>
          </a:prstGeom>
          <a:noFill/>
          <a:ln>
            <a:noFill/>
          </a:ln>
        </p:spPr>
      </p:pic>
      <p:pic>
        <p:nvPicPr>
          <p:cNvPr id="267" name="Google Shape;267;p40"/>
          <p:cNvPicPr preferRelativeResize="0"/>
          <p:nvPr/>
        </p:nvPicPr>
        <p:blipFill>
          <a:blip r:embed="rId5">
            <a:alphaModFix/>
          </a:blip>
          <a:stretch>
            <a:fillRect/>
          </a:stretch>
        </p:blipFill>
        <p:spPr>
          <a:xfrm>
            <a:off x="6081801" y="1106038"/>
            <a:ext cx="2780975" cy="21219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Bringing in an additional variable</a:t>
            </a:r>
            <a:endParaRPr/>
          </a:p>
        </p:txBody>
      </p:sp>
      <p:sp>
        <p:nvSpPr>
          <p:cNvPr id="273" name="Google Shape;273;p41"/>
          <p:cNvSpPr txBox="1"/>
          <p:nvPr>
            <p:ph idx="1" type="body"/>
          </p:nvPr>
        </p:nvSpPr>
        <p:spPr>
          <a:xfrm>
            <a:off x="107050" y="402200"/>
            <a:ext cx="8520600" cy="819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Holding FRL status constant, perhaps students who live closer to Berkeley are more likely to attend than students who live far away.</a:t>
            </a:r>
            <a:endParaRPr/>
          </a:p>
          <a:p>
            <a:pPr indent="0" lvl="0" marL="0" rtl="0" algn="l">
              <a:spcBef>
                <a:spcPts val="600"/>
              </a:spcBef>
              <a:spcAft>
                <a:spcPts val="0"/>
              </a:spcAft>
              <a:buNone/>
            </a:pPr>
            <a:r>
              <a:t/>
            </a:r>
            <a:endParaRPr/>
          </a:p>
        </p:txBody>
      </p:sp>
      <p:sp>
        <p:nvSpPr>
          <p:cNvPr id="274" name="Google Shape;274;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75" name="Google Shape;275;p41"/>
          <p:cNvPicPr preferRelativeResize="0"/>
          <p:nvPr/>
        </p:nvPicPr>
        <p:blipFill>
          <a:blip r:embed="rId3">
            <a:alphaModFix/>
          </a:blip>
          <a:stretch>
            <a:fillRect/>
          </a:stretch>
        </p:blipFill>
        <p:spPr>
          <a:xfrm>
            <a:off x="5191075" y="1221850"/>
            <a:ext cx="3721126" cy="3441375"/>
          </a:xfrm>
          <a:prstGeom prst="rect">
            <a:avLst/>
          </a:prstGeom>
          <a:noFill/>
          <a:ln>
            <a:noFill/>
          </a:ln>
        </p:spPr>
      </p:pic>
      <p:sp>
        <p:nvSpPr>
          <p:cNvPr id="276" name="Google Shape;276;p41"/>
          <p:cNvSpPr txBox="1"/>
          <p:nvPr/>
        </p:nvSpPr>
        <p:spPr>
          <a:xfrm>
            <a:off x="189725" y="1502025"/>
            <a:ext cx="5393100" cy="29400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Clr>
                <a:schemeClr val="dk1"/>
              </a:buClr>
              <a:buSzPts val="1100"/>
              <a:buFont typeface="Arial"/>
              <a:buNone/>
            </a:pPr>
            <a:r>
              <a:rPr lang="en" sz="1600">
                <a:solidFill>
                  <a:schemeClr val="dk1"/>
                </a:solidFill>
                <a:latin typeface="Roboto Light"/>
                <a:ea typeface="Roboto Light"/>
                <a:cs typeface="Roboto Light"/>
                <a:sym typeface="Roboto Light"/>
              </a:rPr>
              <a:t>How readable is this 3D plot?</a:t>
            </a:r>
            <a:endParaRPr sz="1600">
              <a:solidFill>
                <a:schemeClr val="dk1"/>
              </a:solidFill>
              <a:latin typeface="Roboto Light"/>
              <a:ea typeface="Roboto Light"/>
              <a:cs typeface="Roboto Light"/>
              <a:sym typeface="Roboto Light"/>
            </a:endParaRPr>
          </a:p>
          <a:p>
            <a:pPr indent="0" lvl="0" marL="0" rtl="0" algn="l">
              <a:spcBef>
                <a:spcPts val="600"/>
              </a:spcBef>
              <a:spcAft>
                <a:spcPts val="0"/>
              </a:spcAft>
              <a:buClr>
                <a:schemeClr val="dk1"/>
              </a:buClr>
              <a:buSzPts val="1100"/>
              <a:buFont typeface="Arial"/>
              <a:buNone/>
            </a:pPr>
            <a:r>
              <a:t/>
            </a:r>
            <a:endParaRPr sz="1600">
              <a:solidFill>
                <a:schemeClr val="dk1"/>
              </a:solidFill>
              <a:latin typeface="Roboto Light"/>
              <a:ea typeface="Roboto Light"/>
              <a:cs typeface="Roboto Light"/>
              <a:sym typeface="Roboto Light"/>
            </a:endParaRPr>
          </a:p>
          <a:p>
            <a:pPr indent="0" lvl="0" marL="0" rtl="0" algn="l">
              <a:spcBef>
                <a:spcPts val="600"/>
              </a:spcBef>
              <a:spcAft>
                <a:spcPts val="0"/>
              </a:spcAft>
              <a:buClr>
                <a:schemeClr val="dk1"/>
              </a:buClr>
              <a:buSzPts val="1100"/>
              <a:buFont typeface="Arial"/>
              <a:buNone/>
            </a:pPr>
            <a:r>
              <a:rPr lang="en" sz="1600">
                <a:solidFill>
                  <a:schemeClr val="dk1"/>
                </a:solidFill>
                <a:latin typeface="Roboto Light"/>
                <a:ea typeface="Roboto Light"/>
                <a:cs typeface="Roboto Light"/>
                <a:sym typeface="Roboto Light"/>
              </a:rPr>
              <a:t>Our data has three dimensions, but plots should be 2D.</a:t>
            </a:r>
            <a:endParaRPr sz="1600">
              <a:solidFill>
                <a:schemeClr val="dk1"/>
              </a:solidFill>
              <a:latin typeface="Roboto Light"/>
              <a:ea typeface="Roboto Light"/>
              <a:cs typeface="Roboto Light"/>
              <a:sym typeface="Roboto Light"/>
            </a:endParaRPr>
          </a:p>
          <a:p>
            <a:pPr indent="0" lvl="0" marL="0" rtl="0" algn="l">
              <a:spcBef>
                <a:spcPts val="600"/>
              </a:spcBef>
              <a:spcAft>
                <a:spcPts val="0"/>
              </a:spcAft>
              <a:buClr>
                <a:schemeClr val="dk1"/>
              </a:buClr>
              <a:buSzPts val="1100"/>
              <a:buFont typeface="Arial"/>
              <a:buNone/>
            </a:pPr>
            <a:r>
              <a:t/>
            </a:r>
            <a:endParaRPr sz="1600">
              <a:solidFill>
                <a:schemeClr val="dk1"/>
              </a:solidFill>
              <a:latin typeface="Roboto Light"/>
              <a:ea typeface="Roboto Light"/>
              <a:cs typeface="Roboto Light"/>
              <a:sym typeface="Roboto Light"/>
            </a:endParaRPr>
          </a:p>
          <a:p>
            <a:pPr indent="0" lvl="0" marL="0" rtl="0" algn="l">
              <a:spcBef>
                <a:spcPts val="600"/>
              </a:spcBef>
              <a:spcAft>
                <a:spcPts val="0"/>
              </a:spcAft>
              <a:buClr>
                <a:schemeClr val="dk1"/>
              </a:buClr>
              <a:buSzPts val="1100"/>
              <a:buFont typeface="Arial"/>
              <a:buNone/>
            </a:pPr>
            <a:r>
              <a:rPr lang="en" sz="1600">
                <a:solidFill>
                  <a:schemeClr val="dk1"/>
                </a:solidFill>
                <a:latin typeface="Roboto Light"/>
                <a:ea typeface="Roboto Light"/>
                <a:cs typeface="Roboto Light"/>
                <a:sym typeface="Roboto Light"/>
              </a:rPr>
              <a:t>Are we stuck?</a:t>
            </a:r>
            <a:endParaRPr sz="1600">
              <a:solidFill>
                <a:schemeClr val="dk1"/>
              </a:solidFill>
              <a:latin typeface="Roboto Light"/>
              <a:ea typeface="Roboto Light"/>
              <a:cs typeface="Roboto Light"/>
              <a:sym typeface="Roboto Light"/>
            </a:endParaRPr>
          </a:p>
          <a:p>
            <a:pPr indent="0" lvl="0" marL="0" rtl="0" algn="l">
              <a:spcBef>
                <a:spcPts val="600"/>
              </a:spcBef>
              <a:spcAft>
                <a:spcPts val="0"/>
              </a:spcAft>
              <a:buClr>
                <a:schemeClr val="dk1"/>
              </a:buClr>
              <a:buSzPts val="1100"/>
              <a:buFont typeface="Arial"/>
              <a:buNone/>
            </a:pPr>
            <a:r>
              <a:t/>
            </a:r>
            <a:endParaRPr sz="1600">
              <a:solidFill>
                <a:schemeClr val="dk1"/>
              </a:solidFill>
              <a:latin typeface="Roboto Light"/>
              <a:ea typeface="Roboto Light"/>
              <a:cs typeface="Roboto Light"/>
              <a:sym typeface="Roboto Light"/>
            </a:endParaRPr>
          </a:p>
          <a:p>
            <a:pPr indent="0" lvl="0" marL="0" rtl="0" algn="l">
              <a:spcBef>
                <a:spcPts val="600"/>
              </a:spcBef>
              <a:spcAft>
                <a:spcPts val="0"/>
              </a:spcAft>
              <a:buClr>
                <a:schemeClr val="dk1"/>
              </a:buClr>
              <a:buSzPts val="1100"/>
              <a:buFont typeface="Arial"/>
              <a:buNone/>
            </a:pPr>
            <a:r>
              <a:rPr lang="en" sz="1600">
                <a:solidFill>
                  <a:schemeClr val="dk1"/>
                </a:solidFill>
                <a:latin typeface="Roboto Light"/>
                <a:ea typeface="Roboto Light"/>
                <a:cs typeface="Roboto Light"/>
                <a:sym typeface="Roboto Light"/>
              </a:rPr>
              <a:t>We have other dimensions to work with! </a:t>
            </a:r>
            <a:br>
              <a:rPr lang="en" sz="1600">
                <a:solidFill>
                  <a:schemeClr val="dk1"/>
                </a:solidFill>
                <a:latin typeface="Roboto Light"/>
                <a:ea typeface="Roboto Light"/>
                <a:cs typeface="Roboto Light"/>
                <a:sym typeface="Roboto Light"/>
              </a:rPr>
            </a:br>
            <a:endParaRPr sz="1600">
              <a:solidFill>
                <a:schemeClr val="dk1"/>
              </a:solidFill>
              <a:latin typeface="Roboto Light"/>
              <a:ea typeface="Roboto Light"/>
              <a:cs typeface="Roboto Light"/>
              <a:sym typeface="Roboto Light"/>
            </a:endParaRPr>
          </a:p>
          <a:p>
            <a:pPr indent="0" lvl="0" marL="0" rtl="0" algn="l">
              <a:spcBef>
                <a:spcPts val="600"/>
              </a:spcBef>
              <a:spcAft>
                <a:spcPts val="0"/>
              </a:spcAft>
              <a:buClr>
                <a:schemeClr val="dk1"/>
              </a:buClr>
              <a:buSzPts val="1100"/>
              <a:buFont typeface="Arial"/>
              <a:buNone/>
            </a:pPr>
            <a:r>
              <a:rPr lang="en" sz="1600">
                <a:solidFill>
                  <a:schemeClr val="dk1"/>
                </a:solidFill>
                <a:latin typeface="Roboto Light"/>
                <a:ea typeface="Roboto Light"/>
                <a:cs typeface="Roboto Light"/>
                <a:sym typeface="Roboto Light"/>
              </a:rPr>
              <a:t>Color, size, shape, linetype, shading, ... </a:t>
            </a:r>
            <a:endParaRPr sz="1600">
              <a:solidFill>
                <a:schemeClr val="dk1"/>
              </a:solidFill>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Adding a new variable with color</a:t>
            </a:r>
            <a:endParaRPr/>
          </a:p>
        </p:txBody>
      </p:sp>
      <p:sp>
        <p:nvSpPr>
          <p:cNvPr id="282" name="Google Shape;282;p42"/>
          <p:cNvSpPr txBox="1"/>
          <p:nvPr>
            <p:ph idx="1" type="body"/>
          </p:nvPr>
        </p:nvSpPr>
        <p:spPr>
          <a:xfrm>
            <a:off x="95994" y="36905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would you describe the patterns in the right plot to someone else?</a:t>
            </a:r>
            <a:endParaRPr/>
          </a:p>
        </p:txBody>
      </p:sp>
      <p:sp>
        <p:nvSpPr>
          <p:cNvPr id="283" name="Google Shape;283;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84" name="Google Shape;284;p42"/>
          <p:cNvPicPr preferRelativeResize="0"/>
          <p:nvPr/>
        </p:nvPicPr>
        <p:blipFill>
          <a:blip r:embed="rId3">
            <a:alphaModFix/>
          </a:blip>
          <a:stretch>
            <a:fillRect/>
          </a:stretch>
        </p:blipFill>
        <p:spPr>
          <a:xfrm>
            <a:off x="4738798" y="1397600"/>
            <a:ext cx="3915976" cy="2913599"/>
          </a:xfrm>
          <a:prstGeom prst="rect">
            <a:avLst/>
          </a:prstGeom>
          <a:noFill/>
          <a:ln>
            <a:noFill/>
          </a:ln>
        </p:spPr>
      </p:pic>
      <p:pic>
        <p:nvPicPr>
          <p:cNvPr id="285" name="Google Shape;285;p42"/>
          <p:cNvPicPr preferRelativeResize="0"/>
          <p:nvPr/>
        </p:nvPicPr>
        <p:blipFill>
          <a:blip r:embed="rId4">
            <a:alphaModFix/>
          </a:blip>
          <a:stretch>
            <a:fillRect/>
          </a:stretch>
        </p:blipFill>
        <p:spPr>
          <a:xfrm>
            <a:off x="295850" y="1322350"/>
            <a:ext cx="3231826" cy="2988850"/>
          </a:xfrm>
          <a:prstGeom prst="rect">
            <a:avLst/>
          </a:prstGeom>
          <a:noFill/>
          <a:ln>
            <a:noFill/>
          </a:ln>
        </p:spPr>
      </p:pic>
      <p:sp>
        <p:nvSpPr>
          <p:cNvPr id="286" name="Google Shape;286;p42"/>
          <p:cNvSpPr/>
          <p:nvPr/>
        </p:nvSpPr>
        <p:spPr>
          <a:xfrm>
            <a:off x="3822975" y="2497925"/>
            <a:ext cx="548700" cy="320400"/>
          </a:xfrm>
          <a:prstGeom prst="righ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87" name="Google Shape;287;p42"/>
          <p:cNvSpPr txBox="1"/>
          <p:nvPr/>
        </p:nvSpPr>
        <p:spPr>
          <a:xfrm>
            <a:off x="3442125" y="2066825"/>
            <a:ext cx="1226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Roboto Light"/>
                <a:ea typeface="Roboto Light"/>
                <a:cs typeface="Roboto Light"/>
                <a:sym typeface="Roboto Light"/>
              </a:rPr>
              <a:t>Same data!</a:t>
            </a:r>
            <a:endParaRPr sz="1600">
              <a:solidFill>
                <a:schemeClr val="dk1"/>
              </a:solidFill>
              <a:latin typeface="Roboto Light"/>
              <a:ea typeface="Roboto Light"/>
              <a:cs typeface="Roboto Light"/>
              <a:sym typeface="Roboto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1" name="Shape 291"/>
        <p:cNvGrpSpPr/>
        <p:nvPr/>
      </p:nvGrpSpPr>
      <p:grpSpPr>
        <a:xfrm>
          <a:off x="0" y="0"/>
          <a:ext cx="0" cy="0"/>
          <a:chOff x="0" y="0"/>
          <a:chExt cx="0" cy="0"/>
        </a:xfrm>
      </p:grpSpPr>
      <p:sp>
        <p:nvSpPr>
          <p:cNvPr id="292" name="Google Shape;292;p43"/>
          <p:cNvSpPr/>
          <p:nvPr/>
        </p:nvSpPr>
        <p:spPr>
          <a:xfrm rot="5400000">
            <a:off x="7365228" y="0"/>
            <a:ext cx="1778700" cy="1778700"/>
          </a:xfrm>
          <a:prstGeom prst="diagStripe">
            <a:avLst>
              <a:gd fmla="val 50000" name="adj"/>
            </a:avLst>
          </a:prstGeom>
          <a:solidFill>
            <a:srgbClr val="EDFA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93" name="Google Shape;293;p43"/>
          <p:cNvSpPr txBox="1"/>
          <p:nvPr/>
        </p:nvSpPr>
        <p:spPr>
          <a:xfrm rot="2700000">
            <a:off x="7215273" y="386217"/>
            <a:ext cx="2501461" cy="583787"/>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98038"/>
                </a:solidFill>
                <a:latin typeface="Inter"/>
                <a:ea typeface="Inter"/>
                <a:cs typeface="Inter"/>
                <a:sym typeface="Inter"/>
              </a:rPr>
              <a:t>Do not edit</a:t>
            </a:r>
            <a:endParaRPr b="1" sz="1200">
              <a:solidFill>
                <a:srgbClr val="198038"/>
              </a:solidFill>
              <a:latin typeface="Inter"/>
              <a:ea typeface="Inter"/>
              <a:cs typeface="Inter"/>
              <a:sym typeface="Inter"/>
            </a:endParaRPr>
          </a:p>
          <a:p>
            <a:pPr indent="0" lvl="0" marL="0" rtl="0" algn="ctr">
              <a:spcBef>
                <a:spcPts val="0"/>
              </a:spcBef>
              <a:spcAft>
                <a:spcPts val="0"/>
              </a:spcAft>
              <a:buNone/>
            </a:pPr>
            <a:r>
              <a:rPr lang="en" sz="1200" u="sng">
                <a:solidFill>
                  <a:srgbClr val="198038"/>
                </a:solidFill>
                <a:latin typeface="Inter Light"/>
                <a:ea typeface="Inter Light"/>
                <a:cs typeface="Inter Light"/>
                <a:sym typeface="Inter Light"/>
                <a:hlinkClick r:id="rId3">
                  <a:extLst>
                    <a:ext uri="{A12FA001-AC4F-418D-AE19-62706E023703}">
                      <ahyp:hlinkClr val="tx"/>
                    </a:ext>
                  </a:extLst>
                </a:hlinkClick>
              </a:rPr>
              <a:t>How to change the design</a:t>
            </a:r>
            <a:endParaRPr sz="1200">
              <a:solidFill>
                <a:srgbClr val="198038"/>
              </a:solidFill>
              <a:latin typeface="Inter Light"/>
              <a:ea typeface="Inter Light"/>
              <a:cs typeface="Inter Light"/>
              <a:sym typeface="Inter Light"/>
            </a:endParaRPr>
          </a:p>
        </p:txBody>
      </p:sp>
      <p:sp>
        <p:nvSpPr>
          <p:cNvPr descr="title-id" id="294" name="Google Shape;294;p43"/>
          <p:cNvSpPr txBox="1"/>
          <p:nvPr/>
        </p:nvSpPr>
        <p:spPr>
          <a:xfrm>
            <a:off x="2334638" y="1320628"/>
            <a:ext cx="6364800" cy="175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00">
                <a:solidFill>
                  <a:srgbClr val="5B5B5B"/>
                </a:solidFill>
                <a:latin typeface="Inter"/>
                <a:ea typeface="Inter"/>
                <a:cs typeface="Inter"/>
                <a:sym typeface="Inter"/>
              </a:rPr>
              <a:t>How would you describe the patterns in this plot to someone else?</a:t>
            </a:r>
            <a:endParaRPr b="1" sz="3600">
              <a:solidFill>
                <a:srgbClr val="5B5B5B"/>
              </a:solidFill>
              <a:latin typeface="Inter"/>
              <a:ea typeface="Inter"/>
              <a:cs typeface="Inter"/>
              <a:sym typeface="Inter"/>
            </a:endParaRPr>
          </a:p>
        </p:txBody>
      </p:sp>
      <p:sp>
        <p:nvSpPr>
          <p:cNvPr id="295" name="Google Shape;295;p43"/>
          <p:cNvSpPr/>
          <p:nvPr/>
        </p:nvSpPr>
        <p:spPr>
          <a:xfrm>
            <a:off x="0" y="4365024"/>
            <a:ext cx="9144000" cy="778500"/>
          </a:xfrm>
          <a:prstGeom prst="rect">
            <a:avLst/>
          </a:prstGeom>
          <a:solidFill>
            <a:srgbClr val="19803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96" name="Google Shape;296;p43"/>
          <p:cNvSpPr txBox="1"/>
          <p:nvPr/>
        </p:nvSpPr>
        <p:spPr>
          <a:xfrm>
            <a:off x="555866" y="4365024"/>
            <a:ext cx="6948300" cy="77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FFFFFF"/>
                </a:solidFill>
                <a:latin typeface="Inter Light"/>
                <a:ea typeface="Inter Light"/>
                <a:cs typeface="Inter Light"/>
                <a:sym typeface="Inter Light"/>
              </a:rPr>
              <a:t>Presenting with animations, GIFs or speaker notes? Enable our </a:t>
            </a:r>
            <a:r>
              <a:rPr lang="en" sz="1200" u="sng">
                <a:solidFill>
                  <a:srgbClr val="FFFFFF"/>
                </a:solidFill>
                <a:latin typeface="Inter Light"/>
                <a:ea typeface="Inter Light"/>
                <a:cs typeface="Inter Light"/>
                <a:sym typeface="Inter Light"/>
                <a:hlinkClick r:id="rId4">
                  <a:extLst>
                    <a:ext uri="{A12FA001-AC4F-418D-AE19-62706E023703}">
                      <ahyp:hlinkClr val="tx"/>
                    </a:ext>
                  </a:extLst>
                </a:hlinkClick>
              </a:rPr>
              <a:t>Chrome extension</a:t>
            </a:r>
            <a:endParaRPr sz="1200">
              <a:solidFill>
                <a:srgbClr val="FFFFFF"/>
              </a:solidFill>
              <a:latin typeface="Inter Light"/>
              <a:ea typeface="Inter Light"/>
              <a:cs typeface="Inter Light"/>
              <a:sym typeface="Inter Light"/>
            </a:endParaRPr>
          </a:p>
        </p:txBody>
      </p:sp>
      <p:pic>
        <p:nvPicPr>
          <p:cNvPr id="297" name="Google Shape;297;p43"/>
          <p:cNvPicPr preferRelativeResize="0"/>
          <p:nvPr/>
        </p:nvPicPr>
        <p:blipFill>
          <a:blip r:embed="rId5">
            <a:alphaModFix/>
          </a:blip>
          <a:stretch>
            <a:fillRect/>
          </a:stretch>
        </p:blipFill>
        <p:spPr>
          <a:xfrm>
            <a:off x="222347" y="4643089"/>
            <a:ext cx="222347" cy="222347"/>
          </a:xfrm>
          <a:prstGeom prst="rect">
            <a:avLst/>
          </a:prstGeom>
          <a:noFill/>
          <a:ln>
            <a:noFill/>
          </a:ln>
        </p:spPr>
      </p:pic>
      <p:pic>
        <p:nvPicPr>
          <p:cNvPr descr="logo-id" id="298" name="Google Shape;298;p43">
            <a:hlinkClick r:id="rId6"/>
          </p:cNvPr>
          <p:cNvPicPr preferRelativeResize="0"/>
          <p:nvPr/>
        </p:nvPicPr>
        <p:blipFill>
          <a:blip r:embed="rId7">
            <a:alphaModFix/>
          </a:blip>
          <a:stretch>
            <a:fillRect/>
          </a:stretch>
        </p:blipFill>
        <p:spPr>
          <a:xfrm>
            <a:off x="7921094" y="4476329"/>
            <a:ext cx="1111733" cy="555866"/>
          </a:xfrm>
          <a:prstGeom prst="rect">
            <a:avLst/>
          </a:prstGeom>
          <a:noFill/>
          <a:ln>
            <a:noFill/>
          </a:ln>
        </p:spPr>
      </p:pic>
      <p:pic>
        <p:nvPicPr>
          <p:cNvPr descr="poll-type-id" id="299" name="Google Shape;299;p43">
            <a:hlinkClick r:id="rId8"/>
          </p:cNvPr>
          <p:cNvPicPr preferRelativeResize="0"/>
          <p:nvPr/>
        </p:nvPicPr>
        <p:blipFill>
          <a:blip r:embed="rId9">
            <a:alphaModFix/>
          </a:blip>
          <a:stretch>
            <a:fillRect/>
          </a:stretch>
        </p:blipFill>
        <p:spPr>
          <a:xfrm>
            <a:off x="333520" y="1307027"/>
            <a:ext cx="1778772" cy="177877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Adding a new variable with color</a:t>
            </a:r>
            <a:endParaRPr/>
          </a:p>
        </p:txBody>
      </p:sp>
      <p:sp>
        <p:nvSpPr>
          <p:cNvPr id="305" name="Google Shape;305;p4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Anything unexpected in this plot?</a:t>
            </a:r>
            <a:endParaRPr/>
          </a:p>
        </p:txBody>
      </p:sp>
      <p:sp>
        <p:nvSpPr>
          <p:cNvPr id="306" name="Google Shape;306;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07" name="Google Shape;307;p44"/>
          <p:cNvPicPr preferRelativeResize="0"/>
          <p:nvPr/>
        </p:nvPicPr>
        <p:blipFill>
          <a:blip r:embed="rId3">
            <a:alphaModFix/>
          </a:blip>
          <a:stretch>
            <a:fillRect/>
          </a:stretch>
        </p:blipFill>
        <p:spPr>
          <a:xfrm>
            <a:off x="559398" y="1070725"/>
            <a:ext cx="3915976" cy="2913599"/>
          </a:xfrm>
          <a:prstGeom prst="rect">
            <a:avLst/>
          </a:prstGeom>
          <a:noFill/>
          <a:ln>
            <a:noFill/>
          </a:ln>
        </p:spPr>
      </p:pic>
      <p:sp>
        <p:nvSpPr>
          <p:cNvPr id="308" name="Google Shape;308;p44"/>
          <p:cNvSpPr txBox="1"/>
          <p:nvPr/>
        </p:nvSpPr>
        <p:spPr>
          <a:xfrm>
            <a:off x="591225" y="3984325"/>
            <a:ext cx="3469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Roboto Light"/>
                <a:ea typeface="Roboto Light"/>
                <a:cs typeface="Roboto Light"/>
                <a:sym typeface="Roboto Light"/>
              </a:rPr>
              <a:t>Why is the 25-50 line at the bottom?</a:t>
            </a:r>
            <a:endParaRPr sz="1600">
              <a:solidFill>
                <a:schemeClr val="dk1"/>
              </a:solidFill>
              <a:latin typeface="Roboto Light"/>
              <a:ea typeface="Roboto Light"/>
              <a:cs typeface="Roboto Light"/>
              <a:sym typeface="Roboto Light"/>
            </a:endParaRPr>
          </a:p>
        </p:txBody>
      </p:sp>
      <p:pic>
        <p:nvPicPr>
          <p:cNvPr id="309" name="Google Shape;309;p44"/>
          <p:cNvPicPr preferRelativeResize="0"/>
          <p:nvPr/>
        </p:nvPicPr>
        <p:blipFill>
          <a:blip r:embed="rId4">
            <a:alphaModFix/>
          </a:blip>
          <a:stretch>
            <a:fillRect/>
          </a:stretch>
        </p:blipFill>
        <p:spPr>
          <a:xfrm>
            <a:off x="5011450" y="1020988"/>
            <a:ext cx="3616199" cy="2740899"/>
          </a:xfrm>
          <a:prstGeom prst="rect">
            <a:avLst/>
          </a:prstGeom>
          <a:noFill/>
          <a:ln>
            <a:noFill/>
          </a:ln>
        </p:spPr>
      </p:pic>
      <p:grpSp>
        <p:nvGrpSpPr>
          <p:cNvPr id="310" name="Google Shape;310;p44"/>
          <p:cNvGrpSpPr/>
          <p:nvPr/>
        </p:nvGrpSpPr>
        <p:grpSpPr>
          <a:xfrm>
            <a:off x="4787975" y="2851525"/>
            <a:ext cx="4157100" cy="1974238"/>
            <a:chOff x="4787975" y="2851525"/>
            <a:chExt cx="4157100" cy="1974238"/>
          </a:xfrm>
        </p:grpSpPr>
        <p:sp>
          <p:nvSpPr>
            <p:cNvPr id="311" name="Google Shape;311;p44"/>
            <p:cNvSpPr/>
            <p:nvPr/>
          </p:nvSpPr>
          <p:spPr>
            <a:xfrm>
              <a:off x="6083150" y="2851525"/>
              <a:ext cx="1381200" cy="712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312" name="Google Shape;312;p44"/>
            <p:cNvSpPr txBox="1"/>
            <p:nvPr/>
          </p:nvSpPr>
          <p:spPr>
            <a:xfrm>
              <a:off x="4787975" y="3902363"/>
              <a:ext cx="41571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dk1"/>
                  </a:solidFill>
                  <a:latin typeface="Roboto Light"/>
                  <a:ea typeface="Roboto Light"/>
                  <a:cs typeface="Roboto Light"/>
                  <a:sym typeface="Roboto Light"/>
                </a:rPr>
                <a:t>Hypothesis: Something to do with Central Valley schools (e.g., Bakersfield)? Perhaps more customary to not apply to Berkeley?</a:t>
              </a:r>
              <a:endParaRPr sz="1600">
                <a:solidFill>
                  <a:schemeClr val="dk1"/>
                </a:solidFill>
                <a:latin typeface="Roboto Light"/>
                <a:ea typeface="Roboto Light"/>
                <a:cs typeface="Roboto Light"/>
                <a:sym typeface="Roboto Ligh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45"/>
          <p:cNvSpPr/>
          <p:nvPr/>
        </p:nvSpPr>
        <p:spPr>
          <a:xfrm rot="5400000">
            <a:off x="7365228" y="0"/>
            <a:ext cx="1778700" cy="1778700"/>
          </a:xfrm>
          <a:prstGeom prst="diagStripe">
            <a:avLst>
              <a:gd fmla="val 50000" name="adj"/>
            </a:avLst>
          </a:prstGeom>
          <a:solidFill>
            <a:srgbClr val="EDFA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318" name="Google Shape;318;p45"/>
          <p:cNvSpPr txBox="1"/>
          <p:nvPr/>
        </p:nvSpPr>
        <p:spPr>
          <a:xfrm rot="2700000">
            <a:off x="7215273" y="386217"/>
            <a:ext cx="2501461" cy="583787"/>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98038"/>
                </a:solidFill>
                <a:latin typeface="Inter"/>
                <a:ea typeface="Inter"/>
                <a:cs typeface="Inter"/>
                <a:sym typeface="Inter"/>
              </a:rPr>
              <a:t>Do not edit</a:t>
            </a:r>
            <a:endParaRPr b="1" sz="1200">
              <a:solidFill>
                <a:srgbClr val="198038"/>
              </a:solidFill>
              <a:latin typeface="Inter"/>
              <a:ea typeface="Inter"/>
              <a:cs typeface="Inter"/>
              <a:sym typeface="Inter"/>
            </a:endParaRPr>
          </a:p>
          <a:p>
            <a:pPr indent="0" lvl="0" marL="0" rtl="0" algn="ctr">
              <a:spcBef>
                <a:spcPts val="0"/>
              </a:spcBef>
              <a:spcAft>
                <a:spcPts val="0"/>
              </a:spcAft>
              <a:buNone/>
            </a:pPr>
            <a:r>
              <a:rPr lang="en" sz="1200" u="sng">
                <a:solidFill>
                  <a:srgbClr val="198038"/>
                </a:solidFill>
                <a:latin typeface="Inter Light"/>
                <a:ea typeface="Inter Light"/>
                <a:cs typeface="Inter Light"/>
                <a:sym typeface="Inter Light"/>
                <a:hlinkClick r:id="rId3">
                  <a:extLst>
                    <a:ext uri="{A12FA001-AC4F-418D-AE19-62706E023703}">
                      <ahyp:hlinkClr val="tx"/>
                    </a:ext>
                  </a:extLst>
                </a:hlinkClick>
              </a:rPr>
              <a:t>How to change the design</a:t>
            </a:r>
            <a:endParaRPr sz="1200">
              <a:solidFill>
                <a:srgbClr val="198038"/>
              </a:solidFill>
              <a:latin typeface="Inter Light"/>
              <a:ea typeface="Inter Light"/>
              <a:cs typeface="Inter Light"/>
              <a:sym typeface="Inter Light"/>
            </a:endParaRPr>
          </a:p>
        </p:txBody>
      </p:sp>
      <p:sp>
        <p:nvSpPr>
          <p:cNvPr descr="title-id" id="319" name="Google Shape;319;p45"/>
          <p:cNvSpPr txBox="1"/>
          <p:nvPr/>
        </p:nvSpPr>
        <p:spPr>
          <a:xfrm>
            <a:off x="2334638" y="1320628"/>
            <a:ext cx="6364800" cy="175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00">
                <a:solidFill>
                  <a:srgbClr val="5B5B5B"/>
                </a:solidFill>
                <a:latin typeface="Inter"/>
                <a:ea typeface="Inter"/>
                <a:cs typeface="Inter"/>
                <a:sym typeface="Inter"/>
              </a:rPr>
              <a:t>How many rows are in the data used to make this plot? How many columns?</a:t>
            </a:r>
            <a:endParaRPr b="1" sz="3600">
              <a:solidFill>
                <a:srgbClr val="5B5B5B"/>
              </a:solidFill>
              <a:latin typeface="Inter"/>
              <a:ea typeface="Inter"/>
              <a:cs typeface="Inter"/>
              <a:sym typeface="Inter"/>
            </a:endParaRPr>
          </a:p>
        </p:txBody>
      </p:sp>
      <p:sp>
        <p:nvSpPr>
          <p:cNvPr id="320" name="Google Shape;320;p45"/>
          <p:cNvSpPr/>
          <p:nvPr/>
        </p:nvSpPr>
        <p:spPr>
          <a:xfrm>
            <a:off x="0" y="4365024"/>
            <a:ext cx="9144000" cy="778500"/>
          </a:xfrm>
          <a:prstGeom prst="rect">
            <a:avLst/>
          </a:prstGeom>
          <a:solidFill>
            <a:srgbClr val="19803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321" name="Google Shape;321;p45"/>
          <p:cNvSpPr txBox="1"/>
          <p:nvPr/>
        </p:nvSpPr>
        <p:spPr>
          <a:xfrm>
            <a:off x="555866" y="4365024"/>
            <a:ext cx="6948300" cy="77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FFFFFF"/>
                </a:solidFill>
                <a:latin typeface="Inter Light"/>
                <a:ea typeface="Inter Light"/>
                <a:cs typeface="Inter Light"/>
                <a:sym typeface="Inter Light"/>
              </a:rPr>
              <a:t>Presenting with animations, GIFs or speaker notes? Enable our </a:t>
            </a:r>
            <a:r>
              <a:rPr lang="en" sz="1200" u="sng">
                <a:solidFill>
                  <a:srgbClr val="FFFFFF"/>
                </a:solidFill>
                <a:latin typeface="Inter Light"/>
                <a:ea typeface="Inter Light"/>
                <a:cs typeface="Inter Light"/>
                <a:sym typeface="Inter Light"/>
                <a:hlinkClick r:id="rId4">
                  <a:extLst>
                    <a:ext uri="{A12FA001-AC4F-418D-AE19-62706E023703}">
                      <ahyp:hlinkClr val="tx"/>
                    </a:ext>
                  </a:extLst>
                </a:hlinkClick>
              </a:rPr>
              <a:t>Chrome extension</a:t>
            </a:r>
            <a:endParaRPr sz="1200">
              <a:solidFill>
                <a:srgbClr val="FFFFFF"/>
              </a:solidFill>
              <a:latin typeface="Inter Light"/>
              <a:ea typeface="Inter Light"/>
              <a:cs typeface="Inter Light"/>
              <a:sym typeface="Inter Light"/>
            </a:endParaRPr>
          </a:p>
        </p:txBody>
      </p:sp>
      <p:pic>
        <p:nvPicPr>
          <p:cNvPr id="322" name="Google Shape;322;p45"/>
          <p:cNvPicPr preferRelativeResize="0"/>
          <p:nvPr/>
        </p:nvPicPr>
        <p:blipFill>
          <a:blip r:embed="rId5">
            <a:alphaModFix/>
          </a:blip>
          <a:stretch>
            <a:fillRect/>
          </a:stretch>
        </p:blipFill>
        <p:spPr>
          <a:xfrm>
            <a:off x="222347" y="4643089"/>
            <a:ext cx="222347" cy="222347"/>
          </a:xfrm>
          <a:prstGeom prst="rect">
            <a:avLst/>
          </a:prstGeom>
          <a:noFill/>
          <a:ln>
            <a:noFill/>
          </a:ln>
        </p:spPr>
      </p:pic>
      <p:pic>
        <p:nvPicPr>
          <p:cNvPr descr="logo-id" id="323" name="Google Shape;323;p45">
            <a:hlinkClick r:id="rId6"/>
          </p:cNvPr>
          <p:cNvPicPr preferRelativeResize="0"/>
          <p:nvPr/>
        </p:nvPicPr>
        <p:blipFill>
          <a:blip r:embed="rId7">
            <a:alphaModFix/>
          </a:blip>
          <a:stretch>
            <a:fillRect/>
          </a:stretch>
        </p:blipFill>
        <p:spPr>
          <a:xfrm>
            <a:off x="7921094" y="4476329"/>
            <a:ext cx="1111733" cy="555866"/>
          </a:xfrm>
          <a:prstGeom prst="rect">
            <a:avLst/>
          </a:prstGeom>
          <a:noFill/>
          <a:ln>
            <a:noFill/>
          </a:ln>
        </p:spPr>
      </p:pic>
      <p:pic>
        <p:nvPicPr>
          <p:cNvPr descr="poll-type-id" id="324" name="Google Shape;324;p45">
            <a:hlinkClick r:id="rId8"/>
          </p:cNvPr>
          <p:cNvPicPr preferRelativeResize="0"/>
          <p:nvPr/>
        </p:nvPicPr>
        <p:blipFill>
          <a:blip r:embed="rId9">
            <a:alphaModFix/>
          </a:blip>
          <a:stretch>
            <a:fillRect/>
          </a:stretch>
        </p:blipFill>
        <p:spPr>
          <a:xfrm>
            <a:off x="333520" y="1307027"/>
            <a:ext cx="1778772" cy="177877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Tidy Data: Redux</a:t>
            </a:r>
            <a:endParaRPr/>
          </a:p>
        </p:txBody>
      </p:sp>
      <p:sp>
        <p:nvSpPr>
          <p:cNvPr id="330" name="Google Shape;330;p4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Rows: How many data points are in the plot?</a:t>
            </a:r>
            <a:endParaRPr/>
          </a:p>
          <a:p>
            <a:pPr indent="0" lvl="0" marL="0" rtl="0" algn="l">
              <a:spcBef>
                <a:spcPts val="600"/>
              </a:spcBef>
              <a:spcAft>
                <a:spcPts val="0"/>
              </a:spcAft>
              <a:buNone/>
            </a:pPr>
            <a:r>
              <a:rPr lang="en"/>
              <a:t>Columns: How many variables are in the plot?</a:t>
            </a:r>
            <a:endParaRPr/>
          </a:p>
        </p:txBody>
      </p:sp>
      <p:sp>
        <p:nvSpPr>
          <p:cNvPr id="331" name="Google Shape;331;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32" name="Google Shape;332;p46"/>
          <p:cNvPicPr preferRelativeResize="0"/>
          <p:nvPr/>
        </p:nvPicPr>
        <p:blipFill>
          <a:blip r:embed="rId3">
            <a:alphaModFix/>
          </a:blip>
          <a:stretch>
            <a:fillRect/>
          </a:stretch>
        </p:blipFill>
        <p:spPr>
          <a:xfrm>
            <a:off x="404698" y="1485125"/>
            <a:ext cx="3915976" cy="2913599"/>
          </a:xfrm>
          <a:prstGeom prst="rect">
            <a:avLst/>
          </a:prstGeom>
          <a:noFill/>
          <a:ln>
            <a:noFill/>
          </a:ln>
        </p:spPr>
      </p:pic>
      <p:sp>
        <p:nvSpPr>
          <p:cNvPr id="333" name="Google Shape;333;p46"/>
          <p:cNvSpPr txBox="1"/>
          <p:nvPr/>
        </p:nvSpPr>
        <p:spPr>
          <a:xfrm>
            <a:off x="5165975" y="1127700"/>
            <a:ext cx="3182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Roboto Light"/>
                <a:ea typeface="Roboto Light"/>
                <a:cs typeface="Roboto Light"/>
                <a:sym typeface="Roboto Light"/>
              </a:rPr>
              <a:t>16 data points → 16 rows</a:t>
            </a:r>
            <a:endParaRPr sz="1600">
              <a:solidFill>
                <a:schemeClr val="dk1"/>
              </a:solidFill>
              <a:latin typeface="Roboto Light"/>
              <a:ea typeface="Roboto Light"/>
              <a:cs typeface="Roboto Light"/>
              <a:sym typeface="Roboto Light"/>
            </a:endParaRPr>
          </a:p>
          <a:p>
            <a:pPr indent="0" lvl="0" marL="0" rtl="0" algn="l">
              <a:spcBef>
                <a:spcPts val="0"/>
              </a:spcBef>
              <a:spcAft>
                <a:spcPts val="0"/>
              </a:spcAft>
              <a:buNone/>
            </a:pPr>
            <a:r>
              <a:t/>
            </a:r>
            <a:endParaRPr sz="1600">
              <a:solidFill>
                <a:schemeClr val="dk1"/>
              </a:solidFill>
              <a:latin typeface="Roboto Light"/>
              <a:ea typeface="Roboto Light"/>
              <a:cs typeface="Roboto Light"/>
              <a:sym typeface="Roboto Light"/>
            </a:endParaRPr>
          </a:p>
          <a:p>
            <a:pPr indent="0" lvl="0" marL="0" rtl="0" algn="l">
              <a:spcBef>
                <a:spcPts val="0"/>
              </a:spcBef>
              <a:spcAft>
                <a:spcPts val="0"/>
              </a:spcAft>
              <a:buNone/>
            </a:pPr>
            <a:r>
              <a:rPr lang="en" sz="1600">
                <a:solidFill>
                  <a:schemeClr val="dk1"/>
                </a:solidFill>
                <a:latin typeface="Roboto Light"/>
                <a:ea typeface="Roboto Light"/>
                <a:cs typeface="Roboto Light"/>
                <a:sym typeface="Roboto Light"/>
              </a:rPr>
              <a:t>3 variables → 3 columns</a:t>
            </a:r>
            <a:endParaRPr sz="1600">
              <a:solidFill>
                <a:schemeClr val="dk1"/>
              </a:solidFill>
              <a:latin typeface="Roboto Light"/>
              <a:ea typeface="Roboto Light"/>
              <a:cs typeface="Roboto Light"/>
              <a:sym typeface="Roboto Light"/>
            </a:endParaRPr>
          </a:p>
        </p:txBody>
      </p:sp>
      <p:graphicFrame>
        <p:nvGraphicFramePr>
          <p:cNvPr id="334" name="Google Shape;334;p46"/>
          <p:cNvGraphicFramePr/>
          <p:nvPr/>
        </p:nvGraphicFramePr>
        <p:xfrm>
          <a:off x="5202050" y="2290675"/>
          <a:ext cx="3000000" cy="3000000"/>
        </p:xfrm>
        <a:graphic>
          <a:graphicData uri="http://schemas.openxmlformats.org/drawingml/2006/table">
            <a:tbl>
              <a:tblPr>
                <a:noFill/>
                <a:tableStyleId>{A18C7BDA-818C-4EB6-94C1-2E421272494B}</a:tableStyleId>
              </a:tblPr>
              <a:tblGrid>
                <a:gridCol w="1077775"/>
                <a:gridCol w="1077775"/>
                <a:gridCol w="1077775"/>
              </a:tblGrid>
              <a:tr h="96800">
                <a:tc>
                  <a:txBody>
                    <a:bodyPr/>
                    <a:lstStyle/>
                    <a:p>
                      <a:pPr indent="0" lvl="0" marL="0" rtl="0" algn="ctr">
                        <a:spcBef>
                          <a:spcPts val="0"/>
                        </a:spcBef>
                        <a:spcAft>
                          <a:spcPts val="0"/>
                        </a:spcAft>
                        <a:buNone/>
                      </a:pPr>
                      <a:r>
                        <a:rPr lang="en" sz="1200">
                          <a:latin typeface="Roboto Light"/>
                          <a:ea typeface="Roboto Light"/>
                          <a:cs typeface="Roboto Light"/>
                          <a:sym typeface="Roboto Light"/>
                        </a:rPr>
                        <a:t>frl_percentile</a:t>
                      </a:r>
                      <a:endParaRPr sz="1200">
                        <a:latin typeface="Roboto Light"/>
                        <a:ea typeface="Roboto Light"/>
                        <a:cs typeface="Roboto Light"/>
                        <a:sym typeface="Roboto Light"/>
                      </a:endParaRPr>
                    </a:p>
                  </a:txBody>
                  <a:tcPr marT="0" marB="0" marR="0" marL="0"/>
                </a:tc>
                <a:tc>
                  <a:txBody>
                    <a:bodyPr/>
                    <a:lstStyle/>
                    <a:p>
                      <a:pPr indent="0" lvl="0" marL="0" rtl="0" algn="ctr">
                        <a:spcBef>
                          <a:spcPts val="0"/>
                        </a:spcBef>
                        <a:spcAft>
                          <a:spcPts val="0"/>
                        </a:spcAft>
                        <a:buNone/>
                      </a:pPr>
                      <a:r>
                        <a:rPr lang="en" sz="1200">
                          <a:latin typeface="Roboto Light"/>
                          <a:ea typeface="Roboto Light"/>
                          <a:cs typeface="Roboto Light"/>
                          <a:sym typeface="Roboto Light"/>
                        </a:rPr>
                        <a:t>dist_percentile</a:t>
                      </a:r>
                      <a:endParaRPr sz="1200">
                        <a:latin typeface="Roboto Light"/>
                        <a:ea typeface="Roboto Light"/>
                        <a:cs typeface="Roboto Light"/>
                        <a:sym typeface="Roboto Light"/>
                      </a:endParaRPr>
                    </a:p>
                  </a:txBody>
                  <a:tcPr marT="0" marB="0" marR="0" marL="0"/>
                </a:tc>
                <a:tc>
                  <a:txBody>
                    <a:bodyPr/>
                    <a:lstStyle/>
                    <a:p>
                      <a:pPr indent="0" lvl="0" marL="0" rtl="0" algn="ctr">
                        <a:spcBef>
                          <a:spcPts val="0"/>
                        </a:spcBef>
                        <a:spcAft>
                          <a:spcPts val="0"/>
                        </a:spcAft>
                        <a:buNone/>
                      </a:pPr>
                      <a:r>
                        <a:rPr lang="en" sz="1200">
                          <a:latin typeface="Roboto Light"/>
                          <a:ea typeface="Roboto Light"/>
                          <a:cs typeface="Roboto Light"/>
                          <a:sym typeface="Roboto Light"/>
                        </a:rPr>
                        <a:t>app_rate</a:t>
                      </a:r>
                      <a:endParaRPr sz="1200">
                        <a:latin typeface="Roboto Light"/>
                        <a:ea typeface="Roboto Light"/>
                        <a:cs typeface="Roboto Light"/>
                        <a:sym typeface="Roboto Light"/>
                      </a:endParaRPr>
                    </a:p>
                  </a:txBody>
                  <a:tcPr marT="0" marB="0" marR="0" marL="0"/>
                </a:tc>
              </a:tr>
              <a:tr h="96800">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r>
              <a:tr h="96800">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r>
              <a:tr h="96800">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r>
              <a:tr h="96800">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r>
              <a:tr h="96800">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r>
              <a:tr h="96800">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r>
              <a:tr h="96800">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r>
              <a:tr h="96800">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r>
              <a:tr h="96800">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r>
              <a:tr h="96800">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r>
              <a:tr h="96800">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r>
              <a:tr h="96800">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r>
              <a:tr h="96800">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r>
              <a:tr h="96800">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r>
              <a:tr h="96800">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c>
                  <a:txBody>
                    <a:bodyPr/>
                    <a:lstStyle/>
                    <a:p>
                      <a:pPr indent="0" lvl="0" marL="0" rtl="0" algn="ctr">
                        <a:spcBef>
                          <a:spcPts val="0"/>
                        </a:spcBef>
                        <a:spcAft>
                          <a:spcPts val="0"/>
                        </a:spcAft>
                        <a:buNone/>
                      </a:pPr>
                      <a:r>
                        <a:t/>
                      </a:r>
                      <a:endParaRPr sz="700"/>
                    </a:p>
                  </a:txBody>
                  <a:tcPr marT="0" marB="0" marR="0" marL="0"/>
                </a:tc>
              </a:tr>
            </a:tbl>
          </a:graphicData>
        </a:graphic>
      </p:graphicFrame>
      <p:graphicFrame>
        <p:nvGraphicFramePr>
          <p:cNvPr id="335" name="Google Shape;335;p46"/>
          <p:cNvGraphicFramePr/>
          <p:nvPr/>
        </p:nvGraphicFramePr>
        <p:xfrm>
          <a:off x="564225" y="4477638"/>
          <a:ext cx="3000000" cy="3000000"/>
        </p:xfrm>
        <a:graphic>
          <a:graphicData uri="http://schemas.openxmlformats.org/drawingml/2006/table">
            <a:tbl>
              <a:tblPr>
                <a:noFill/>
                <a:tableStyleId>{A18C7BDA-818C-4EB6-94C1-2E421272494B}</a:tableStyleId>
              </a:tblPr>
              <a:tblGrid>
                <a:gridCol w="7544575"/>
              </a:tblGrid>
              <a:tr h="174825">
                <a:tc>
                  <a:txBody>
                    <a:bodyPr/>
                    <a:lstStyle/>
                    <a:p>
                      <a:pPr indent="0" lvl="0" marL="0" rtl="0" algn="l">
                        <a:spcBef>
                          <a:spcPts val="0"/>
                        </a:spcBef>
                        <a:spcAft>
                          <a:spcPts val="0"/>
                        </a:spcAft>
                        <a:buNone/>
                      </a:pPr>
                      <a:r>
                        <a:rPr b="1" lang="en" sz="1100">
                          <a:latin typeface="Roboto"/>
                          <a:ea typeface="Roboto"/>
                          <a:cs typeface="Roboto"/>
                          <a:sym typeface="Roboto"/>
                        </a:rPr>
                        <a:t>Seaborn Code</a:t>
                      </a:r>
                      <a:endParaRPr b="1" sz="1100">
                        <a:latin typeface="Roboto"/>
                        <a:ea typeface="Roboto"/>
                        <a:cs typeface="Roboto"/>
                        <a:sym typeface="Roboto"/>
                      </a:endParaRPr>
                    </a:p>
                  </a:txBody>
                  <a:tcPr marT="0" marB="0" marR="0" marL="91425" anchor="ctr"/>
                </a:tc>
              </a:tr>
              <a:tr h="328450">
                <a:tc>
                  <a:txBody>
                    <a:bodyPr/>
                    <a:lstStyle/>
                    <a:p>
                      <a:pPr indent="0" lvl="0" marL="0" rtl="0" algn="l">
                        <a:spcBef>
                          <a:spcPts val="0"/>
                        </a:spcBef>
                        <a:spcAft>
                          <a:spcPts val="0"/>
                        </a:spcAft>
                        <a:buNone/>
                      </a:pPr>
                      <a:r>
                        <a:rPr lang="en" sz="1100">
                          <a:solidFill>
                            <a:schemeClr val="dk1"/>
                          </a:solidFill>
                          <a:latin typeface="Consolas"/>
                          <a:ea typeface="Consolas"/>
                          <a:cs typeface="Consolas"/>
                          <a:sym typeface="Consolas"/>
                        </a:rPr>
                        <a:t>sns.lineplot(df, x='frl_percentile', y='app_rate', hue='dist_percentile')</a:t>
                      </a:r>
                      <a:endParaRPr sz="1100">
                        <a:solidFill>
                          <a:schemeClr val="dk1"/>
                        </a:solidFill>
                        <a:latin typeface="Consolas"/>
                        <a:ea typeface="Consolas"/>
                        <a:cs typeface="Consolas"/>
                        <a:sym typeface="Consolas"/>
                      </a:endParaRPr>
                    </a:p>
                  </a:txBody>
                  <a:tcPr marT="0" marB="0" marR="0" marL="91425" anchor="ct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Returning to our original question</a:t>
            </a:r>
            <a:endParaRPr/>
          </a:p>
        </p:txBody>
      </p:sp>
      <p:sp>
        <p:nvSpPr>
          <p:cNvPr id="341" name="Google Shape;341;p47"/>
          <p:cNvSpPr txBox="1"/>
          <p:nvPr>
            <p:ph idx="1" type="body"/>
          </p:nvPr>
        </p:nvSpPr>
        <p:spPr>
          <a:xfrm>
            <a:off x="193894" y="1246825"/>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 have learned a lot so far:</a:t>
            </a:r>
            <a:endParaRPr/>
          </a:p>
          <a:p>
            <a:pPr indent="-330200" lvl="0" marL="457200" rtl="0" algn="l">
              <a:spcBef>
                <a:spcPts val="600"/>
              </a:spcBef>
              <a:spcAft>
                <a:spcPts val="0"/>
              </a:spcAft>
              <a:buSzPts val="1600"/>
              <a:buChar char="●"/>
            </a:pPr>
            <a:r>
              <a:rPr lang="en"/>
              <a:t>High FRL schools tend to have lower apply rates, higher admit rates, lower attend rates.</a:t>
            </a:r>
            <a:endParaRPr/>
          </a:p>
          <a:p>
            <a:pPr indent="-330200" lvl="0" marL="457200" rtl="0" algn="l">
              <a:spcBef>
                <a:spcPts val="1000"/>
              </a:spcBef>
              <a:spcAft>
                <a:spcPts val="0"/>
              </a:spcAft>
              <a:buSzPts val="1600"/>
              <a:buChar char="●"/>
            </a:pPr>
            <a:r>
              <a:rPr lang="en"/>
              <a:t>Schools far from Berkeley tend to have lower apply rates.</a:t>
            </a:r>
            <a:endParaRPr/>
          </a:p>
          <a:p>
            <a:pPr indent="-330200" lvl="0" marL="457200" rtl="0" algn="l">
              <a:spcBef>
                <a:spcPts val="1000"/>
              </a:spcBef>
              <a:spcAft>
                <a:spcPts val="0"/>
              </a:spcAft>
              <a:buSzPts val="1600"/>
              <a:buChar char="●"/>
            </a:pPr>
            <a:r>
              <a:rPr lang="en"/>
              <a:t>But, schools in the Central Valley tend to have especially low apply rates, even though they are closer to Berkeley than schools in LA or San Diego.</a:t>
            </a:r>
            <a:endParaRPr/>
          </a:p>
          <a:p>
            <a:pPr indent="0" lvl="0" marL="0" rtl="0" algn="l">
              <a:spcBef>
                <a:spcPts val="1000"/>
              </a:spcBef>
              <a:spcAft>
                <a:spcPts val="0"/>
              </a:spcAft>
              <a:buNone/>
            </a:pPr>
            <a:r>
              <a:t/>
            </a:r>
            <a:endParaRPr/>
          </a:p>
          <a:p>
            <a:pPr indent="0" lvl="0" marL="0" rtl="0" algn="l">
              <a:spcBef>
                <a:spcPts val="600"/>
              </a:spcBef>
              <a:spcAft>
                <a:spcPts val="0"/>
              </a:spcAft>
              <a:buNone/>
            </a:pPr>
            <a:r>
              <a:rPr lang="en"/>
              <a:t>There is a lot more to explore. For example:</a:t>
            </a:r>
            <a:endParaRPr/>
          </a:p>
          <a:p>
            <a:pPr indent="-330200" lvl="0" marL="457200" rtl="0" algn="l">
              <a:spcBef>
                <a:spcPts val="600"/>
              </a:spcBef>
              <a:spcAft>
                <a:spcPts val="0"/>
              </a:spcAft>
              <a:buSzPts val="1600"/>
              <a:buChar char="●"/>
            </a:pPr>
            <a:r>
              <a:rPr lang="en"/>
              <a:t>How does distance relate to admit rates and attend rates?</a:t>
            </a:r>
            <a:endParaRPr/>
          </a:p>
          <a:p>
            <a:pPr indent="-330200" lvl="0" marL="457200" rtl="0" algn="l">
              <a:spcBef>
                <a:spcPts val="0"/>
              </a:spcBef>
              <a:spcAft>
                <a:spcPts val="0"/>
              </a:spcAft>
              <a:buSzPts val="1600"/>
              <a:buChar char="●"/>
            </a:pPr>
            <a:r>
              <a:rPr lang="en"/>
              <a:t>How do charter schools compare to non-charter schools?</a:t>
            </a:r>
            <a:endParaRPr/>
          </a:p>
          <a:p>
            <a:pPr indent="-330200" lvl="0" marL="457200" rtl="0" algn="l">
              <a:spcBef>
                <a:spcPts val="0"/>
              </a:spcBef>
              <a:spcAft>
                <a:spcPts val="0"/>
              </a:spcAft>
              <a:buSzPts val="1600"/>
              <a:buChar char="●"/>
            </a:pPr>
            <a:r>
              <a:rPr lang="en"/>
              <a:t>Large schools versus small schools? </a:t>
            </a:r>
            <a:endParaRPr/>
          </a:p>
          <a:p>
            <a:pPr indent="-330200" lvl="0" marL="457200" rtl="0" algn="l">
              <a:spcBef>
                <a:spcPts val="0"/>
              </a:spcBef>
              <a:spcAft>
                <a:spcPts val="0"/>
              </a:spcAft>
              <a:buSzPts val="1600"/>
              <a:buChar char="●"/>
            </a:pPr>
            <a:r>
              <a:rPr lang="en"/>
              <a:t>Are there similar patterns for UCLA (sort of the "Berkeley of Southern California")?</a:t>
            </a:r>
            <a:br>
              <a:rPr lang="en"/>
            </a:br>
            <a:endParaRPr/>
          </a:p>
        </p:txBody>
      </p:sp>
      <p:sp>
        <p:nvSpPr>
          <p:cNvPr id="342" name="Google Shape;342;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3" name="Google Shape;343;p47"/>
          <p:cNvSpPr txBox="1"/>
          <p:nvPr/>
        </p:nvSpPr>
        <p:spPr>
          <a:xfrm>
            <a:off x="193900" y="536175"/>
            <a:ext cx="8346900" cy="6465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500">
                <a:solidFill>
                  <a:srgbClr val="000000"/>
                </a:solidFill>
                <a:highlight>
                  <a:srgbClr val="D9D9D9"/>
                </a:highlight>
                <a:latin typeface="Roboto Light"/>
                <a:ea typeface="Roboto Light"/>
                <a:cs typeface="Roboto Light"/>
                <a:sym typeface="Roboto Light"/>
              </a:rPr>
              <a:t>Task: Your manager asks you to identify </a:t>
            </a:r>
            <a:r>
              <a:rPr b="1" lang="en" sz="1500">
                <a:solidFill>
                  <a:srgbClr val="000000"/>
                </a:solidFill>
                <a:highlight>
                  <a:srgbClr val="D9D9D9"/>
                </a:highlight>
                <a:latin typeface="Roboto"/>
                <a:ea typeface="Roboto"/>
                <a:cs typeface="Roboto"/>
                <a:sym typeface="Roboto"/>
              </a:rPr>
              <a:t>five</a:t>
            </a:r>
            <a:r>
              <a:rPr lang="en" sz="1500">
                <a:solidFill>
                  <a:srgbClr val="000000"/>
                </a:solidFill>
                <a:highlight>
                  <a:srgbClr val="D9D9D9"/>
                </a:highlight>
                <a:latin typeface="Roboto Light"/>
                <a:ea typeface="Roboto Light"/>
                <a:cs typeface="Roboto Light"/>
                <a:sym typeface="Roboto Light"/>
              </a:rPr>
              <a:t> California public high schools that </a:t>
            </a:r>
            <a:r>
              <a:rPr b="1" lang="en" sz="1500">
                <a:solidFill>
                  <a:srgbClr val="000000"/>
                </a:solidFill>
                <a:highlight>
                  <a:srgbClr val="D9D9D9"/>
                </a:highlight>
                <a:latin typeface="Roboto"/>
                <a:ea typeface="Roboto"/>
                <a:cs typeface="Roboto"/>
                <a:sym typeface="Roboto"/>
              </a:rPr>
              <a:t>defy typical patterns</a:t>
            </a:r>
            <a:r>
              <a:rPr lang="en" sz="1500">
                <a:solidFill>
                  <a:srgbClr val="000000"/>
                </a:solidFill>
                <a:highlight>
                  <a:srgbClr val="D9D9D9"/>
                </a:highlight>
                <a:latin typeface="Roboto Light"/>
                <a:ea typeface="Roboto Light"/>
                <a:cs typeface="Roboto Light"/>
                <a:sym typeface="Roboto Light"/>
              </a:rPr>
              <a:t> of application, admission, and/or attendance.</a:t>
            </a:r>
            <a:endParaRPr sz="1600">
              <a:solidFill>
                <a:srgbClr val="000000"/>
              </a:solidFill>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Returning to our original question</a:t>
            </a:r>
            <a:endParaRPr/>
          </a:p>
        </p:txBody>
      </p:sp>
      <p:sp>
        <p:nvSpPr>
          <p:cNvPr id="349" name="Google Shape;349;p48"/>
          <p:cNvSpPr txBox="1"/>
          <p:nvPr>
            <p:ph idx="1" type="body"/>
          </p:nvPr>
        </p:nvSpPr>
        <p:spPr>
          <a:xfrm>
            <a:off x="193900" y="1246825"/>
            <a:ext cx="86628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 could explore more, but it's the end of the day. Our manager wants an answer.</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We have to make some decisions about our "pool" of schools to select from. For example:</a:t>
            </a:r>
            <a:endParaRPr/>
          </a:p>
          <a:p>
            <a:pPr indent="-330200" lvl="0" marL="457200" rtl="0" algn="l">
              <a:spcBef>
                <a:spcPts val="600"/>
              </a:spcBef>
              <a:spcAft>
                <a:spcPts val="0"/>
              </a:spcAft>
              <a:buSzPts val="1600"/>
              <a:buChar char="●"/>
            </a:pPr>
            <a:r>
              <a:rPr lang="en"/>
              <a:t>Should we exclude small schools?</a:t>
            </a:r>
            <a:endParaRPr/>
          </a:p>
          <a:p>
            <a:pPr indent="-330200" lvl="0" marL="457200" rtl="0" algn="l">
              <a:spcBef>
                <a:spcPts val="1000"/>
              </a:spcBef>
              <a:spcAft>
                <a:spcPts val="0"/>
              </a:spcAft>
              <a:buSzPts val="1600"/>
              <a:buChar char="●"/>
            </a:pPr>
            <a:r>
              <a:rPr lang="en"/>
              <a:t>Should we exclude charter schools?</a:t>
            </a:r>
            <a:endParaRPr/>
          </a:p>
          <a:p>
            <a:pPr indent="-330200" lvl="0" marL="457200" rtl="0" algn="l">
              <a:spcBef>
                <a:spcPts val="1000"/>
              </a:spcBef>
              <a:spcAft>
                <a:spcPts val="0"/>
              </a:spcAft>
              <a:buSzPts val="1600"/>
              <a:buChar char="●"/>
            </a:pPr>
            <a:r>
              <a:rPr lang="en"/>
              <a:t>Do we care more about application, admission, or attendance?</a:t>
            </a:r>
            <a:endParaRPr/>
          </a:p>
          <a:p>
            <a:pPr indent="-330200" lvl="0" marL="457200" rtl="0" algn="l">
              <a:spcBef>
                <a:spcPts val="1000"/>
              </a:spcBef>
              <a:spcAft>
                <a:spcPts val="0"/>
              </a:spcAft>
              <a:buSzPts val="1600"/>
              <a:buChar char="●"/>
            </a:pPr>
            <a:r>
              <a:rPr lang="en"/>
              <a:t>Do we want our selected schools to be representative of California as a whole? For example, is it OK if they are all in the Bay Area?</a:t>
            </a:r>
            <a:endParaRPr/>
          </a:p>
          <a:p>
            <a:pPr indent="-330200" lvl="0" marL="457200" rtl="0" algn="l">
              <a:spcBef>
                <a:spcPts val="1000"/>
              </a:spcBef>
              <a:spcAft>
                <a:spcPts val="1000"/>
              </a:spcAft>
              <a:buSzPts val="1600"/>
              <a:buChar char="●"/>
            </a:pPr>
            <a:r>
              <a:rPr lang="en"/>
              <a:t>Should we consider schools with </a:t>
            </a:r>
            <a:r>
              <a:rPr b="1" lang="en">
                <a:latin typeface="Roboto"/>
                <a:ea typeface="Roboto"/>
                <a:cs typeface="Roboto"/>
                <a:sym typeface="Roboto"/>
              </a:rPr>
              <a:t>imputed</a:t>
            </a:r>
            <a:r>
              <a:rPr lang="en"/>
              <a:t> admission and/or attendance rates?</a:t>
            </a:r>
            <a:endParaRPr/>
          </a:p>
        </p:txBody>
      </p:sp>
      <p:sp>
        <p:nvSpPr>
          <p:cNvPr id="350" name="Google Shape;350;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1" name="Google Shape;351;p48"/>
          <p:cNvSpPr txBox="1"/>
          <p:nvPr/>
        </p:nvSpPr>
        <p:spPr>
          <a:xfrm>
            <a:off x="193900" y="536175"/>
            <a:ext cx="8346900" cy="6465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500">
                <a:solidFill>
                  <a:srgbClr val="000000"/>
                </a:solidFill>
                <a:highlight>
                  <a:srgbClr val="D9D9D9"/>
                </a:highlight>
                <a:latin typeface="Roboto Light"/>
                <a:ea typeface="Roboto Light"/>
                <a:cs typeface="Roboto Light"/>
                <a:sym typeface="Roboto Light"/>
              </a:rPr>
              <a:t>Task: Your manager asks you to identify </a:t>
            </a:r>
            <a:r>
              <a:rPr b="1" lang="en" sz="1500">
                <a:solidFill>
                  <a:srgbClr val="000000"/>
                </a:solidFill>
                <a:highlight>
                  <a:srgbClr val="D9D9D9"/>
                </a:highlight>
                <a:latin typeface="Roboto"/>
                <a:ea typeface="Roboto"/>
                <a:cs typeface="Roboto"/>
                <a:sym typeface="Roboto"/>
              </a:rPr>
              <a:t>five</a:t>
            </a:r>
            <a:r>
              <a:rPr lang="en" sz="1500">
                <a:solidFill>
                  <a:srgbClr val="000000"/>
                </a:solidFill>
                <a:highlight>
                  <a:srgbClr val="D9D9D9"/>
                </a:highlight>
                <a:latin typeface="Roboto Light"/>
                <a:ea typeface="Roboto Light"/>
                <a:cs typeface="Roboto Light"/>
                <a:sym typeface="Roboto Light"/>
              </a:rPr>
              <a:t> California public high schools that </a:t>
            </a:r>
            <a:r>
              <a:rPr b="1" lang="en" sz="1500">
                <a:solidFill>
                  <a:srgbClr val="000000"/>
                </a:solidFill>
                <a:highlight>
                  <a:srgbClr val="D9D9D9"/>
                </a:highlight>
                <a:latin typeface="Roboto"/>
                <a:ea typeface="Roboto"/>
                <a:cs typeface="Roboto"/>
                <a:sym typeface="Roboto"/>
              </a:rPr>
              <a:t>defy typical patterns</a:t>
            </a:r>
            <a:r>
              <a:rPr lang="en" sz="1500">
                <a:solidFill>
                  <a:srgbClr val="000000"/>
                </a:solidFill>
                <a:highlight>
                  <a:srgbClr val="D9D9D9"/>
                </a:highlight>
                <a:latin typeface="Roboto Light"/>
                <a:ea typeface="Roboto Light"/>
                <a:cs typeface="Roboto Light"/>
                <a:sym typeface="Roboto Light"/>
              </a:rPr>
              <a:t> of application, admission, and/or attendance.</a:t>
            </a:r>
            <a:endParaRPr sz="1600">
              <a:solidFill>
                <a:srgbClr val="000000"/>
              </a:solidFill>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Returning to our original question</a:t>
            </a:r>
            <a:endParaRPr/>
          </a:p>
        </p:txBody>
      </p:sp>
      <p:sp>
        <p:nvSpPr>
          <p:cNvPr id="357" name="Google Shape;357;p49"/>
          <p:cNvSpPr txBox="1"/>
          <p:nvPr>
            <p:ph idx="1" type="body"/>
          </p:nvPr>
        </p:nvSpPr>
        <p:spPr>
          <a:xfrm>
            <a:off x="193900" y="1246825"/>
            <a:ext cx="86628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Here is one way to approach the problem. </a:t>
            </a:r>
            <a:r>
              <a:rPr b="1" lang="en">
                <a:latin typeface="Roboto"/>
                <a:ea typeface="Roboto"/>
                <a:cs typeface="Roboto"/>
                <a:sym typeface="Roboto"/>
              </a:rPr>
              <a:t>There is no "correct" way!</a:t>
            </a:r>
            <a:endParaRPr b="1">
              <a:latin typeface="Roboto"/>
              <a:ea typeface="Roboto"/>
              <a:cs typeface="Roboto"/>
              <a:sym typeface="Roboto"/>
            </a:endParaRPr>
          </a:p>
          <a:p>
            <a:pPr indent="-330200" lvl="0" marL="457200" rtl="0" algn="l">
              <a:spcBef>
                <a:spcPts val="600"/>
              </a:spcBef>
              <a:spcAft>
                <a:spcPts val="0"/>
              </a:spcAft>
              <a:buSzPts val="1600"/>
              <a:buChar char="●"/>
            </a:pPr>
            <a:r>
              <a:rPr lang="en"/>
              <a:t>Let's focus on schools with at least 100 12th graders.</a:t>
            </a:r>
            <a:endParaRPr/>
          </a:p>
          <a:p>
            <a:pPr indent="-330200" lvl="0" marL="457200" rtl="0" algn="l">
              <a:spcBef>
                <a:spcPts val="1000"/>
              </a:spcBef>
              <a:spcAft>
                <a:spcPts val="0"/>
              </a:spcAft>
              <a:buSzPts val="1600"/>
              <a:buChar char="●"/>
            </a:pPr>
            <a:r>
              <a:rPr lang="en"/>
              <a:t>Let's ignore charter schools.</a:t>
            </a:r>
            <a:endParaRPr/>
          </a:p>
          <a:p>
            <a:pPr indent="-330200" lvl="0" marL="457200" rtl="0" algn="l">
              <a:spcBef>
                <a:spcPts val="1000"/>
              </a:spcBef>
              <a:spcAft>
                <a:spcPts val="0"/>
              </a:spcAft>
              <a:buSzPts val="1600"/>
              <a:buChar char="●"/>
            </a:pPr>
            <a:r>
              <a:rPr lang="en"/>
              <a:t>Let's focus on application rates, since this is one distinct student action for us to target.</a:t>
            </a:r>
            <a:endParaRPr/>
          </a:p>
          <a:p>
            <a:pPr indent="-330200" lvl="0" marL="457200" rtl="0" algn="l">
              <a:spcBef>
                <a:spcPts val="1000"/>
              </a:spcBef>
              <a:spcAft>
                <a:spcPts val="0"/>
              </a:spcAft>
              <a:buSzPts val="1600"/>
              <a:buChar char="●"/>
            </a:pPr>
            <a:r>
              <a:rPr lang="en"/>
              <a:t>We are open to identifying a school with low or high application rates.</a:t>
            </a:r>
            <a:endParaRPr/>
          </a:p>
          <a:p>
            <a:pPr indent="-330200" lvl="0" marL="457200" rtl="0" algn="l">
              <a:spcBef>
                <a:spcPts val="1000"/>
              </a:spcBef>
              <a:spcAft>
                <a:spcPts val="0"/>
              </a:spcAft>
              <a:buSzPts val="1600"/>
              <a:buChar char="●"/>
            </a:pPr>
            <a:r>
              <a:rPr lang="en"/>
              <a:t>Geographic representation: Make five dist_from_ucb buckets and select one school from each bucket.</a:t>
            </a:r>
            <a:endParaRPr/>
          </a:p>
          <a:p>
            <a:pPr indent="0" lvl="0" marL="0" rtl="0" algn="l">
              <a:spcBef>
                <a:spcPts val="1000"/>
              </a:spcBef>
              <a:spcAft>
                <a:spcPts val="0"/>
              </a:spcAft>
              <a:buNone/>
            </a:pPr>
            <a:r>
              <a:t/>
            </a:r>
            <a:endParaRPr/>
          </a:p>
          <a:p>
            <a:pPr indent="0" lvl="0" marL="0" rtl="0" algn="l">
              <a:spcBef>
                <a:spcPts val="600"/>
              </a:spcBef>
              <a:spcAft>
                <a:spcPts val="0"/>
              </a:spcAft>
              <a:buNone/>
            </a:pPr>
            <a:r>
              <a:rPr lang="en"/>
              <a:t>With the constraints above, let's make a scatterplot of free_reduced_percentage and app_rate for each of our five geographic buckets. </a:t>
            </a:r>
            <a:endParaRPr/>
          </a:p>
        </p:txBody>
      </p:sp>
      <p:sp>
        <p:nvSpPr>
          <p:cNvPr id="358" name="Google Shape;358;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9" name="Google Shape;359;p49"/>
          <p:cNvSpPr txBox="1"/>
          <p:nvPr/>
        </p:nvSpPr>
        <p:spPr>
          <a:xfrm>
            <a:off x="193900" y="536175"/>
            <a:ext cx="8346900" cy="6465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500">
                <a:solidFill>
                  <a:srgbClr val="000000"/>
                </a:solidFill>
                <a:highlight>
                  <a:srgbClr val="D9D9D9"/>
                </a:highlight>
                <a:latin typeface="Roboto Light"/>
                <a:ea typeface="Roboto Light"/>
                <a:cs typeface="Roboto Light"/>
                <a:sym typeface="Roboto Light"/>
              </a:rPr>
              <a:t>Task: Your manager asks you to identify </a:t>
            </a:r>
            <a:r>
              <a:rPr b="1" lang="en" sz="1500">
                <a:solidFill>
                  <a:srgbClr val="000000"/>
                </a:solidFill>
                <a:highlight>
                  <a:srgbClr val="D9D9D9"/>
                </a:highlight>
                <a:latin typeface="Roboto"/>
                <a:ea typeface="Roboto"/>
                <a:cs typeface="Roboto"/>
                <a:sym typeface="Roboto"/>
              </a:rPr>
              <a:t>five</a:t>
            </a:r>
            <a:r>
              <a:rPr lang="en" sz="1500">
                <a:solidFill>
                  <a:srgbClr val="000000"/>
                </a:solidFill>
                <a:highlight>
                  <a:srgbClr val="D9D9D9"/>
                </a:highlight>
                <a:latin typeface="Roboto Light"/>
                <a:ea typeface="Roboto Light"/>
                <a:cs typeface="Roboto Light"/>
                <a:sym typeface="Roboto Light"/>
              </a:rPr>
              <a:t> California public high schools that </a:t>
            </a:r>
            <a:r>
              <a:rPr b="1" lang="en" sz="1500">
                <a:solidFill>
                  <a:srgbClr val="000000"/>
                </a:solidFill>
                <a:highlight>
                  <a:srgbClr val="D9D9D9"/>
                </a:highlight>
                <a:latin typeface="Roboto"/>
                <a:ea typeface="Roboto"/>
                <a:cs typeface="Roboto"/>
                <a:sym typeface="Roboto"/>
              </a:rPr>
              <a:t>defy typical patterns</a:t>
            </a:r>
            <a:r>
              <a:rPr lang="en" sz="1500">
                <a:solidFill>
                  <a:srgbClr val="000000"/>
                </a:solidFill>
                <a:highlight>
                  <a:srgbClr val="D9D9D9"/>
                </a:highlight>
                <a:latin typeface="Roboto Light"/>
                <a:ea typeface="Roboto Light"/>
                <a:cs typeface="Roboto Light"/>
                <a:sym typeface="Roboto Light"/>
              </a:rPr>
              <a:t> of application, admission, and/or attendance.</a:t>
            </a:r>
            <a:endParaRPr sz="1600">
              <a:solidFill>
                <a:srgbClr val="000000"/>
              </a:solidFill>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 any schools stand out?</a:t>
            </a:r>
            <a:endParaRPr/>
          </a:p>
        </p:txBody>
      </p:sp>
      <p:sp>
        <p:nvSpPr>
          <p:cNvPr id="365" name="Google Shape;365;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66" name="Google Shape;366;p50"/>
          <p:cNvPicPr preferRelativeResize="0"/>
          <p:nvPr/>
        </p:nvPicPr>
        <p:blipFill>
          <a:blip r:embed="rId3">
            <a:alphaModFix/>
          </a:blip>
          <a:stretch>
            <a:fillRect/>
          </a:stretch>
        </p:blipFill>
        <p:spPr>
          <a:xfrm>
            <a:off x="638600" y="540475"/>
            <a:ext cx="7433783" cy="44450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2" name="Google Shape;372;p51"/>
          <p:cNvSpPr txBox="1"/>
          <p:nvPr>
            <p:ph idx="1" type="body"/>
          </p:nvPr>
        </p:nvSpPr>
        <p:spPr>
          <a:xfrm>
            <a:off x="4882900" y="448050"/>
            <a:ext cx="3950100" cy="4124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latin typeface="Roboto"/>
                <a:ea typeface="Roboto"/>
                <a:cs typeface="Roboto"/>
                <a:sym typeface="Roboto"/>
              </a:rPr>
              <a:t>Structure </a:t>
            </a:r>
            <a:r>
              <a:rPr lang="en"/>
              <a:t>-- the "shape" of a data file</a:t>
            </a:r>
            <a:endParaRPr/>
          </a:p>
          <a:p>
            <a:pPr indent="0" lvl="0" marL="0" rtl="0" algn="l">
              <a:spcBef>
                <a:spcPts val="600"/>
              </a:spcBef>
              <a:spcAft>
                <a:spcPts val="0"/>
              </a:spcAft>
              <a:buNone/>
            </a:pPr>
            <a:r>
              <a:t/>
            </a:r>
            <a:endParaRPr/>
          </a:p>
          <a:p>
            <a:pPr indent="0" lvl="0" marL="0" rtl="0" algn="l">
              <a:spcBef>
                <a:spcPts val="600"/>
              </a:spcBef>
              <a:spcAft>
                <a:spcPts val="0"/>
              </a:spcAft>
              <a:buNone/>
            </a:pPr>
            <a:r>
              <a:rPr b="1" lang="en">
                <a:solidFill>
                  <a:srgbClr val="9E9E9E"/>
                </a:solidFill>
                <a:latin typeface="Roboto"/>
                <a:ea typeface="Roboto"/>
                <a:cs typeface="Roboto"/>
                <a:sym typeface="Roboto"/>
              </a:rPr>
              <a:t>Granularity</a:t>
            </a:r>
            <a:r>
              <a:rPr lang="en">
                <a:solidFill>
                  <a:srgbClr val="9E9E9E"/>
                </a:solidFill>
              </a:rPr>
              <a:t> -- how fine/coarse is each datum</a:t>
            </a:r>
            <a:endParaRPr>
              <a:solidFill>
                <a:srgbClr val="9E9E9E"/>
              </a:solidFill>
            </a:endParaRPr>
          </a:p>
          <a:p>
            <a:pPr indent="0" lvl="0" marL="0" rtl="0" algn="l">
              <a:spcBef>
                <a:spcPts val="600"/>
              </a:spcBef>
              <a:spcAft>
                <a:spcPts val="0"/>
              </a:spcAft>
              <a:buNone/>
            </a:pPr>
            <a:r>
              <a:t/>
            </a:r>
            <a:endParaRPr>
              <a:solidFill>
                <a:srgbClr val="9E9E9E"/>
              </a:solidFill>
            </a:endParaRPr>
          </a:p>
          <a:p>
            <a:pPr indent="0" lvl="0" marL="0" rtl="0" algn="l">
              <a:spcBef>
                <a:spcPts val="600"/>
              </a:spcBef>
              <a:spcAft>
                <a:spcPts val="0"/>
              </a:spcAft>
              <a:buNone/>
            </a:pPr>
            <a:r>
              <a:rPr b="1" lang="en">
                <a:solidFill>
                  <a:srgbClr val="9E9E9E"/>
                </a:solidFill>
                <a:latin typeface="Roboto"/>
                <a:ea typeface="Roboto"/>
                <a:cs typeface="Roboto"/>
                <a:sym typeface="Roboto"/>
              </a:rPr>
              <a:t>Temporality</a:t>
            </a:r>
            <a:r>
              <a:rPr lang="en">
                <a:solidFill>
                  <a:srgbClr val="9E9E9E"/>
                </a:solidFill>
              </a:rPr>
              <a:t> -- how is the data situated in time</a:t>
            </a:r>
            <a:endParaRPr>
              <a:solidFill>
                <a:srgbClr val="9E9E9E"/>
              </a:solidFill>
            </a:endParaRPr>
          </a:p>
          <a:p>
            <a:pPr indent="0" lvl="0" marL="0" rtl="0" algn="l">
              <a:spcBef>
                <a:spcPts val="600"/>
              </a:spcBef>
              <a:spcAft>
                <a:spcPts val="0"/>
              </a:spcAft>
              <a:buNone/>
            </a:pPr>
            <a:r>
              <a:t/>
            </a:r>
            <a:endParaRPr>
              <a:solidFill>
                <a:srgbClr val="9E9E9E"/>
              </a:solidFill>
            </a:endParaRPr>
          </a:p>
          <a:p>
            <a:pPr indent="0" lvl="0" marL="0" rtl="0" algn="l">
              <a:spcBef>
                <a:spcPts val="600"/>
              </a:spcBef>
              <a:spcAft>
                <a:spcPts val="0"/>
              </a:spcAft>
              <a:buNone/>
            </a:pPr>
            <a:r>
              <a:rPr b="1" lang="en">
                <a:solidFill>
                  <a:srgbClr val="9E9E9E"/>
                </a:solidFill>
                <a:latin typeface="Roboto"/>
                <a:ea typeface="Roboto"/>
                <a:cs typeface="Roboto"/>
                <a:sym typeface="Roboto"/>
              </a:rPr>
              <a:t>Faithfulness</a:t>
            </a:r>
            <a:r>
              <a:rPr lang="en">
                <a:solidFill>
                  <a:srgbClr val="9E9E9E"/>
                </a:solidFill>
              </a:rPr>
              <a:t> -- how well does the data capture "reality"</a:t>
            </a:r>
            <a:endParaRPr>
              <a:solidFill>
                <a:srgbClr val="9E9E9E"/>
              </a:solidFill>
            </a:endParaRPr>
          </a:p>
        </p:txBody>
      </p:sp>
      <p:sp>
        <p:nvSpPr>
          <p:cNvPr id="373" name="Google Shape;373;p51"/>
          <p:cNvSpPr/>
          <p:nvPr/>
        </p:nvSpPr>
        <p:spPr>
          <a:xfrm flipH="1">
            <a:off x="3995325" y="398875"/>
            <a:ext cx="801300" cy="728700"/>
          </a:xfrm>
          <a:prstGeom prst="lef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51"/>
          <p:cNvSpPr txBox="1"/>
          <p:nvPr/>
        </p:nvSpPr>
        <p:spPr>
          <a:xfrm>
            <a:off x="177925" y="2313850"/>
            <a:ext cx="4038000" cy="2037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rgbClr val="0B5394"/>
                </a:solidFill>
                <a:latin typeface="Roboto Medium"/>
                <a:ea typeface="Roboto Medium"/>
                <a:cs typeface="Roboto Medium"/>
                <a:sym typeface="Roboto Medium"/>
              </a:rPr>
              <a:t>Key Data Properties to Consider in EDA</a:t>
            </a:r>
            <a:endParaRPr sz="3600">
              <a:solidFill>
                <a:srgbClr val="0B5394"/>
              </a:solidFill>
              <a:latin typeface="Roboto Medium"/>
              <a:ea typeface="Roboto Medium"/>
              <a:cs typeface="Roboto Medium"/>
              <a:sym typeface="Roboto Mediu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2"/>
          <p:cNvSpPr txBox="1"/>
          <p:nvPr>
            <p:ph type="title"/>
          </p:nvPr>
        </p:nvSpPr>
        <p:spPr>
          <a:xfrm>
            <a:off x="0" y="0"/>
            <a:ext cx="8520600" cy="3936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3300"/>
              <a:buFont typeface="Century Gothic"/>
              <a:buNone/>
            </a:pPr>
            <a:r>
              <a:rPr lang="en"/>
              <a:t>Rectangular Data</a:t>
            </a:r>
            <a:endParaRPr/>
          </a:p>
        </p:txBody>
      </p:sp>
      <p:sp>
        <p:nvSpPr>
          <p:cNvPr id="380" name="Google Shape;380;p52"/>
          <p:cNvSpPr txBox="1"/>
          <p:nvPr>
            <p:ph idx="4294967295" type="body"/>
          </p:nvPr>
        </p:nvSpPr>
        <p:spPr>
          <a:xfrm>
            <a:off x="107050" y="614450"/>
            <a:ext cx="6146700" cy="4303800"/>
          </a:xfrm>
          <a:prstGeom prst="rect">
            <a:avLst/>
          </a:prstGeom>
          <a:noFill/>
          <a:ln>
            <a:noFill/>
          </a:ln>
        </p:spPr>
        <p:txBody>
          <a:bodyPr anchorCtr="0" anchor="t" bIns="34275" lIns="68575" spcFirstLastPara="1" rIns="68575" wrap="square" tIns="34275">
            <a:noAutofit/>
          </a:bodyPr>
          <a:lstStyle/>
          <a:p>
            <a:pPr indent="0" lvl="0" marL="12700" rtl="0" algn="l">
              <a:lnSpc>
                <a:spcPct val="100000"/>
              </a:lnSpc>
              <a:spcBef>
                <a:spcPts val="600"/>
              </a:spcBef>
              <a:spcAft>
                <a:spcPts val="0"/>
              </a:spcAft>
              <a:buSzPts val="1800"/>
              <a:buNone/>
            </a:pPr>
            <a:r>
              <a:rPr lang="en">
                <a:latin typeface="Roboto Light"/>
                <a:ea typeface="Roboto Light"/>
                <a:cs typeface="Roboto Light"/>
                <a:sym typeface="Roboto Light"/>
              </a:rPr>
              <a:t>We often prefer </a:t>
            </a:r>
            <a:r>
              <a:rPr b="1" lang="en">
                <a:latin typeface="Roboto"/>
                <a:ea typeface="Roboto"/>
                <a:cs typeface="Roboto"/>
                <a:sym typeface="Roboto"/>
              </a:rPr>
              <a:t>rectangular data</a:t>
            </a:r>
            <a:r>
              <a:rPr lang="en">
                <a:latin typeface="Roboto Light"/>
                <a:ea typeface="Roboto Light"/>
                <a:cs typeface="Roboto Light"/>
                <a:sym typeface="Roboto Light"/>
              </a:rPr>
              <a:t> for data analysis</a:t>
            </a:r>
            <a:endParaRPr/>
          </a:p>
          <a:p>
            <a:pPr indent="-330200" lvl="0" marL="457200" rtl="0" algn="l">
              <a:lnSpc>
                <a:spcPct val="100000"/>
              </a:lnSpc>
              <a:spcBef>
                <a:spcPts val="600"/>
              </a:spcBef>
              <a:spcAft>
                <a:spcPts val="0"/>
              </a:spcAft>
              <a:buSzPts val="1600"/>
              <a:buFont typeface="Roboto Light"/>
              <a:buChar char="•"/>
            </a:pPr>
            <a:r>
              <a:rPr lang="en"/>
              <a:t>E</a:t>
            </a:r>
            <a:r>
              <a:rPr lang="en">
                <a:latin typeface="Roboto Light"/>
                <a:ea typeface="Roboto Light"/>
                <a:cs typeface="Roboto Light"/>
                <a:sym typeface="Roboto Light"/>
              </a:rPr>
              <a:t>asy to manipulate and analyze</a:t>
            </a:r>
            <a:endParaRPr/>
          </a:p>
          <a:p>
            <a:pPr indent="-330200" lvl="0" marL="457200" rtl="0" algn="l">
              <a:lnSpc>
                <a:spcPct val="100000"/>
              </a:lnSpc>
              <a:spcBef>
                <a:spcPts val="0"/>
              </a:spcBef>
              <a:spcAft>
                <a:spcPts val="0"/>
              </a:spcAft>
              <a:buSzPts val="1600"/>
              <a:buFont typeface="Roboto Light"/>
              <a:buChar char="•"/>
            </a:pPr>
            <a:r>
              <a:rPr lang="en"/>
              <a:t>B</a:t>
            </a:r>
            <a:r>
              <a:rPr lang="en">
                <a:latin typeface="Roboto Light"/>
                <a:ea typeface="Roboto Light"/>
                <a:cs typeface="Roboto Light"/>
                <a:sym typeface="Roboto Light"/>
              </a:rPr>
              <a:t>ig part of </a:t>
            </a:r>
            <a:r>
              <a:rPr b="1" lang="en">
                <a:latin typeface="Roboto"/>
                <a:ea typeface="Roboto"/>
                <a:cs typeface="Roboto"/>
                <a:sym typeface="Roboto"/>
              </a:rPr>
              <a:t>data cleaning</a:t>
            </a:r>
            <a:r>
              <a:rPr lang="en"/>
              <a:t>: Reshape</a:t>
            </a:r>
            <a:r>
              <a:rPr lang="en">
                <a:latin typeface="Roboto Light"/>
                <a:ea typeface="Roboto Light"/>
                <a:cs typeface="Roboto Light"/>
                <a:sym typeface="Roboto Light"/>
              </a:rPr>
              <a:t> </a:t>
            </a:r>
            <a:r>
              <a:rPr lang="en"/>
              <a:t>to be</a:t>
            </a:r>
            <a:r>
              <a:rPr lang="en">
                <a:latin typeface="Roboto Light"/>
                <a:ea typeface="Roboto Light"/>
                <a:cs typeface="Roboto Light"/>
                <a:sym typeface="Roboto Light"/>
              </a:rPr>
              <a:t> more rectangular</a:t>
            </a:r>
            <a:endParaRPr>
              <a:latin typeface="Roboto Light"/>
              <a:ea typeface="Roboto Light"/>
              <a:cs typeface="Roboto Light"/>
              <a:sym typeface="Roboto Light"/>
            </a:endParaRPr>
          </a:p>
          <a:p>
            <a:pPr indent="-330200" lvl="0" marL="457200" rtl="0" algn="l">
              <a:lnSpc>
                <a:spcPct val="100000"/>
              </a:lnSpc>
              <a:spcBef>
                <a:spcPts val="0"/>
              </a:spcBef>
              <a:spcAft>
                <a:spcPts val="0"/>
              </a:spcAft>
              <a:buSzPts val="1600"/>
              <a:buChar char="•"/>
            </a:pPr>
            <a:r>
              <a:rPr lang="en"/>
              <a:t>Example: text file of spam emails → table of word counts</a:t>
            </a:r>
            <a:endParaRPr/>
          </a:p>
          <a:p>
            <a:pPr indent="0" lvl="0" marL="0" rtl="0" algn="l">
              <a:lnSpc>
                <a:spcPct val="100000"/>
              </a:lnSpc>
              <a:spcBef>
                <a:spcPts val="600"/>
              </a:spcBef>
              <a:spcAft>
                <a:spcPts val="0"/>
              </a:spcAft>
              <a:buNone/>
            </a:pPr>
            <a:r>
              <a:t/>
            </a:r>
            <a:endParaRPr/>
          </a:p>
          <a:p>
            <a:pPr indent="0" lvl="0" marL="0" rtl="0" algn="l">
              <a:lnSpc>
                <a:spcPct val="100000"/>
              </a:lnSpc>
              <a:spcBef>
                <a:spcPts val="600"/>
              </a:spcBef>
              <a:spcAft>
                <a:spcPts val="0"/>
              </a:spcAft>
              <a:buNone/>
            </a:pPr>
            <a:r>
              <a:rPr lang="en"/>
              <a:t>T</a:t>
            </a:r>
            <a:r>
              <a:rPr lang="en">
                <a:latin typeface="Roboto Light"/>
                <a:ea typeface="Roboto Light"/>
                <a:cs typeface="Roboto Light"/>
                <a:sym typeface="Roboto Light"/>
              </a:rPr>
              <a:t>wo kinds of rectangular data: </a:t>
            </a:r>
            <a:r>
              <a:rPr b="1" lang="en">
                <a:solidFill>
                  <a:schemeClr val="accent3"/>
                </a:solidFill>
                <a:latin typeface="Roboto"/>
                <a:ea typeface="Roboto"/>
                <a:cs typeface="Roboto"/>
                <a:sym typeface="Roboto"/>
              </a:rPr>
              <a:t>Tables</a:t>
            </a:r>
            <a:r>
              <a:rPr i="1" lang="en">
                <a:latin typeface="Roboto Light"/>
                <a:ea typeface="Roboto Light"/>
                <a:cs typeface="Roboto Light"/>
                <a:sym typeface="Roboto Light"/>
              </a:rPr>
              <a:t> </a:t>
            </a:r>
            <a:r>
              <a:rPr lang="en">
                <a:latin typeface="Roboto Light"/>
                <a:ea typeface="Roboto Light"/>
                <a:cs typeface="Roboto Light"/>
                <a:sym typeface="Roboto Light"/>
              </a:rPr>
              <a:t>and </a:t>
            </a:r>
            <a:r>
              <a:rPr b="1" lang="en">
                <a:latin typeface="Roboto"/>
                <a:ea typeface="Roboto"/>
                <a:cs typeface="Roboto"/>
                <a:sym typeface="Roboto"/>
              </a:rPr>
              <a:t>Matrices</a:t>
            </a:r>
            <a:r>
              <a:rPr lang="en"/>
              <a:t>.</a:t>
            </a:r>
            <a:endParaRPr>
              <a:latin typeface="Roboto Light"/>
              <a:ea typeface="Roboto Light"/>
              <a:cs typeface="Roboto Light"/>
              <a:sym typeface="Roboto Light"/>
            </a:endParaRPr>
          </a:p>
        </p:txBody>
      </p:sp>
      <p:graphicFrame>
        <p:nvGraphicFramePr>
          <p:cNvPr id="381" name="Google Shape;381;p52"/>
          <p:cNvGraphicFramePr/>
          <p:nvPr/>
        </p:nvGraphicFramePr>
        <p:xfrm>
          <a:off x="6599427" y="917933"/>
          <a:ext cx="3000000" cy="3000000"/>
        </p:xfrm>
        <a:graphic>
          <a:graphicData uri="http://schemas.openxmlformats.org/drawingml/2006/table">
            <a:tbl>
              <a:tblPr firstCol="1" firstRow="1">
                <a:noFill/>
                <a:tableStyleId>{EAFC322C-B537-4A77-A848-E48FA33A0D54}</a:tableStyleId>
              </a:tblPr>
              <a:tblGrid>
                <a:gridCol w="242750"/>
                <a:gridCol w="242750"/>
                <a:gridCol w="242750"/>
                <a:gridCol w="242750"/>
                <a:gridCol w="242750"/>
                <a:gridCol w="242750"/>
                <a:gridCol w="242750"/>
                <a:gridCol w="242750"/>
              </a:tblGrid>
              <a:tr h="269650">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tcPr>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T cap="flat" cmpd="sng" w="12700">
                      <a:solidFill>
                        <a:schemeClr val="dk1"/>
                      </a:solidFill>
                      <a:prstDash val="solid"/>
                      <a:round/>
                      <a:headEnd len="sm" w="sm" type="none"/>
                      <a:tailEnd len="sm" w="sm" type="none"/>
                    </a:lnT>
                  </a:tcPr>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T cap="flat" cmpd="sng" w="12700">
                      <a:solidFill>
                        <a:schemeClr val="dk1"/>
                      </a:solidFill>
                      <a:prstDash val="solid"/>
                      <a:round/>
                      <a:headEnd len="sm" w="sm" type="none"/>
                      <a:tailEnd len="sm" w="sm" type="none"/>
                    </a:lnT>
                  </a:tcPr>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T cap="flat" cmpd="sng" w="12700">
                      <a:solidFill>
                        <a:schemeClr val="dk1"/>
                      </a:solidFill>
                      <a:prstDash val="solid"/>
                      <a:round/>
                      <a:headEnd len="sm" w="sm" type="none"/>
                      <a:tailEnd len="sm" w="sm" type="none"/>
                    </a:lnT>
                  </a:tcPr>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T cap="flat" cmpd="sng" w="12700">
                      <a:solidFill>
                        <a:schemeClr val="dk1"/>
                      </a:solidFill>
                      <a:prstDash val="solid"/>
                      <a:round/>
                      <a:headEnd len="sm" w="sm" type="none"/>
                      <a:tailEnd len="sm" w="sm" type="none"/>
                    </a:lnT>
                  </a:tcPr>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T cap="flat" cmpd="sng" w="12700">
                      <a:solidFill>
                        <a:schemeClr val="dk1"/>
                      </a:solidFill>
                      <a:prstDash val="solid"/>
                      <a:round/>
                      <a:headEnd len="sm" w="sm" type="none"/>
                      <a:tailEnd len="sm" w="sm" type="none"/>
                    </a:lnT>
                  </a:tcPr>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T cap="flat" cmpd="sng" w="12700">
                      <a:solidFill>
                        <a:schemeClr val="dk1"/>
                      </a:solidFill>
                      <a:prstDash val="solid"/>
                      <a:round/>
                      <a:headEnd len="sm" w="sm" type="none"/>
                      <a:tailEnd len="sm" w="sm" type="none"/>
                    </a:lnT>
                  </a:tcPr>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tcPr>
                </a:tc>
              </a:tr>
              <a:tr h="269650">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L cap="flat" cmpd="sng" w="12700">
                      <a:solidFill>
                        <a:schemeClr val="dk1"/>
                      </a:solidFill>
                      <a:prstDash val="solid"/>
                      <a:round/>
                      <a:headEnd len="sm" w="sm" type="none"/>
                      <a:tailEnd len="sm" w="sm" type="none"/>
                    </a:lnL>
                  </a:tcPr>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R cap="flat" cmpd="sng" w="12700">
                      <a:solidFill>
                        <a:schemeClr val="dk1"/>
                      </a:solidFill>
                      <a:prstDash val="solid"/>
                      <a:round/>
                      <a:headEnd len="sm" w="sm" type="none"/>
                      <a:tailEnd len="sm" w="sm" type="none"/>
                    </a:lnR>
                  </a:tcPr>
                </a:tc>
              </a:tr>
              <a:tr h="269650">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L cap="flat" cmpd="sng" w="12700">
                      <a:solidFill>
                        <a:schemeClr val="dk1"/>
                      </a:solidFill>
                      <a:prstDash val="solid"/>
                      <a:round/>
                      <a:headEnd len="sm" w="sm" type="none"/>
                      <a:tailEnd len="sm" w="sm" type="none"/>
                    </a:lnL>
                  </a:tcPr>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R cap="flat" cmpd="sng" w="12700">
                      <a:solidFill>
                        <a:schemeClr val="dk1"/>
                      </a:solidFill>
                      <a:prstDash val="solid"/>
                      <a:round/>
                      <a:headEnd len="sm" w="sm" type="none"/>
                      <a:tailEnd len="sm" w="sm" type="none"/>
                    </a:lnR>
                  </a:tcPr>
                </a:tc>
              </a:tr>
              <a:tr h="269650">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L cap="flat" cmpd="sng" w="12700">
                      <a:solidFill>
                        <a:schemeClr val="dk1"/>
                      </a:solidFill>
                      <a:prstDash val="solid"/>
                      <a:round/>
                      <a:headEnd len="sm" w="sm" type="none"/>
                      <a:tailEnd len="sm" w="sm" type="none"/>
                    </a:lnL>
                  </a:tcPr>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R cap="flat" cmpd="sng" w="12700">
                      <a:solidFill>
                        <a:schemeClr val="dk1"/>
                      </a:solidFill>
                      <a:prstDash val="solid"/>
                      <a:round/>
                      <a:headEnd len="sm" w="sm" type="none"/>
                      <a:tailEnd len="sm" w="sm" type="none"/>
                    </a:lnR>
                  </a:tcPr>
                </a:tc>
              </a:tr>
              <a:tr h="269650">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L cap="flat" cmpd="sng" w="12700">
                      <a:solidFill>
                        <a:schemeClr val="dk1"/>
                      </a:solidFill>
                      <a:prstDash val="solid"/>
                      <a:round/>
                      <a:headEnd len="sm" w="sm" type="none"/>
                      <a:tailEnd len="sm" w="sm" type="none"/>
                    </a:lnL>
                  </a:tcPr>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R cap="flat" cmpd="sng" w="12700">
                      <a:solidFill>
                        <a:schemeClr val="dk1"/>
                      </a:solidFill>
                      <a:prstDash val="solid"/>
                      <a:round/>
                      <a:headEnd len="sm" w="sm" type="none"/>
                      <a:tailEnd len="sm" w="sm" type="none"/>
                    </a:lnR>
                  </a:tcPr>
                </a:tc>
              </a:tr>
              <a:tr h="269650">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L cap="flat" cmpd="sng" w="12700">
                      <a:solidFill>
                        <a:schemeClr val="dk1"/>
                      </a:solidFill>
                      <a:prstDash val="solid"/>
                      <a:round/>
                      <a:headEnd len="sm" w="sm" type="none"/>
                      <a:tailEnd len="sm" w="sm" type="none"/>
                    </a:lnL>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200">
                        <a:latin typeface="Helvetica Neue"/>
                        <a:ea typeface="Helvetica Neue"/>
                        <a:cs typeface="Helvetica Neue"/>
                        <a:sym typeface="Helvetica Neue"/>
                      </a:endParaRPr>
                    </a:p>
                  </a:txBody>
                  <a:tcPr marT="53300" marB="53300" marR="106575" marL="106575">
                    <a:lnR cap="flat" cmpd="sng" w="12700">
                      <a:solidFill>
                        <a:schemeClr val="dk1"/>
                      </a:solidFill>
                      <a:prstDash val="solid"/>
                      <a:round/>
                      <a:headEnd len="sm" w="sm" type="none"/>
                      <a:tailEnd len="sm" w="sm" type="none"/>
                    </a:lnR>
                    <a:lnB cap="flat" cmpd="sng" w="12700">
                      <a:solidFill>
                        <a:schemeClr val="dk1"/>
                      </a:solidFill>
                      <a:prstDash val="solid"/>
                      <a:round/>
                      <a:headEnd len="sm" w="sm" type="none"/>
                      <a:tailEnd len="sm" w="sm" type="none"/>
                    </a:lnB>
                  </a:tcPr>
                </a:tc>
              </a:tr>
            </a:tbl>
          </a:graphicData>
        </a:graphic>
      </p:graphicFrame>
      <p:sp>
        <p:nvSpPr>
          <p:cNvPr id="382" name="Google Shape;382;p52"/>
          <p:cNvSpPr txBox="1"/>
          <p:nvPr/>
        </p:nvSpPr>
        <p:spPr>
          <a:xfrm rot="-5400000">
            <a:off x="5516204" y="1618216"/>
            <a:ext cx="1724100" cy="3462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en" sz="1600">
                <a:solidFill>
                  <a:schemeClr val="accent4"/>
                </a:solidFill>
                <a:latin typeface="Roboto"/>
                <a:ea typeface="Roboto"/>
                <a:cs typeface="Roboto"/>
                <a:sym typeface="Roboto"/>
              </a:rPr>
              <a:t>Records</a:t>
            </a:r>
            <a:r>
              <a:rPr lang="en" sz="1600">
                <a:solidFill>
                  <a:schemeClr val="dk1"/>
                </a:solidFill>
                <a:latin typeface="Roboto Light"/>
                <a:ea typeface="Roboto Light"/>
                <a:cs typeface="Roboto Light"/>
                <a:sym typeface="Roboto Light"/>
              </a:rPr>
              <a:t>/Rows</a:t>
            </a:r>
            <a:endParaRPr sz="1600">
              <a:latin typeface="Roboto Light"/>
              <a:ea typeface="Roboto Light"/>
              <a:cs typeface="Roboto Light"/>
              <a:sym typeface="Roboto Light"/>
            </a:endParaRPr>
          </a:p>
        </p:txBody>
      </p:sp>
      <p:sp>
        <p:nvSpPr>
          <p:cNvPr id="383" name="Google Shape;383;p52"/>
          <p:cNvSpPr txBox="1"/>
          <p:nvPr/>
        </p:nvSpPr>
        <p:spPr>
          <a:xfrm>
            <a:off x="6458143" y="393611"/>
            <a:ext cx="2160600" cy="6234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en" sz="1600">
                <a:solidFill>
                  <a:schemeClr val="accent5"/>
                </a:solidFill>
                <a:latin typeface="Roboto"/>
                <a:ea typeface="Roboto"/>
                <a:cs typeface="Roboto"/>
                <a:sym typeface="Roboto"/>
              </a:rPr>
              <a:t>Fields</a:t>
            </a:r>
            <a:r>
              <a:rPr lang="en" sz="1600">
                <a:solidFill>
                  <a:schemeClr val="dk1"/>
                </a:solidFill>
                <a:latin typeface="Roboto Light"/>
                <a:ea typeface="Roboto Light"/>
                <a:cs typeface="Roboto Light"/>
                <a:sym typeface="Roboto Light"/>
              </a:rPr>
              <a:t>/Attributes/</a:t>
            </a:r>
            <a:br>
              <a:rPr lang="en" sz="1600">
                <a:solidFill>
                  <a:schemeClr val="dk1"/>
                </a:solidFill>
                <a:latin typeface="Roboto Light"/>
                <a:ea typeface="Roboto Light"/>
                <a:cs typeface="Roboto Light"/>
                <a:sym typeface="Roboto Light"/>
              </a:rPr>
            </a:br>
            <a:r>
              <a:rPr lang="en" sz="1600">
                <a:solidFill>
                  <a:schemeClr val="dk1"/>
                </a:solidFill>
                <a:latin typeface="Roboto Light"/>
                <a:ea typeface="Roboto Light"/>
                <a:cs typeface="Roboto Light"/>
                <a:sym typeface="Roboto Light"/>
              </a:rPr>
              <a:t>Features/Columns</a:t>
            </a:r>
            <a:endParaRPr sz="1600">
              <a:latin typeface="Roboto Light"/>
              <a:ea typeface="Roboto Light"/>
              <a:cs typeface="Roboto Light"/>
              <a:sym typeface="Roboto Light"/>
            </a:endParaRPr>
          </a:p>
        </p:txBody>
      </p:sp>
      <p:sp>
        <p:nvSpPr>
          <p:cNvPr id="384" name="Google Shape;384;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5" name="Google Shape;385;p52"/>
          <p:cNvSpPr txBox="1"/>
          <p:nvPr/>
        </p:nvSpPr>
        <p:spPr>
          <a:xfrm>
            <a:off x="164750" y="2911750"/>
            <a:ext cx="4251000" cy="12468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b="1" lang="en" sz="1600">
                <a:solidFill>
                  <a:schemeClr val="accent3"/>
                </a:solidFill>
                <a:latin typeface="Roboto"/>
                <a:ea typeface="Roboto"/>
                <a:cs typeface="Roboto"/>
                <a:sym typeface="Roboto"/>
              </a:rPr>
              <a:t>Tables</a:t>
            </a:r>
            <a:r>
              <a:rPr lang="en" sz="1600">
                <a:solidFill>
                  <a:schemeClr val="dk1"/>
                </a:solidFill>
                <a:latin typeface="Roboto Light"/>
                <a:ea typeface="Roboto Light"/>
                <a:cs typeface="Roboto Light"/>
                <a:sym typeface="Roboto Light"/>
              </a:rPr>
              <a:t> (</a:t>
            </a:r>
            <a:r>
              <a:rPr lang="en" sz="1600">
                <a:solidFill>
                  <a:schemeClr val="dk1"/>
                </a:solidFill>
                <a:latin typeface="Consolas"/>
                <a:ea typeface="Consolas"/>
                <a:cs typeface="Consolas"/>
                <a:sym typeface="Consolas"/>
              </a:rPr>
              <a:t>DataFrame</a:t>
            </a:r>
            <a:r>
              <a:rPr lang="en" sz="1600">
                <a:solidFill>
                  <a:schemeClr val="dk1"/>
                </a:solidFill>
                <a:latin typeface="Roboto Light"/>
                <a:ea typeface="Roboto Light"/>
                <a:cs typeface="Roboto Light"/>
                <a:sym typeface="Roboto Light"/>
              </a:rPr>
              <a:t>s in R/Python)</a:t>
            </a:r>
            <a:endParaRPr sz="1600">
              <a:solidFill>
                <a:schemeClr val="dk1"/>
              </a:solidFill>
              <a:latin typeface="Roboto Light"/>
              <a:ea typeface="Roboto Light"/>
              <a:cs typeface="Roboto Light"/>
              <a:sym typeface="Roboto Light"/>
            </a:endParaRPr>
          </a:p>
          <a:p>
            <a:pPr indent="-330200" lvl="0" marL="457200" rtl="0" algn="l">
              <a:spcBef>
                <a:spcPts val="600"/>
              </a:spcBef>
              <a:spcAft>
                <a:spcPts val="0"/>
              </a:spcAft>
              <a:buClr>
                <a:schemeClr val="dk1"/>
              </a:buClr>
              <a:buSzPts val="1600"/>
              <a:buFont typeface="Roboto Light"/>
              <a:buChar char="●"/>
            </a:pPr>
            <a:r>
              <a:rPr lang="en" sz="1600">
                <a:solidFill>
                  <a:schemeClr val="dk1"/>
                </a:solidFill>
                <a:latin typeface="Roboto Light"/>
                <a:ea typeface="Roboto Light"/>
                <a:cs typeface="Roboto Light"/>
                <a:sym typeface="Roboto Light"/>
              </a:rPr>
              <a:t>Named columns with </a:t>
            </a:r>
            <a:r>
              <a:rPr b="1" lang="en" sz="1600">
                <a:solidFill>
                  <a:schemeClr val="dk1"/>
                </a:solidFill>
                <a:latin typeface="Roboto"/>
                <a:ea typeface="Roboto"/>
                <a:cs typeface="Roboto"/>
                <a:sym typeface="Roboto"/>
              </a:rPr>
              <a:t>different</a:t>
            </a:r>
            <a:r>
              <a:rPr lang="en" sz="1600">
                <a:solidFill>
                  <a:schemeClr val="dk1"/>
                </a:solidFill>
                <a:latin typeface="Roboto Light"/>
                <a:ea typeface="Roboto Light"/>
                <a:cs typeface="Roboto Light"/>
                <a:sym typeface="Roboto Light"/>
              </a:rPr>
              <a:t> types</a:t>
            </a:r>
            <a:endParaRPr sz="1600">
              <a:solidFill>
                <a:schemeClr val="dk1"/>
              </a:solidFill>
              <a:latin typeface="Roboto Light"/>
              <a:ea typeface="Roboto Light"/>
              <a:cs typeface="Roboto Light"/>
              <a:sym typeface="Roboto Light"/>
            </a:endParaRPr>
          </a:p>
          <a:p>
            <a:pPr indent="-330200" lvl="0" marL="457200" rtl="0" algn="l">
              <a:spcBef>
                <a:spcPts val="0"/>
              </a:spcBef>
              <a:spcAft>
                <a:spcPts val="0"/>
              </a:spcAft>
              <a:buClr>
                <a:schemeClr val="dk1"/>
              </a:buClr>
              <a:buSzPts val="1600"/>
              <a:buFont typeface="Roboto Light"/>
              <a:buChar char="●"/>
            </a:pPr>
            <a:r>
              <a:rPr lang="en" sz="1600">
                <a:solidFill>
                  <a:schemeClr val="dk1"/>
                </a:solidFill>
                <a:latin typeface="Roboto Light"/>
                <a:ea typeface="Roboto Light"/>
                <a:cs typeface="Roboto Light"/>
                <a:sym typeface="Roboto Light"/>
              </a:rPr>
              <a:t>Manipulated w/ data transformation functions (group by, join, filter …)</a:t>
            </a:r>
            <a:endParaRPr sz="1600">
              <a:latin typeface="Roboto Light"/>
              <a:ea typeface="Roboto Light"/>
              <a:cs typeface="Roboto Light"/>
              <a:sym typeface="Roboto Light"/>
            </a:endParaRPr>
          </a:p>
        </p:txBody>
      </p:sp>
      <p:sp>
        <p:nvSpPr>
          <p:cNvPr id="386" name="Google Shape;386;p52"/>
          <p:cNvSpPr txBox="1"/>
          <p:nvPr/>
        </p:nvSpPr>
        <p:spPr>
          <a:xfrm>
            <a:off x="4668650" y="2911750"/>
            <a:ext cx="3950100" cy="14931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b="1" lang="en" sz="1600">
                <a:solidFill>
                  <a:schemeClr val="dk1"/>
                </a:solidFill>
                <a:latin typeface="Roboto"/>
                <a:ea typeface="Roboto"/>
                <a:cs typeface="Roboto"/>
                <a:sym typeface="Roboto"/>
              </a:rPr>
              <a:t>Matrices</a:t>
            </a:r>
            <a:endParaRPr b="1" sz="1600">
              <a:solidFill>
                <a:schemeClr val="dk1"/>
              </a:solidFill>
              <a:latin typeface="Roboto"/>
              <a:ea typeface="Roboto"/>
              <a:cs typeface="Roboto"/>
              <a:sym typeface="Roboto"/>
            </a:endParaRPr>
          </a:p>
          <a:p>
            <a:pPr indent="-330200" lvl="0" marL="457200" rtl="0" algn="l">
              <a:spcBef>
                <a:spcPts val="600"/>
              </a:spcBef>
              <a:spcAft>
                <a:spcPts val="0"/>
              </a:spcAft>
              <a:buClr>
                <a:schemeClr val="dk1"/>
              </a:buClr>
              <a:buSzPts val="1600"/>
              <a:buFont typeface="Roboto Light"/>
              <a:buChar char="●"/>
            </a:pPr>
            <a:r>
              <a:rPr b="1" lang="en" sz="1600">
                <a:solidFill>
                  <a:schemeClr val="dk1"/>
                </a:solidFill>
                <a:latin typeface="Roboto"/>
                <a:ea typeface="Roboto"/>
                <a:cs typeface="Roboto"/>
                <a:sym typeface="Roboto"/>
              </a:rPr>
              <a:t>Numeric</a:t>
            </a:r>
            <a:r>
              <a:rPr lang="en" sz="1600">
                <a:solidFill>
                  <a:schemeClr val="dk1"/>
                </a:solidFill>
                <a:latin typeface="Roboto Light"/>
                <a:ea typeface="Roboto Light"/>
                <a:cs typeface="Roboto Light"/>
                <a:sym typeface="Roboto Light"/>
              </a:rPr>
              <a:t> data of the </a:t>
            </a:r>
            <a:r>
              <a:rPr b="1" lang="en" sz="1600">
                <a:solidFill>
                  <a:schemeClr val="dk1"/>
                </a:solidFill>
                <a:latin typeface="Roboto"/>
                <a:ea typeface="Roboto"/>
                <a:cs typeface="Roboto"/>
                <a:sym typeface="Roboto"/>
              </a:rPr>
              <a:t>same</a:t>
            </a:r>
            <a:r>
              <a:rPr lang="en" sz="1600">
                <a:solidFill>
                  <a:schemeClr val="dk1"/>
                </a:solidFill>
                <a:latin typeface="Roboto Light"/>
                <a:ea typeface="Roboto Light"/>
                <a:cs typeface="Roboto Light"/>
                <a:sym typeface="Roboto Light"/>
              </a:rPr>
              <a:t> type (float, int, etc.)</a:t>
            </a:r>
            <a:endParaRPr sz="1600">
              <a:solidFill>
                <a:schemeClr val="dk1"/>
              </a:solidFill>
              <a:latin typeface="Roboto Light"/>
              <a:ea typeface="Roboto Light"/>
              <a:cs typeface="Roboto Light"/>
              <a:sym typeface="Roboto Light"/>
            </a:endParaRPr>
          </a:p>
          <a:p>
            <a:pPr indent="-330200" lvl="0" marL="457200" rtl="0" algn="l">
              <a:spcBef>
                <a:spcPts val="0"/>
              </a:spcBef>
              <a:spcAft>
                <a:spcPts val="0"/>
              </a:spcAft>
              <a:buClr>
                <a:schemeClr val="dk1"/>
              </a:buClr>
              <a:buSzPts val="1600"/>
              <a:buFont typeface="Roboto Light"/>
              <a:buChar char="●"/>
            </a:pPr>
            <a:r>
              <a:rPr lang="en" sz="1600">
                <a:solidFill>
                  <a:schemeClr val="dk1"/>
                </a:solidFill>
                <a:latin typeface="Roboto Light"/>
                <a:ea typeface="Roboto Light"/>
                <a:cs typeface="Roboto Light"/>
                <a:sym typeface="Roboto Light"/>
              </a:rPr>
              <a:t>Manipulated w/ linear algebra </a:t>
            </a:r>
            <a:endParaRPr sz="1600">
              <a:solidFill>
                <a:schemeClr val="dk1"/>
              </a:solidFill>
              <a:latin typeface="Roboto Light"/>
              <a:ea typeface="Roboto Light"/>
              <a:cs typeface="Roboto Light"/>
              <a:sym typeface="Roboto Light"/>
            </a:endParaRPr>
          </a:p>
          <a:p>
            <a:pPr indent="-330200" lvl="0" marL="457200" rtl="0" algn="l">
              <a:spcBef>
                <a:spcPts val="0"/>
              </a:spcBef>
              <a:spcAft>
                <a:spcPts val="0"/>
              </a:spcAft>
              <a:buClr>
                <a:schemeClr val="dk1"/>
              </a:buClr>
              <a:buSzPts val="1600"/>
              <a:buFont typeface="Roboto Light"/>
              <a:buChar char="●"/>
            </a:pPr>
            <a:r>
              <a:rPr lang="en" sz="1600">
                <a:solidFill>
                  <a:schemeClr val="dk1"/>
                </a:solidFill>
                <a:latin typeface="Roboto Light"/>
                <a:ea typeface="Roboto Light"/>
                <a:cs typeface="Roboto Light"/>
                <a:sym typeface="Roboto Light"/>
              </a:rPr>
              <a:t>Faster computation, but less flexible</a:t>
            </a:r>
            <a:endParaRPr sz="1600">
              <a:solidFill>
                <a:schemeClr val="dk1"/>
              </a:solidFill>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2" name="Google Shape;392;p53"/>
          <p:cNvSpPr txBox="1"/>
          <p:nvPr>
            <p:ph idx="1" type="body"/>
          </p:nvPr>
        </p:nvSpPr>
        <p:spPr>
          <a:xfrm>
            <a:off x="4882900" y="448050"/>
            <a:ext cx="3950100" cy="4124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latin typeface="Roboto"/>
                <a:ea typeface="Roboto"/>
                <a:cs typeface="Roboto"/>
                <a:sym typeface="Roboto"/>
              </a:rPr>
              <a:t>Structure </a:t>
            </a:r>
            <a:r>
              <a:rPr lang="en"/>
              <a:t>-- the "shape" of a data file</a:t>
            </a:r>
            <a:endParaRPr/>
          </a:p>
          <a:p>
            <a:pPr indent="0" lvl="0" marL="0" rtl="0" algn="l">
              <a:spcBef>
                <a:spcPts val="600"/>
              </a:spcBef>
              <a:spcAft>
                <a:spcPts val="0"/>
              </a:spcAft>
              <a:buNone/>
            </a:pPr>
            <a:r>
              <a:t/>
            </a:r>
            <a:endParaRPr/>
          </a:p>
          <a:p>
            <a:pPr indent="0" lvl="0" marL="0" rtl="0" algn="l">
              <a:spcBef>
                <a:spcPts val="600"/>
              </a:spcBef>
              <a:spcAft>
                <a:spcPts val="0"/>
              </a:spcAft>
              <a:buNone/>
            </a:pPr>
            <a:r>
              <a:rPr b="1" lang="en">
                <a:solidFill>
                  <a:schemeClr val="dk2"/>
                </a:solidFill>
                <a:latin typeface="Roboto"/>
                <a:ea typeface="Roboto"/>
                <a:cs typeface="Roboto"/>
                <a:sym typeface="Roboto"/>
              </a:rPr>
              <a:t>Granularity</a:t>
            </a:r>
            <a:r>
              <a:rPr lang="en">
                <a:solidFill>
                  <a:schemeClr val="dk2"/>
                </a:solidFill>
              </a:rPr>
              <a:t> -- how fine/coarse is each datum</a:t>
            </a:r>
            <a:endParaRPr>
              <a:solidFill>
                <a:schemeClr val="dk2"/>
              </a:solidFill>
            </a:endParaRPr>
          </a:p>
          <a:p>
            <a:pPr indent="0" lvl="0" marL="0" rtl="0" algn="l">
              <a:spcBef>
                <a:spcPts val="600"/>
              </a:spcBef>
              <a:spcAft>
                <a:spcPts val="0"/>
              </a:spcAft>
              <a:buNone/>
            </a:pPr>
            <a:r>
              <a:t/>
            </a:r>
            <a:endParaRPr>
              <a:solidFill>
                <a:schemeClr val="dk2"/>
              </a:solidFill>
            </a:endParaRPr>
          </a:p>
          <a:p>
            <a:pPr indent="0" lvl="0" marL="0" rtl="0" algn="l">
              <a:spcBef>
                <a:spcPts val="600"/>
              </a:spcBef>
              <a:spcAft>
                <a:spcPts val="0"/>
              </a:spcAft>
              <a:buNone/>
            </a:pPr>
            <a:r>
              <a:rPr b="1" lang="en">
                <a:solidFill>
                  <a:schemeClr val="dk2"/>
                </a:solidFill>
                <a:latin typeface="Roboto"/>
                <a:ea typeface="Roboto"/>
                <a:cs typeface="Roboto"/>
                <a:sym typeface="Roboto"/>
              </a:rPr>
              <a:t>Temporality</a:t>
            </a:r>
            <a:r>
              <a:rPr lang="en">
                <a:solidFill>
                  <a:schemeClr val="dk2"/>
                </a:solidFill>
              </a:rPr>
              <a:t> -- how is the data situated in time</a:t>
            </a:r>
            <a:endParaRPr>
              <a:solidFill>
                <a:schemeClr val="dk2"/>
              </a:solidFill>
            </a:endParaRPr>
          </a:p>
          <a:p>
            <a:pPr indent="0" lvl="0" marL="0" rtl="0" algn="l">
              <a:spcBef>
                <a:spcPts val="600"/>
              </a:spcBef>
              <a:spcAft>
                <a:spcPts val="0"/>
              </a:spcAft>
              <a:buNone/>
            </a:pPr>
            <a:r>
              <a:t/>
            </a:r>
            <a:endParaRPr>
              <a:solidFill>
                <a:schemeClr val="dk2"/>
              </a:solidFill>
            </a:endParaRPr>
          </a:p>
          <a:p>
            <a:pPr indent="0" lvl="0" marL="0" rtl="0" algn="l">
              <a:spcBef>
                <a:spcPts val="600"/>
              </a:spcBef>
              <a:spcAft>
                <a:spcPts val="0"/>
              </a:spcAft>
              <a:buNone/>
            </a:pPr>
            <a:r>
              <a:rPr b="1" lang="en">
                <a:solidFill>
                  <a:schemeClr val="dk2"/>
                </a:solidFill>
                <a:latin typeface="Roboto"/>
                <a:ea typeface="Roboto"/>
                <a:cs typeface="Roboto"/>
                <a:sym typeface="Roboto"/>
              </a:rPr>
              <a:t>Faithfulness</a:t>
            </a:r>
            <a:r>
              <a:rPr lang="en">
                <a:solidFill>
                  <a:schemeClr val="dk2"/>
                </a:solidFill>
              </a:rPr>
              <a:t> -- how well does the data capture "reality"</a:t>
            </a:r>
            <a:endParaRPr>
              <a:solidFill>
                <a:schemeClr val="dk2"/>
              </a:solidFill>
            </a:endParaRPr>
          </a:p>
        </p:txBody>
      </p:sp>
      <p:sp>
        <p:nvSpPr>
          <p:cNvPr id="393" name="Google Shape;393;p53"/>
          <p:cNvSpPr/>
          <p:nvPr/>
        </p:nvSpPr>
        <p:spPr>
          <a:xfrm flipH="1">
            <a:off x="3995325" y="398875"/>
            <a:ext cx="801300" cy="728700"/>
          </a:xfrm>
          <a:prstGeom prst="lef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53"/>
          <p:cNvSpPr txBox="1"/>
          <p:nvPr>
            <p:ph idx="2" type="body"/>
          </p:nvPr>
        </p:nvSpPr>
        <p:spPr>
          <a:xfrm>
            <a:off x="2307375" y="448050"/>
            <a:ext cx="2264700" cy="6279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b="1" lang="en" sz="1800">
                <a:solidFill>
                  <a:schemeClr val="accent3"/>
                </a:solidFill>
                <a:latin typeface="Roboto"/>
                <a:ea typeface="Roboto"/>
                <a:cs typeface="Roboto"/>
                <a:sym typeface="Roboto"/>
              </a:rPr>
              <a:t>Variable Type</a:t>
            </a:r>
            <a:endParaRPr b="1" sz="1800">
              <a:solidFill>
                <a:schemeClr val="accent3"/>
              </a:solidFill>
              <a:latin typeface="Roboto"/>
              <a:ea typeface="Roboto"/>
              <a:cs typeface="Roboto"/>
              <a:sym typeface="Roboto"/>
            </a:endParaRPr>
          </a:p>
          <a:p>
            <a:pPr indent="0" lvl="0" marL="0" rtl="0" algn="l">
              <a:spcBef>
                <a:spcPts val="400"/>
              </a:spcBef>
              <a:spcAft>
                <a:spcPts val="0"/>
              </a:spcAft>
              <a:buNone/>
            </a:pPr>
            <a:r>
              <a:rPr lang="en" sz="1800"/>
              <a:t>Multiple Files</a:t>
            </a:r>
            <a:endParaRPr sz="1800"/>
          </a:p>
          <a:p>
            <a:pPr indent="0" lvl="0" marL="0" rtl="0" algn="l">
              <a:spcBef>
                <a:spcPts val="400"/>
              </a:spcBef>
              <a:spcAft>
                <a:spcPts val="0"/>
              </a:spcAft>
              <a:buNone/>
            </a:pPr>
            <a:r>
              <a:rPr lang="en" sz="1800"/>
              <a:t>File Format</a:t>
            </a:r>
            <a:endParaRPr>
              <a:solidFill>
                <a:schemeClr val="accent3"/>
              </a:solidFill>
            </a:endParaRPr>
          </a:p>
        </p:txBody>
      </p:sp>
      <p:sp>
        <p:nvSpPr>
          <p:cNvPr id="395" name="Google Shape;395;p53"/>
          <p:cNvSpPr txBox="1"/>
          <p:nvPr/>
        </p:nvSpPr>
        <p:spPr>
          <a:xfrm>
            <a:off x="177925" y="2313850"/>
            <a:ext cx="4038000" cy="2037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rgbClr val="0B5394"/>
                </a:solidFill>
                <a:latin typeface="Roboto Medium"/>
                <a:ea typeface="Roboto Medium"/>
                <a:cs typeface="Roboto Medium"/>
                <a:sym typeface="Roboto Medium"/>
              </a:rPr>
              <a:t>Key Data Properties to Consider in EDA</a:t>
            </a:r>
            <a:endParaRPr sz="3600">
              <a:solidFill>
                <a:srgbClr val="0B5394"/>
              </a:solidFill>
              <a:latin typeface="Roboto Medium"/>
              <a:ea typeface="Roboto Medium"/>
              <a:cs typeface="Roboto Medium"/>
              <a:sym typeface="Roboto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4"/>
          <p:cNvSpPr/>
          <p:nvPr/>
        </p:nvSpPr>
        <p:spPr>
          <a:xfrm>
            <a:off x="1349880" y="1453275"/>
            <a:ext cx="1898400" cy="610800"/>
          </a:xfrm>
          <a:prstGeom prst="roundRect">
            <a:avLst>
              <a:gd fmla="val 16667" name="adj"/>
            </a:avLst>
          </a:prstGeom>
          <a:solidFill>
            <a:schemeClr val="lt1"/>
          </a:solidFill>
          <a:ln cap="flat" cmpd="sng" w="28575">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800">
                <a:solidFill>
                  <a:schemeClr val="accent3"/>
                </a:solidFill>
                <a:latin typeface="Roboto"/>
                <a:ea typeface="Roboto"/>
                <a:cs typeface="Roboto"/>
                <a:sym typeface="Roboto"/>
              </a:rPr>
              <a:t>Quantitative</a:t>
            </a:r>
            <a:endParaRPr b="1" sz="1100">
              <a:solidFill>
                <a:schemeClr val="accent3"/>
              </a:solidFill>
              <a:latin typeface="Roboto"/>
              <a:ea typeface="Roboto"/>
              <a:cs typeface="Roboto"/>
              <a:sym typeface="Roboto"/>
            </a:endParaRPr>
          </a:p>
        </p:txBody>
      </p:sp>
      <p:sp>
        <p:nvSpPr>
          <p:cNvPr id="402" name="Google Shape;402;p54"/>
          <p:cNvSpPr/>
          <p:nvPr/>
        </p:nvSpPr>
        <p:spPr>
          <a:xfrm>
            <a:off x="5481679" y="1453275"/>
            <a:ext cx="1898400" cy="610800"/>
          </a:xfrm>
          <a:prstGeom prst="roundRect">
            <a:avLst>
              <a:gd fmla="val 16667" name="adj"/>
            </a:avLst>
          </a:prstGeom>
          <a:solidFill>
            <a:schemeClr val="lt1"/>
          </a:solidFill>
          <a:ln cap="flat" cmpd="sng" w="28575">
            <a:solidFill>
              <a:schemeClr val="accent4"/>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800">
                <a:solidFill>
                  <a:schemeClr val="accent4"/>
                </a:solidFill>
                <a:latin typeface="Roboto"/>
                <a:ea typeface="Roboto"/>
                <a:cs typeface="Roboto"/>
                <a:sym typeface="Roboto"/>
              </a:rPr>
              <a:t>Qualitative</a:t>
            </a:r>
            <a:r>
              <a:rPr b="1" lang="en" sz="1400">
                <a:solidFill>
                  <a:schemeClr val="accent4"/>
                </a:solidFill>
                <a:latin typeface="Roboto"/>
                <a:ea typeface="Roboto"/>
                <a:cs typeface="Roboto"/>
                <a:sym typeface="Roboto"/>
              </a:rPr>
              <a:t> </a:t>
            </a:r>
            <a:br>
              <a:rPr b="1" lang="en" sz="1400">
                <a:solidFill>
                  <a:schemeClr val="accent4"/>
                </a:solidFill>
                <a:latin typeface="Roboto"/>
                <a:ea typeface="Roboto"/>
                <a:cs typeface="Roboto"/>
                <a:sym typeface="Roboto"/>
              </a:rPr>
            </a:br>
            <a:r>
              <a:rPr b="1" lang="en" sz="1400">
                <a:solidFill>
                  <a:schemeClr val="accent4"/>
                </a:solidFill>
                <a:latin typeface="Roboto"/>
                <a:ea typeface="Roboto"/>
                <a:cs typeface="Roboto"/>
                <a:sym typeface="Roboto"/>
              </a:rPr>
              <a:t>(categorical)</a:t>
            </a:r>
            <a:endParaRPr b="1" sz="1100">
              <a:solidFill>
                <a:schemeClr val="accent4"/>
              </a:solidFill>
              <a:latin typeface="Roboto"/>
              <a:ea typeface="Roboto"/>
              <a:cs typeface="Roboto"/>
              <a:sym typeface="Roboto"/>
            </a:endParaRPr>
          </a:p>
        </p:txBody>
      </p:sp>
      <p:sp>
        <p:nvSpPr>
          <p:cNvPr id="403" name="Google Shape;403;p54"/>
          <p:cNvSpPr/>
          <p:nvPr/>
        </p:nvSpPr>
        <p:spPr>
          <a:xfrm>
            <a:off x="3500236" y="482470"/>
            <a:ext cx="2112900" cy="666000"/>
          </a:xfrm>
          <a:prstGeom prst="roundRect">
            <a:avLst>
              <a:gd fmla="val 16667" name="adj"/>
            </a:avLst>
          </a:prstGeom>
          <a:solidFill>
            <a:schemeClr val="lt1"/>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3300">
                <a:solidFill>
                  <a:schemeClr val="dk1"/>
                </a:solidFill>
                <a:latin typeface="Roboto Light"/>
                <a:ea typeface="Roboto Light"/>
                <a:cs typeface="Roboto Light"/>
                <a:sym typeface="Roboto Light"/>
              </a:rPr>
              <a:t>Variable</a:t>
            </a:r>
            <a:endParaRPr sz="1100">
              <a:solidFill>
                <a:schemeClr val="dk1"/>
              </a:solidFill>
              <a:latin typeface="Roboto Light"/>
              <a:ea typeface="Roboto Light"/>
              <a:cs typeface="Roboto Light"/>
              <a:sym typeface="Roboto Light"/>
            </a:endParaRPr>
          </a:p>
        </p:txBody>
      </p:sp>
      <p:sp>
        <p:nvSpPr>
          <p:cNvPr id="404" name="Google Shape;404;p54"/>
          <p:cNvSpPr txBox="1"/>
          <p:nvPr/>
        </p:nvSpPr>
        <p:spPr>
          <a:xfrm>
            <a:off x="1405425" y="2499976"/>
            <a:ext cx="1551300" cy="1041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a:solidFill>
                  <a:schemeClr val="dk1"/>
                </a:solidFill>
                <a:latin typeface="Roboto"/>
                <a:ea typeface="Roboto"/>
                <a:cs typeface="Roboto"/>
                <a:sym typeface="Roboto"/>
              </a:rPr>
              <a:t>Examples:</a:t>
            </a:r>
            <a:endParaRPr b="1" sz="1000">
              <a:latin typeface="Roboto"/>
              <a:ea typeface="Roboto"/>
              <a:cs typeface="Roboto"/>
              <a:sym typeface="Roboto"/>
            </a:endParaRPr>
          </a:p>
          <a:p>
            <a:pPr indent="-203200" lvl="0" marL="215900" marR="0" rtl="0" algn="l">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Price</a:t>
            </a:r>
            <a:endParaRPr sz="1000">
              <a:latin typeface="Roboto Light"/>
              <a:ea typeface="Roboto Light"/>
              <a:cs typeface="Roboto Light"/>
              <a:sym typeface="Roboto Light"/>
            </a:endParaRPr>
          </a:p>
          <a:p>
            <a:pPr indent="-203200" lvl="0" marL="215900" marR="0" rtl="0" algn="l">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Temperature</a:t>
            </a:r>
            <a:endParaRPr>
              <a:solidFill>
                <a:schemeClr val="dk1"/>
              </a:solidFill>
              <a:latin typeface="Roboto Light"/>
              <a:ea typeface="Roboto Light"/>
              <a:cs typeface="Roboto Light"/>
              <a:sym typeface="Roboto Light"/>
            </a:endParaRPr>
          </a:p>
          <a:p>
            <a:pPr indent="-184150" lvl="0" marL="215900" marR="0" rtl="0" algn="l">
              <a:spcBef>
                <a:spcPts val="0"/>
              </a:spcBef>
              <a:spcAft>
                <a:spcPts val="0"/>
              </a:spcAft>
              <a:buClr>
                <a:schemeClr val="dk1"/>
              </a:buClr>
              <a:buSzPts val="1100"/>
              <a:buFont typeface="Roboto Light"/>
              <a:buChar char="•"/>
            </a:pPr>
            <a:r>
              <a:rPr lang="en">
                <a:solidFill>
                  <a:schemeClr val="dk1"/>
                </a:solidFill>
                <a:latin typeface="Roboto Light"/>
                <a:ea typeface="Roboto Light"/>
                <a:cs typeface="Roboto Light"/>
                <a:sym typeface="Roboto Light"/>
              </a:rPr>
              <a:t>Age</a:t>
            </a:r>
            <a:endParaRPr>
              <a:solidFill>
                <a:schemeClr val="dk1"/>
              </a:solidFill>
              <a:latin typeface="Roboto Light"/>
              <a:ea typeface="Roboto Light"/>
              <a:cs typeface="Roboto Light"/>
              <a:sym typeface="Roboto Light"/>
            </a:endParaRPr>
          </a:p>
        </p:txBody>
      </p:sp>
      <p:sp>
        <p:nvSpPr>
          <p:cNvPr id="405" name="Google Shape;405;p54"/>
          <p:cNvSpPr txBox="1"/>
          <p:nvPr/>
        </p:nvSpPr>
        <p:spPr>
          <a:xfrm>
            <a:off x="990025" y="2112675"/>
            <a:ext cx="2618100" cy="3387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en" sz="1500">
                <a:solidFill>
                  <a:schemeClr val="dk1"/>
                </a:solidFill>
                <a:latin typeface="Roboto Light"/>
                <a:ea typeface="Roboto Light"/>
                <a:cs typeface="Roboto Light"/>
                <a:sym typeface="Roboto Light"/>
              </a:rPr>
              <a:t>Measurable</a:t>
            </a:r>
            <a:r>
              <a:rPr lang="en" sz="1500">
                <a:solidFill>
                  <a:schemeClr val="dk1"/>
                </a:solidFill>
                <a:latin typeface="Roboto Light"/>
                <a:ea typeface="Roboto Light"/>
                <a:cs typeface="Roboto Light"/>
                <a:sym typeface="Roboto Light"/>
              </a:rPr>
              <a:t> numerical values</a:t>
            </a:r>
            <a:endParaRPr sz="1100">
              <a:latin typeface="Roboto Light"/>
              <a:ea typeface="Roboto Light"/>
              <a:cs typeface="Roboto Light"/>
              <a:sym typeface="Roboto Light"/>
            </a:endParaRPr>
          </a:p>
        </p:txBody>
      </p:sp>
      <p:sp>
        <p:nvSpPr>
          <p:cNvPr id="406" name="Google Shape;406;p54"/>
          <p:cNvSpPr txBox="1"/>
          <p:nvPr/>
        </p:nvSpPr>
        <p:spPr>
          <a:xfrm>
            <a:off x="4481825" y="3805375"/>
            <a:ext cx="2257500" cy="125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a:solidFill>
                  <a:schemeClr val="dk1"/>
                </a:solidFill>
                <a:latin typeface="Roboto"/>
                <a:ea typeface="Roboto"/>
                <a:cs typeface="Roboto"/>
                <a:sym typeface="Roboto"/>
              </a:rPr>
              <a:t>Examples:</a:t>
            </a:r>
            <a:endParaRPr b="1" sz="1000">
              <a:latin typeface="Roboto"/>
              <a:ea typeface="Roboto"/>
              <a:cs typeface="Roboto"/>
              <a:sym typeface="Roboto"/>
            </a:endParaRPr>
          </a:p>
          <a:p>
            <a:pPr indent="-203200" lvl="0" marL="215900" marR="0" rtl="0" algn="l">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Grade level</a:t>
            </a:r>
            <a:endParaRPr>
              <a:solidFill>
                <a:schemeClr val="dk1"/>
              </a:solidFill>
              <a:latin typeface="Roboto Light"/>
              <a:ea typeface="Roboto Light"/>
              <a:cs typeface="Roboto Light"/>
              <a:sym typeface="Roboto Light"/>
            </a:endParaRPr>
          </a:p>
          <a:p>
            <a:pPr indent="-184150" lvl="0" marL="215900" marR="0" rtl="0" algn="l">
              <a:spcBef>
                <a:spcPts val="0"/>
              </a:spcBef>
              <a:spcAft>
                <a:spcPts val="0"/>
              </a:spcAft>
              <a:buClr>
                <a:schemeClr val="dk1"/>
              </a:buClr>
              <a:buSzPts val="1100"/>
              <a:buFont typeface="Roboto Light"/>
              <a:buChar char="•"/>
            </a:pPr>
            <a:r>
              <a:rPr lang="en">
                <a:solidFill>
                  <a:schemeClr val="dk1"/>
                </a:solidFill>
                <a:latin typeface="Roboto Light"/>
                <a:ea typeface="Roboto Light"/>
                <a:cs typeface="Roboto Light"/>
                <a:sym typeface="Roboto Light"/>
              </a:rPr>
              <a:t>Age group</a:t>
            </a:r>
            <a:endParaRPr>
              <a:solidFill>
                <a:schemeClr val="dk1"/>
              </a:solidFill>
              <a:latin typeface="Roboto Light"/>
              <a:ea typeface="Roboto Light"/>
              <a:cs typeface="Roboto Light"/>
              <a:sym typeface="Roboto Light"/>
            </a:endParaRPr>
          </a:p>
        </p:txBody>
      </p:sp>
      <p:sp>
        <p:nvSpPr>
          <p:cNvPr id="407" name="Google Shape;407;p54"/>
          <p:cNvSpPr txBox="1"/>
          <p:nvPr/>
        </p:nvSpPr>
        <p:spPr>
          <a:xfrm>
            <a:off x="6762500" y="3709977"/>
            <a:ext cx="2011200" cy="9531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a:solidFill>
                  <a:schemeClr val="dk1"/>
                </a:solidFill>
                <a:latin typeface="Roboto"/>
                <a:ea typeface="Roboto"/>
                <a:cs typeface="Roboto"/>
                <a:sym typeface="Roboto"/>
              </a:rPr>
              <a:t>Examples:</a:t>
            </a:r>
            <a:endParaRPr b="1" sz="1000">
              <a:latin typeface="Roboto"/>
              <a:ea typeface="Roboto"/>
              <a:cs typeface="Roboto"/>
              <a:sym typeface="Roboto"/>
            </a:endParaRPr>
          </a:p>
          <a:p>
            <a:pPr indent="-203200" lvl="0" marL="215900" marR="0" rtl="0" algn="l">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Phone brand</a:t>
            </a:r>
            <a:endParaRPr>
              <a:solidFill>
                <a:schemeClr val="dk1"/>
              </a:solidFill>
              <a:latin typeface="Roboto Light"/>
              <a:ea typeface="Roboto Light"/>
              <a:cs typeface="Roboto Light"/>
              <a:sym typeface="Roboto Light"/>
            </a:endParaRPr>
          </a:p>
          <a:p>
            <a:pPr indent="-203200" lvl="0" marL="215900" marR="0" rtl="0" algn="l">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Randomly assigned ID numbers</a:t>
            </a:r>
            <a:endParaRPr>
              <a:solidFill>
                <a:schemeClr val="dk1"/>
              </a:solidFill>
              <a:latin typeface="Roboto Light"/>
              <a:ea typeface="Roboto Light"/>
              <a:cs typeface="Roboto Light"/>
              <a:sym typeface="Roboto Light"/>
            </a:endParaRPr>
          </a:p>
        </p:txBody>
      </p:sp>
      <p:sp>
        <p:nvSpPr>
          <p:cNvPr id="408" name="Google Shape;408;p54"/>
          <p:cNvSpPr txBox="1"/>
          <p:nvPr/>
        </p:nvSpPr>
        <p:spPr>
          <a:xfrm>
            <a:off x="4263250" y="3397525"/>
            <a:ext cx="2109000" cy="7620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en" sz="1500" u="sng">
                <a:solidFill>
                  <a:schemeClr val="dk1"/>
                </a:solidFill>
                <a:latin typeface="Roboto Light"/>
                <a:ea typeface="Roboto Light"/>
                <a:cs typeface="Roboto Light"/>
                <a:sym typeface="Roboto Light"/>
              </a:rPr>
              <a:t>Ord</a:t>
            </a:r>
            <a:r>
              <a:rPr lang="en" sz="1500">
                <a:solidFill>
                  <a:schemeClr val="dk1"/>
                </a:solidFill>
                <a:latin typeface="Roboto Light"/>
                <a:ea typeface="Roboto Light"/>
                <a:cs typeface="Roboto Light"/>
                <a:sym typeface="Roboto Light"/>
              </a:rPr>
              <a:t>ered categories</a:t>
            </a:r>
            <a:endParaRPr sz="1100">
              <a:latin typeface="Roboto Light"/>
              <a:ea typeface="Roboto Light"/>
              <a:cs typeface="Roboto Light"/>
              <a:sym typeface="Roboto Light"/>
            </a:endParaRPr>
          </a:p>
        </p:txBody>
      </p:sp>
      <p:sp>
        <p:nvSpPr>
          <p:cNvPr id="409" name="Google Shape;409;p54"/>
          <p:cNvSpPr txBox="1"/>
          <p:nvPr/>
        </p:nvSpPr>
        <p:spPr>
          <a:xfrm>
            <a:off x="6546200" y="3397525"/>
            <a:ext cx="2197200" cy="3387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en" sz="1500">
                <a:solidFill>
                  <a:schemeClr val="dk1"/>
                </a:solidFill>
                <a:latin typeface="Roboto Light"/>
                <a:ea typeface="Roboto Light"/>
                <a:cs typeface="Roboto Light"/>
                <a:sym typeface="Roboto Light"/>
              </a:rPr>
              <a:t>Unordered categories</a:t>
            </a:r>
            <a:endParaRPr sz="1100">
              <a:latin typeface="Roboto Light"/>
              <a:ea typeface="Roboto Light"/>
              <a:cs typeface="Roboto Light"/>
              <a:sym typeface="Roboto Light"/>
            </a:endParaRPr>
          </a:p>
        </p:txBody>
      </p:sp>
      <p:cxnSp>
        <p:nvCxnSpPr>
          <p:cNvPr id="410" name="Google Shape;410;p54"/>
          <p:cNvCxnSpPr>
            <a:stCxn id="403" idx="2"/>
            <a:endCxn id="401" idx="0"/>
          </p:cNvCxnSpPr>
          <p:nvPr/>
        </p:nvCxnSpPr>
        <p:spPr>
          <a:xfrm flipH="1">
            <a:off x="2299186" y="1148470"/>
            <a:ext cx="2257500" cy="304800"/>
          </a:xfrm>
          <a:prstGeom prst="straightConnector1">
            <a:avLst/>
          </a:prstGeom>
          <a:noFill/>
          <a:ln cap="flat" cmpd="sng" w="28575">
            <a:solidFill>
              <a:schemeClr val="dk1"/>
            </a:solidFill>
            <a:prstDash val="solid"/>
            <a:miter lim="800000"/>
            <a:headEnd len="sm" w="sm" type="none"/>
            <a:tailEnd len="med" w="med" type="triangle"/>
          </a:ln>
        </p:spPr>
      </p:cxnSp>
      <p:cxnSp>
        <p:nvCxnSpPr>
          <p:cNvPr id="411" name="Google Shape;411;p54"/>
          <p:cNvCxnSpPr>
            <a:stCxn id="403" idx="2"/>
            <a:endCxn id="402" idx="0"/>
          </p:cNvCxnSpPr>
          <p:nvPr/>
        </p:nvCxnSpPr>
        <p:spPr>
          <a:xfrm>
            <a:off x="4556686" y="1148470"/>
            <a:ext cx="1874100" cy="304800"/>
          </a:xfrm>
          <a:prstGeom prst="straightConnector1">
            <a:avLst/>
          </a:prstGeom>
          <a:noFill/>
          <a:ln cap="flat" cmpd="sng" w="28575">
            <a:solidFill>
              <a:schemeClr val="dk1"/>
            </a:solidFill>
            <a:prstDash val="solid"/>
            <a:miter lim="800000"/>
            <a:headEnd len="sm" w="sm" type="none"/>
            <a:tailEnd len="med" w="med" type="triangle"/>
          </a:ln>
        </p:spPr>
      </p:cxnSp>
      <p:sp>
        <p:nvSpPr>
          <p:cNvPr id="412" name="Google Shape;412;p54"/>
          <p:cNvSpPr/>
          <p:nvPr/>
        </p:nvSpPr>
        <p:spPr>
          <a:xfrm>
            <a:off x="4758558" y="2728526"/>
            <a:ext cx="1118400" cy="610800"/>
          </a:xfrm>
          <a:prstGeom prst="roundRect">
            <a:avLst>
              <a:gd fmla="val 16667" name="adj"/>
            </a:avLst>
          </a:prstGeom>
          <a:solidFill>
            <a:schemeClr val="lt1"/>
          </a:solidFill>
          <a:ln cap="flat" cmpd="sng" w="28575">
            <a:solidFill>
              <a:schemeClr val="accent4"/>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u="sng">
                <a:solidFill>
                  <a:schemeClr val="dk1"/>
                </a:solidFill>
                <a:latin typeface="Roboto Light"/>
                <a:ea typeface="Roboto Light"/>
                <a:cs typeface="Roboto Light"/>
                <a:sym typeface="Roboto Light"/>
              </a:rPr>
              <a:t>Ord</a:t>
            </a:r>
            <a:r>
              <a:rPr lang="en" sz="1800">
                <a:solidFill>
                  <a:schemeClr val="dk1"/>
                </a:solidFill>
                <a:latin typeface="Roboto Light"/>
                <a:ea typeface="Roboto Light"/>
                <a:cs typeface="Roboto Light"/>
                <a:sym typeface="Roboto Light"/>
              </a:rPr>
              <a:t>inal</a:t>
            </a:r>
            <a:endParaRPr sz="1100">
              <a:solidFill>
                <a:schemeClr val="dk1"/>
              </a:solidFill>
              <a:latin typeface="Roboto Light"/>
              <a:ea typeface="Roboto Light"/>
              <a:cs typeface="Roboto Light"/>
              <a:sym typeface="Roboto Light"/>
            </a:endParaRPr>
          </a:p>
        </p:txBody>
      </p:sp>
      <p:sp>
        <p:nvSpPr>
          <p:cNvPr id="413" name="Google Shape;413;p54"/>
          <p:cNvSpPr/>
          <p:nvPr/>
        </p:nvSpPr>
        <p:spPr>
          <a:xfrm>
            <a:off x="6984800" y="2728526"/>
            <a:ext cx="1320000" cy="610800"/>
          </a:xfrm>
          <a:prstGeom prst="roundRect">
            <a:avLst>
              <a:gd fmla="val 16667" name="adj"/>
            </a:avLst>
          </a:prstGeom>
          <a:solidFill>
            <a:schemeClr val="lt1"/>
          </a:solidFill>
          <a:ln cap="flat" cmpd="sng" w="28575">
            <a:solidFill>
              <a:schemeClr val="accent4"/>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800">
                <a:solidFill>
                  <a:schemeClr val="dk1"/>
                </a:solidFill>
                <a:latin typeface="Roboto Light"/>
                <a:ea typeface="Roboto Light"/>
                <a:cs typeface="Roboto Light"/>
                <a:sym typeface="Roboto Light"/>
              </a:rPr>
              <a:t>Nominal</a:t>
            </a:r>
            <a:endParaRPr sz="1100">
              <a:solidFill>
                <a:schemeClr val="dk1"/>
              </a:solidFill>
              <a:latin typeface="Roboto Light"/>
              <a:ea typeface="Roboto Light"/>
              <a:cs typeface="Roboto Light"/>
              <a:sym typeface="Roboto Light"/>
            </a:endParaRPr>
          </a:p>
        </p:txBody>
      </p:sp>
      <p:cxnSp>
        <p:nvCxnSpPr>
          <p:cNvPr id="414" name="Google Shape;414;p54"/>
          <p:cNvCxnSpPr>
            <a:stCxn id="402" idx="2"/>
            <a:endCxn id="412" idx="0"/>
          </p:cNvCxnSpPr>
          <p:nvPr/>
        </p:nvCxnSpPr>
        <p:spPr>
          <a:xfrm flipH="1">
            <a:off x="5317879" y="2064075"/>
            <a:ext cx="1113000" cy="664500"/>
          </a:xfrm>
          <a:prstGeom prst="straightConnector1">
            <a:avLst/>
          </a:prstGeom>
          <a:noFill/>
          <a:ln cap="flat" cmpd="sng" w="28575">
            <a:solidFill>
              <a:schemeClr val="dk1"/>
            </a:solidFill>
            <a:prstDash val="solid"/>
            <a:miter lim="800000"/>
            <a:headEnd len="sm" w="sm" type="none"/>
            <a:tailEnd len="med" w="med" type="triangle"/>
          </a:ln>
        </p:spPr>
      </p:cxnSp>
      <p:cxnSp>
        <p:nvCxnSpPr>
          <p:cNvPr id="415" name="Google Shape;415;p54"/>
          <p:cNvCxnSpPr>
            <a:stCxn id="402" idx="2"/>
            <a:endCxn id="413" idx="0"/>
          </p:cNvCxnSpPr>
          <p:nvPr/>
        </p:nvCxnSpPr>
        <p:spPr>
          <a:xfrm>
            <a:off x="6430879" y="2064075"/>
            <a:ext cx="1213800" cy="664500"/>
          </a:xfrm>
          <a:prstGeom prst="straightConnector1">
            <a:avLst/>
          </a:prstGeom>
          <a:noFill/>
          <a:ln cap="flat" cmpd="sng" w="28575">
            <a:solidFill>
              <a:schemeClr val="dk1"/>
            </a:solidFill>
            <a:prstDash val="solid"/>
            <a:miter lim="800000"/>
            <a:headEnd len="sm" w="sm" type="none"/>
            <a:tailEnd len="med" w="med" type="triangle"/>
          </a:ln>
        </p:spPr>
      </p:cxnSp>
      <p:sp>
        <p:nvSpPr>
          <p:cNvPr id="416" name="Google Shape;416;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7" name="Google Shape;417;p54"/>
          <p:cNvSpPr txBox="1"/>
          <p:nvPr>
            <p:ph type="title"/>
          </p:nvPr>
        </p:nvSpPr>
        <p:spPr>
          <a:xfrm>
            <a:off x="0" y="0"/>
            <a:ext cx="8520600" cy="3936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3300"/>
              <a:buFont typeface="Century Gothic"/>
              <a:buNone/>
            </a:pPr>
            <a:r>
              <a:rPr lang="en"/>
              <a:t>Variable Feature Types</a:t>
            </a:r>
            <a:endParaRPr/>
          </a:p>
        </p:txBody>
      </p:sp>
      <p:sp>
        <p:nvSpPr>
          <p:cNvPr id="418" name="Google Shape;418;p54"/>
          <p:cNvSpPr txBox="1"/>
          <p:nvPr/>
        </p:nvSpPr>
        <p:spPr>
          <a:xfrm>
            <a:off x="-734675" y="4804800"/>
            <a:ext cx="5674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latin typeface="Roboto"/>
                <a:ea typeface="Roboto"/>
                <a:cs typeface="Roboto"/>
                <a:sym typeface="Roboto"/>
              </a:rPr>
              <a:t>A safe default: Store qualitative data as strings!</a:t>
            </a:r>
            <a:endParaRPr b="1" sz="10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Variable Types</a:t>
            </a:r>
            <a:endParaRPr/>
          </a:p>
        </p:txBody>
      </p:sp>
      <p:sp>
        <p:nvSpPr>
          <p:cNvPr id="424" name="Google Shape;424;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5" name="Google Shape;425;p55"/>
          <p:cNvSpPr/>
          <p:nvPr/>
        </p:nvSpPr>
        <p:spPr>
          <a:xfrm>
            <a:off x="745025" y="486775"/>
            <a:ext cx="3461400" cy="683100"/>
          </a:xfrm>
          <a:prstGeom prst="rect">
            <a:avLst/>
          </a:prstGeom>
          <a:solidFill>
            <a:srgbClr val="FCE5C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Light"/>
                <a:ea typeface="Roboto Light"/>
                <a:cs typeface="Roboto Light"/>
                <a:sym typeface="Roboto Light"/>
              </a:rPr>
              <a:t>What is the feature type of each variable?</a:t>
            </a:r>
            <a:endParaRPr>
              <a:latin typeface="Roboto Light"/>
              <a:ea typeface="Roboto Light"/>
              <a:cs typeface="Roboto Light"/>
              <a:sym typeface="Roboto Light"/>
            </a:endParaRPr>
          </a:p>
        </p:txBody>
      </p:sp>
      <p:sp>
        <p:nvSpPr>
          <p:cNvPr id="426" name="Google Shape;426;p55"/>
          <p:cNvSpPr txBox="1"/>
          <p:nvPr/>
        </p:nvSpPr>
        <p:spPr>
          <a:xfrm>
            <a:off x="107050" y="478175"/>
            <a:ext cx="5487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900">
                <a:latin typeface="Roboto Light"/>
                <a:ea typeface="Roboto Light"/>
                <a:cs typeface="Roboto Light"/>
                <a:sym typeface="Roboto Light"/>
              </a:rPr>
              <a:t>🤔</a:t>
            </a:r>
            <a:endParaRPr sz="3900">
              <a:latin typeface="Roboto Light"/>
              <a:ea typeface="Roboto Light"/>
              <a:cs typeface="Roboto Light"/>
              <a:sym typeface="Roboto Light"/>
            </a:endParaRPr>
          </a:p>
        </p:txBody>
      </p:sp>
      <p:graphicFrame>
        <p:nvGraphicFramePr>
          <p:cNvPr id="427" name="Google Shape;427;p55"/>
          <p:cNvGraphicFramePr/>
          <p:nvPr/>
        </p:nvGraphicFramePr>
        <p:xfrm>
          <a:off x="356925" y="1263053"/>
          <a:ext cx="3000000" cy="3000000"/>
        </p:xfrm>
        <a:graphic>
          <a:graphicData uri="http://schemas.openxmlformats.org/drawingml/2006/table">
            <a:tbl>
              <a:tblPr bandRow="1" firstRow="1">
                <a:noFill/>
                <a:tableStyleId>{EAFC322C-B537-4A77-A848-E48FA33A0D54}</a:tableStyleId>
              </a:tblPr>
              <a:tblGrid>
                <a:gridCol w="342725"/>
                <a:gridCol w="1921375"/>
                <a:gridCol w="2485275"/>
              </a:tblGrid>
              <a:tr h="424700">
                <a:tc>
                  <a:txBody>
                    <a:bodyPr/>
                    <a:lstStyle/>
                    <a:p>
                      <a:pPr indent="0" lvl="0" marL="0" marR="0" rtl="0" algn="l">
                        <a:spcBef>
                          <a:spcPts val="0"/>
                        </a:spcBef>
                        <a:spcAft>
                          <a:spcPts val="0"/>
                        </a:spcAft>
                        <a:buNone/>
                      </a:pPr>
                      <a:r>
                        <a:rPr lang="en" sz="1600">
                          <a:latin typeface="Roboto"/>
                          <a:ea typeface="Roboto"/>
                          <a:cs typeface="Roboto"/>
                          <a:sym typeface="Roboto"/>
                        </a:rPr>
                        <a:t>Q</a:t>
                      </a:r>
                      <a:endParaRPr sz="1600">
                        <a:latin typeface="Roboto"/>
                        <a:ea typeface="Roboto"/>
                        <a:cs typeface="Roboto"/>
                        <a:sym typeface="Roboto"/>
                      </a:endParaRPr>
                    </a:p>
                  </a:txBody>
                  <a:tcPr marT="34300" marB="34300" marR="68600" marL="68600" anchor="b">
                    <a:solidFill>
                      <a:schemeClr val="accent3"/>
                    </a:solidFill>
                  </a:tcPr>
                </a:tc>
                <a:tc>
                  <a:txBody>
                    <a:bodyPr/>
                    <a:lstStyle/>
                    <a:p>
                      <a:pPr indent="0" lvl="0" marL="0" marR="0" rtl="0" algn="l">
                        <a:spcBef>
                          <a:spcPts val="0"/>
                        </a:spcBef>
                        <a:spcAft>
                          <a:spcPts val="0"/>
                        </a:spcAft>
                        <a:buNone/>
                      </a:pPr>
                      <a:r>
                        <a:rPr lang="en" sz="1600">
                          <a:latin typeface="Roboto"/>
                          <a:ea typeface="Roboto"/>
                          <a:cs typeface="Roboto"/>
                          <a:sym typeface="Roboto"/>
                        </a:rPr>
                        <a:t>Variable</a:t>
                      </a:r>
                      <a:endParaRPr sz="1600">
                        <a:latin typeface="Roboto"/>
                        <a:ea typeface="Roboto"/>
                        <a:cs typeface="Roboto"/>
                        <a:sym typeface="Roboto"/>
                      </a:endParaRPr>
                    </a:p>
                  </a:txBody>
                  <a:tcPr marT="34300" marB="34300" marR="68600" marL="68600" anchor="b">
                    <a:solidFill>
                      <a:schemeClr val="accent3"/>
                    </a:solidFill>
                  </a:tcPr>
                </a:tc>
                <a:tc>
                  <a:txBody>
                    <a:bodyPr/>
                    <a:lstStyle/>
                    <a:p>
                      <a:pPr indent="0" lvl="0" marL="0" marR="0" rtl="0" algn="l">
                        <a:spcBef>
                          <a:spcPts val="0"/>
                        </a:spcBef>
                        <a:spcAft>
                          <a:spcPts val="0"/>
                        </a:spcAft>
                        <a:buNone/>
                      </a:pPr>
                      <a:r>
                        <a:rPr lang="en" sz="1600">
                          <a:latin typeface="Roboto"/>
                          <a:ea typeface="Roboto"/>
                          <a:cs typeface="Roboto"/>
                          <a:sym typeface="Roboto"/>
                        </a:rPr>
                        <a:t>Feature Type</a:t>
                      </a:r>
                      <a:endParaRPr sz="1300">
                        <a:latin typeface="Roboto"/>
                        <a:ea typeface="Roboto"/>
                        <a:cs typeface="Roboto"/>
                        <a:sym typeface="Roboto"/>
                      </a:endParaRPr>
                    </a:p>
                  </a:txBody>
                  <a:tcPr marT="34300" marB="34300" marR="68600" marL="68600" anchor="b">
                    <a:lnB cap="flat" cmpd="sng" w="12700">
                      <a:solidFill>
                        <a:schemeClr val="lt1"/>
                      </a:solidFill>
                      <a:prstDash val="solid"/>
                      <a:round/>
                      <a:headEnd len="sm" w="sm" type="none"/>
                      <a:tailEnd len="sm" w="sm" type="none"/>
                    </a:lnB>
                    <a:solidFill>
                      <a:schemeClr val="accent3"/>
                    </a:solidFill>
                  </a:tcPr>
                </a:tc>
              </a:tr>
              <a:tr h="424700">
                <a:tc>
                  <a:txBody>
                    <a:bodyPr/>
                    <a:lstStyle/>
                    <a:p>
                      <a:pPr indent="0" lvl="0" marL="0" marR="0" rtl="0" algn="l">
                        <a:spcBef>
                          <a:spcPts val="0"/>
                        </a:spcBef>
                        <a:spcAft>
                          <a:spcPts val="0"/>
                        </a:spcAft>
                        <a:buNone/>
                      </a:pPr>
                      <a:r>
                        <a:rPr lang="en" sz="1600">
                          <a:latin typeface="Roboto Light"/>
                          <a:ea typeface="Roboto Light"/>
                          <a:cs typeface="Roboto Light"/>
                          <a:sym typeface="Roboto Light"/>
                        </a:rPr>
                        <a:t>1</a:t>
                      </a:r>
                      <a:endParaRPr sz="1600">
                        <a:latin typeface="Roboto Light"/>
                        <a:ea typeface="Roboto Light"/>
                        <a:cs typeface="Roboto Light"/>
                        <a:sym typeface="Roboto Light"/>
                      </a:endParaRPr>
                    </a:p>
                  </a:txBody>
                  <a:tcPr marT="34300" marB="34300" marR="68600" marL="68600">
                    <a:lnB cap="flat" cmpd="sng" w="12700">
                      <a:solidFill>
                        <a:schemeClr val="lt1"/>
                      </a:solidFill>
                      <a:prstDash val="solid"/>
                      <a:round/>
                      <a:headEnd len="sm" w="sm" type="none"/>
                      <a:tailEnd len="sm" w="sm" type="none"/>
                    </a:lnB>
                    <a:solidFill>
                      <a:srgbClr val="F3F3F3"/>
                    </a:solidFill>
                  </a:tcPr>
                </a:tc>
                <a:tc>
                  <a:txBody>
                    <a:bodyPr/>
                    <a:lstStyle/>
                    <a:p>
                      <a:pPr indent="0" lvl="0" marL="0" marR="0" rtl="0" algn="l">
                        <a:spcBef>
                          <a:spcPts val="0"/>
                        </a:spcBef>
                        <a:spcAft>
                          <a:spcPts val="0"/>
                        </a:spcAft>
                        <a:buNone/>
                      </a:pPr>
                      <a:r>
                        <a:rPr lang="en" sz="1600">
                          <a:latin typeface="Roboto Light"/>
                          <a:ea typeface="Roboto Light"/>
                          <a:cs typeface="Roboto Light"/>
                          <a:sym typeface="Roboto Light"/>
                        </a:rPr>
                        <a:t>CO</a:t>
                      </a:r>
                      <a:r>
                        <a:rPr baseline="-25000" lang="en" sz="1600">
                          <a:latin typeface="Roboto Light"/>
                          <a:ea typeface="Roboto Light"/>
                          <a:cs typeface="Roboto Light"/>
                          <a:sym typeface="Roboto Light"/>
                        </a:rPr>
                        <a:t>2</a:t>
                      </a:r>
                      <a:r>
                        <a:rPr lang="en" sz="1600">
                          <a:latin typeface="Roboto Light"/>
                          <a:ea typeface="Roboto Light"/>
                          <a:cs typeface="Roboto Light"/>
                          <a:sym typeface="Roboto Light"/>
                        </a:rPr>
                        <a:t> level (</a:t>
                      </a:r>
                      <a:r>
                        <a:rPr lang="en" sz="1600">
                          <a:latin typeface="Roboto Light"/>
                          <a:ea typeface="Roboto Light"/>
                          <a:cs typeface="Roboto Light"/>
                          <a:sym typeface="Roboto Light"/>
                        </a:rPr>
                        <a:t>ppm</a:t>
                      </a:r>
                      <a:r>
                        <a:rPr lang="en" sz="1600">
                          <a:latin typeface="Roboto Light"/>
                          <a:ea typeface="Roboto Light"/>
                          <a:cs typeface="Roboto Light"/>
                          <a:sym typeface="Roboto Light"/>
                        </a:rPr>
                        <a:t>)</a:t>
                      </a:r>
                      <a:endParaRPr sz="1600">
                        <a:latin typeface="Roboto Light"/>
                        <a:ea typeface="Roboto Light"/>
                        <a:cs typeface="Roboto Light"/>
                        <a:sym typeface="Roboto Light"/>
                      </a:endParaRPr>
                    </a:p>
                  </a:txBody>
                  <a:tcPr marT="34300" marB="34300" marR="68600" marL="68600">
                    <a:lnR cap="flat" cmpd="sng" w="12700">
                      <a:solidFill>
                        <a:schemeClr val="lt1"/>
                      </a:solidFill>
                      <a:prstDash val="solid"/>
                      <a:round/>
                      <a:headEnd len="sm" w="sm" type="none"/>
                      <a:tailEnd len="sm" w="sm" type="none"/>
                    </a:lnR>
                    <a:lnB cap="flat" cmpd="sng" w="12700">
                      <a:solidFill>
                        <a:schemeClr val="lt1"/>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t/>
                      </a:r>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3F3F3"/>
                    </a:solidFill>
                  </a:tcPr>
                </a:tc>
              </a:tr>
              <a:tr h="424700">
                <a:tc>
                  <a:txBody>
                    <a:bodyPr/>
                    <a:lstStyle/>
                    <a:p>
                      <a:pPr indent="0" lvl="0" marL="0" marR="0" rtl="0" algn="l">
                        <a:spcBef>
                          <a:spcPts val="0"/>
                        </a:spcBef>
                        <a:spcAft>
                          <a:spcPts val="0"/>
                        </a:spcAft>
                        <a:buNone/>
                      </a:pPr>
                      <a:r>
                        <a:rPr lang="en" sz="1600">
                          <a:latin typeface="Roboto Light"/>
                          <a:ea typeface="Roboto Light"/>
                          <a:cs typeface="Roboto Light"/>
                          <a:sym typeface="Roboto Light"/>
                        </a:rPr>
                        <a:t>2</a:t>
                      </a:r>
                      <a:endParaRPr sz="1600">
                        <a:latin typeface="Roboto Light"/>
                        <a:ea typeface="Roboto Light"/>
                        <a:cs typeface="Roboto Light"/>
                        <a:sym typeface="Roboto Light"/>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 sz="1600">
                          <a:latin typeface="Roboto Light"/>
                          <a:ea typeface="Roboto Light"/>
                          <a:cs typeface="Roboto Light"/>
                          <a:sym typeface="Roboto Light"/>
                        </a:rPr>
                        <a:t>Income bracket</a:t>
                      </a:r>
                      <a:endParaRPr sz="1300">
                        <a:latin typeface="Roboto Light"/>
                        <a:ea typeface="Roboto Light"/>
                        <a:cs typeface="Roboto Light"/>
                        <a:sym typeface="Roboto Light"/>
                      </a:endParaRPr>
                    </a:p>
                    <a:p>
                      <a:pPr indent="0" lvl="0" marL="0" marR="0" rtl="0" algn="l">
                        <a:spcBef>
                          <a:spcPts val="0"/>
                        </a:spcBef>
                        <a:spcAft>
                          <a:spcPts val="0"/>
                        </a:spcAft>
                        <a:buNone/>
                      </a:pPr>
                      <a:r>
                        <a:rPr lang="en" sz="1600">
                          <a:latin typeface="Roboto Light"/>
                          <a:ea typeface="Roboto Light"/>
                          <a:cs typeface="Roboto Light"/>
                          <a:sym typeface="Roboto Light"/>
                        </a:rPr>
                        <a:t>(low, med, high)</a:t>
                      </a:r>
                      <a:endParaRPr sz="1300">
                        <a:latin typeface="Roboto Light"/>
                        <a:ea typeface="Roboto Light"/>
                        <a:cs typeface="Roboto Light"/>
                        <a:sym typeface="Roboto Light"/>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424700">
                <a:tc>
                  <a:txBody>
                    <a:bodyPr/>
                    <a:lstStyle/>
                    <a:p>
                      <a:pPr indent="0" lvl="0" marL="0" marR="0" rtl="0" algn="l">
                        <a:spcBef>
                          <a:spcPts val="0"/>
                        </a:spcBef>
                        <a:spcAft>
                          <a:spcPts val="0"/>
                        </a:spcAft>
                        <a:buNone/>
                      </a:pPr>
                      <a:r>
                        <a:rPr lang="en" sz="1600">
                          <a:latin typeface="Roboto Light"/>
                          <a:ea typeface="Roboto Light"/>
                          <a:cs typeface="Roboto Light"/>
                          <a:sym typeface="Roboto Light"/>
                        </a:rPr>
                        <a:t>3</a:t>
                      </a:r>
                      <a:endParaRPr sz="1600">
                        <a:latin typeface="Roboto Light"/>
                        <a:ea typeface="Roboto Light"/>
                        <a:cs typeface="Roboto Light"/>
                        <a:sym typeface="Roboto Light"/>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c>
                  <a:txBody>
                    <a:bodyPr/>
                    <a:lstStyle/>
                    <a:p>
                      <a:pPr indent="0" lvl="0" marL="0" marR="0" rtl="0" algn="l">
                        <a:spcBef>
                          <a:spcPts val="0"/>
                        </a:spcBef>
                        <a:spcAft>
                          <a:spcPts val="0"/>
                        </a:spcAft>
                        <a:buNone/>
                      </a:pPr>
                      <a:r>
                        <a:rPr lang="en" sz="1600">
                          <a:latin typeface="Roboto Light"/>
                          <a:ea typeface="Roboto Light"/>
                          <a:cs typeface="Roboto Light"/>
                          <a:sym typeface="Roboto Light"/>
                        </a:rPr>
                        <a:t>Race/Ethnicity</a:t>
                      </a:r>
                      <a:endParaRPr sz="1300">
                        <a:latin typeface="Roboto Light"/>
                        <a:ea typeface="Roboto Light"/>
                        <a:cs typeface="Roboto Light"/>
                        <a:sym typeface="Roboto Light"/>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t/>
                      </a:r>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r>
              <a:tr h="424700">
                <a:tc>
                  <a:txBody>
                    <a:bodyPr/>
                    <a:lstStyle/>
                    <a:p>
                      <a:pPr indent="0" lvl="0" marL="0" marR="0" rtl="0" algn="l">
                        <a:spcBef>
                          <a:spcPts val="0"/>
                        </a:spcBef>
                        <a:spcAft>
                          <a:spcPts val="0"/>
                        </a:spcAft>
                        <a:buNone/>
                      </a:pPr>
                      <a:r>
                        <a:rPr lang="en" sz="1600">
                          <a:latin typeface="Roboto Light"/>
                          <a:ea typeface="Roboto Light"/>
                          <a:cs typeface="Roboto Light"/>
                          <a:sym typeface="Roboto Light"/>
                        </a:rPr>
                        <a:t>4</a:t>
                      </a:r>
                      <a:endParaRPr sz="1600">
                        <a:latin typeface="Roboto Light"/>
                        <a:ea typeface="Roboto Light"/>
                        <a:cs typeface="Roboto Light"/>
                        <a:sym typeface="Roboto Light"/>
                      </a:endParaRPr>
                    </a:p>
                  </a:txBody>
                  <a:tcPr marT="34300" marB="34300" marR="68600" marL="68600">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tcPr>
                </a:tc>
                <a:tc>
                  <a:txBody>
                    <a:bodyPr/>
                    <a:lstStyle/>
                    <a:p>
                      <a:pPr indent="0" lvl="0" marL="0" marR="0" rtl="0" algn="l">
                        <a:spcBef>
                          <a:spcPts val="0"/>
                        </a:spcBef>
                        <a:spcAft>
                          <a:spcPts val="0"/>
                        </a:spcAft>
                        <a:buNone/>
                      </a:pPr>
                      <a:r>
                        <a:rPr lang="en" sz="1600">
                          <a:latin typeface="Roboto Light"/>
                          <a:ea typeface="Roboto Light"/>
                          <a:cs typeface="Roboto Light"/>
                          <a:sym typeface="Roboto Light"/>
                        </a:rPr>
                        <a:t>Political party</a:t>
                      </a:r>
                      <a:endParaRPr sz="1300">
                        <a:latin typeface="Roboto Light"/>
                        <a:ea typeface="Roboto Light"/>
                        <a:cs typeface="Roboto Light"/>
                        <a:sym typeface="Roboto Light"/>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424700">
                <a:tc>
                  <a:txBody>
                    <a:bodyPr/>
                    <a:lstStyle/>
                    <a:p>
                      <a:pPr indent="0" lvl="0" marL="0" marR="0" rtl="0" algn="l">
                        <a:spcBef>
                          <a:spcPts val="0"/>
                        </a:spcBef>
                        <a:spcAft>
                          <a:spcPts val="0"/>
                        </a:spcAft>
                        <a:buNone/>
                      </a:pPr>
                      <a:r>
                        <a:rPr lang="en" sz="1600">
                          <a:latin typeface="Roboto Light"/>
                          <a:ea typeface="Roboto Light"/>
                          <a:cs typeface="Roboto Light"/>
                          <a:sym typeface="Roboto Light"/>
                        </a:rPr>
                        <a:t>5</a:t>
                      </a:r>
                      <a:endParaRPr sz="1600">
                        <a:latin typeface="Roboto Light"/>
                        <a:ea typeface="Roboto Light"/>
                        <a:cs typeface="Roboto Light"/>
                        <a:sym typeface="Roboto Light"/>
                      </a:endParaRPr>
                    </a:p>
                  </a:txBody>
                  <a:tcPr marT="34300" marB="34300" marR="68600" marL="68600">
                    <a:lnR cap="flat" cmpd="sng" w="12700">
                      <a:solidFill>
                        <a:schemeClr val="lt1"/>
                      </a:solidFill>
                      <a:prstDash val="solid"/>
                      <a:round/>
                      <a:headEnd len="sm" w="sm" type="none"/>
                      <a:tailEnd len="sm" w="sm" type="none"/>
                    </a:lnR>
                    <a:solidFill>
                      <a:srgbClr val="F3F3F3"/>
                    </a:solidFill>
                  </a:tcPr>
                </a:tc>
                <a:tc>
                  <a:txBody>
                    <a:bodyPr/>
                    <a:lstStyle/>
                    <a:p>
                      <a:pPr indent="0" lvl="0" marL="0" marR="0" rtl="0" algn="l">
                        <a:spcBef>
                          <a:spcPts val="0"/>
                        </a:spcBef>
                        <a:spcAft>
                          <a:spcPts val="0"/>
                        </a:spcAft>
                        <a:buNone/>
                      </a:pPr>
                      <a:r>
                        <a:rPr lang="en" sz="1600">
                          <a:latin typeface="Roboto Light"/>
                          <a:ea typeface="Roboto Light"/>
                          <a:cs typeface="Roboto Light"/>
                          <a:sym typeface="Roboto Light"/>
                        </a:rPr>
                        <a:t>Year</a:t>
                      </a:r>
                      <a:endParaRPr sz="1300">
                        <a:latin typeface="Roboto Light"/>
                        <a:ea typeface="Roboto Light"/>
                        <a:cs typeface="Roboto Light"/>
                        <a:sym typeface="Roboto Light"/>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t/>
                      </a:r>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r>
              <a:tr h="424700">
                <a:tc>
                  <a:txBody>
                    <a:bodyPr/>
                    <a:lstStyle/>
                    <a:p>
                      <a:pPr indent="0" lvl="0" marL="0" marR="0" rtl="0" algn="l">
                        <a:spcBef>
                          <a:spcPts val="0"/>
                        </a:spcBef>
                        <a:spcAft>
                          <a:spcPts val="0"/>
                        </a:spcAft>
                        <a:buNone/>
                      </a:pPr>
                      <a:r>
                        <a:rPr lang="en" sz="1600">
                          <a:latin typeface="Roboto Light"/>
                          <a:ea typeface="Roboto Light"/>
                          <a:cs typeface="Roboto Light"/>
                          <a:sym typeface="Roboto Light"/>
                        </a:rPr>
                        <a:t>6</a:t>
                      </a:r>
                      <a:endParaRPr sz="1600">
                        <a:latin typeface="Roboto Light"/>
                        <a:ea typeface="Roboto Light"/>
                        <a:cs typeface="Roboto Light"/>
                        <a:sym typeface="Roboto Light"/>
                      </a:endParaRPr>
                    </a:p>
                  </a:txBody>
                  <a:tcPr marT="34300" marB="34300" marR="68600" marL="68600">
                    <a:lnR cap="flat" cmpd="sng" w="12700">
                      <a:solidFill>
                        <a:schemeClr val="lt1"/>
                      </a:solidFill>
                      <a:prstDash val="solid"/>
                      <a:round/>
                      <a:headEnd len="sm" w="sm" type="none"/>
                      <a:tailEnd len="sm" w="sm" type="none"/>
                    </a:lnR>
                    <a:lnB cap="flat" cmpd="sng" w="12700">
                      <a:solidFill>
                        <a:schemeClr val="lt1"/>
                      </a:solidFill>
                      <a:prstDash val="solid"/>
                      <a:round/>
                      <a:headEnd len="sm" w="sm" type="none"/>
                      <a:tailEnd len="sm" w="sm" type="none"/>
                    </a:lnB>
                    <a:solidFill>
                      <a:srgbClr val="E9EFF7"/>
                    </a:solidFill>
                  </a:tcPr>
                </a:tc>
                <a:tc>
                  <a:txBody>
                    <a:bodyPr/>
                    <a:lstStyle/>
                    <a:p>
                      <a:pPr indent="0" lvl="0" marL="0" marR="0" rtl="0" algn="l">
                        <a:spcBef>
                          <a:spcPts val="0"/>
                        </a:spcBef>
                        <a:spcAft>
                          <a:spcPts val="0"/>
                        </a:spcAft>
                        <a:buNone/>
                      </a:pPr>
                      <a:r>
                        <a:rPr lang="en" sz="1600">
                          <a:latin typeface="Roboto Light"/>
                          <a:ea typeface="Roboto Light"/>
                          <a:cs typeface="Roboto Light"/>
                          <a:sym typeface="Roboto Light"/>
                        </a:rPr>
                        <a:t>GPA</a:t>
                      </a:r>
                      <a:endParaRPr sz="1300">
                        <a:latin typeface="Roboto Light"/>
                        <a:ea typeface="Roboto Light"/>
                        <a:cs typeface="Roboto Light"/>
                        <a:sym typeface="Roboto Light"/>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FF7"/>
                    </a:solidFill>
                  </a:tcPr>
                </a:tc>
                <a:tc>
                  <a:txBody>
                    <a:bodyPr/>
                    <a:lstStyle/>
                    <a:p>
                      <a:pPr indent="0" lvl="0" marL="0" rtl="0" algn="l">
                        <a:spcBef>
                          <a:spcPts val="0"/>
                        </a:spcBef>
                        <a:spcAft>
                          <a:spcPts val="0"/>
                        </a:spcAft>
                        <a:buNone/>
                      </a:pPr>
                      <a:r>
                        <a:t/>
                      </a:r>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424700">
                <a:tc>
                  <a:txBody>
                    <a:bodyPr/>
                    <a:lstStyle/>
                    <a:p>
                      <a:pPr indent="0" lvl="0" marL="0" marR="0" rtl="0" algn="l">
                        <a:spcBef>
                          <a:spcPts val="0"/>
                        </a:spcBef>
                        <a:spcAft>
                          <a:spcPts val="0"/>
                        </a:spcAft>
                        <a:buNone/>
                      </a:pPr>
                      <a:r>
                        <a:rPr lang="en" sz="1600">
                          <a:latin typeface="Roboto Light"/>
                          <a:ea typeface="Roboto Light"/>
                          <a:cs typeface="Roboto Light"/>
                          <a:sym typeface="Roboto Light"/>
                        </a:rPr>
                        <a:t>7</a:t>
                      </a:r>
                      <a:endParaRPr sz="1600">
                        <a:latin typeface="Roboto Light"/>
                        <a:ea typeface="Roboto Light"/>
                        <a:cs typeface="Roboto Light"/>
                        <a:sym typeface="Roboto Light"/>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3F3F3"/>
                    </a:solidFill>
                  </a:tcPr>
                </a:tc>
                <a:tc>
                  <a:txBody>
                    <a:bodyPr/>
                    <a:lstStyle/>
                    <a:p>
                      <a:pPr indent="0" lvl="0" marL="0" marR="0" rtl="0" algn="l">
                        <a:spcBef>
                          <a:spcPts val="0"/>
                        </a:spcBef>
                        <a:spcAft>
                          <a:spcPts val="0"/>
                        </a:spcAft>
                        <a:buNone/>
                      </a:pPr>
                      <a:r>
                        <a:rPr lang="en" sz="1600">
                          <a:latin typeface="Roboto Light"/>
                          <a:ea typeface="Roboto Light"/>
                          <a:cs typeface="Roboto Light"/>
                          <a:sym typeface="Roboto Light"/>
                        </a:rPr>
                        <a:t>U.S. Postal Code</a:t>
                      </a:r>
                      <a:endParaRPr sz="1300">
                        <a:latin typeface="Roboto Light"/>
                        <a:ea typeface="Roboto Light"/>
                        <a:cs typeface="Roboto Light"/>
                        <a:sym typeface="Roboto Light"/>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t/>
                      </a:r>
                      <a:endParaRPr b="1" sz="1600">
                        <a:latin typeface="Roboto"/>
                        <a:ea typeface="Roboto"/>
                        <a:cs typeface="Roboto"/>
                        <a:sym typeface="Roboto"/>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3F3F3"/>
                    </a:solidFill>
                  </a:tcPr>
                </a:tc>
              </a:tr>
            </a:tbl>
          </a:graphicData>
        </a:graphic>
      </p:graphicFrame>
      <p:sp>
        <p:nvSpPr>
          <p:cNvPr id="428" name="Google Shape;428;p55"/>
          <p:cNvSpPr/>
          <p:nvPr/>
        </p:nvSpPr>
        <p:spPr>
          <a:xfrm>
            <a:off x="5273575" y="4159324"/>
            <a:ext cx="3643500" cy="61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latin typeface="Roboto Light"/>
                <a:ea typeface="Roboto Light"/>
                <a:cs typeface="Roboto Light"/>
                <a:sym typeface="Roboto Light"/>
              </a:rPr>
              <a:t>The distinction between categories is sometimes murky. Context matters!</a:t>
            </a:r>
            <a:endParaRPr sz="1600">
              <a:latin typeface="Roboto Light"/>
              <a:ea typeface="Roboto Light"/>
              <a:cs typeface="Roboto Light"/>
              <a:sym typeface="Roboto Light"/>
            </a:endParaRPr>
          </a:p>
        </p:txBody>
      </p:sp>
      <p:sp>
        <p:nvSpPr>
          <p:cNvPr id="429" name="Google Shape;429;p55"/>
          <p:cNvSpPr txBox="1"/>
          <p:nvPr/>
        </p:nvSpPr>
        <p:spPr>
          <a:xfrm>
            <a:off x="2597485" y="1699520"/>
            <a:ext cx="3023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400"/>
              </a:spcAft>
              <a:buNone/>
            </a:pPr>
            <a:r>
              <a:rPr b="1" lang="en" sz="1100">
                <a:solidFill>
                  <a:schemeClr val="accent3"/>
                </a:solidFill>
                <a:latin typeface="Roboto"/>
                <a:ea typeface="Roboto"/>
                <a:cs typeface="Roboto"/>
                <a:sym typeface="Roboto"/>
              </a:rPr>
              <a:t>Quantitative</a:t>
            </a:r>
            <a:endParaRPr b="1" sz="1100">
              <a:solidFill>
                <a:schemeClr val="accent4"/>
              </a:solidFill>
              <a:latin typeface="Roboto"/>
              <a:ea typeface="Roboto"/>
              <a:cs typeface="Roboto"/>
              <a:sym typeface="Roboto"/>
            </a:endParaRPr>
          </a:p>
        </p:txBody>
      </p:sp>
      <p:sp>
        <p:nvSpPr>
          <p:cNvPr id="430" name="Google Shape;430;p55"/>
          <p:cNvSpPr/>
          <p:nvPr/>
        </p:nvSpPr>
        <p:spPr>
          <a:xfrm>
            <a:off x="5429402" y="2119400"/>
            <a:ext cx="1293000" cy="393600"/>
          </a:xfrm>
          <a:prstGeom prst="roundRect">
            <a:avLst>
              <a:gd fmla="val 16667" name="adj"/>
            </a:avLst>
          </a:prstGeom>
          <a:solidFill>
            <a:schemeClr val="lt1"/>
          </a:solidFill>
          <a:ln cap="flat" cmpd="sng" w="28575">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a:solidFill>
                  <a:schemeClr val="accent3"/>
                </a:solidFill>
                <a:latin typeface="Roboto"/>
                <a:ea typeface="Roboto"/>
                <a:cs typeface="Roboto"/>
                <a:sym typeface="Roboto"/>
              </a:rPr>
              <a:t>Quantitative</a:t>
            </a:r>
            <a:endParaRPr b="1">
              <a:solidFill>
                <a:schemeClr val="accent3"/>
              </a:solidFill>
              <a:latin typeface="Roboto"/>
              <a:ea typeface="Roboto"/>
              <a:cs typeface="Roboto"/>
              <a:sym typeface="Roboto"/>
            </a:endParaRPr>
          </a:p>
        </p:txBody>
      </p:sp>
      <p:sp>
        <p:nvSpPr>
          <p:cNvPr id="431" name="Google Shape;431;p55"/>
          <p:cNvSpPr/>
          <p:nvPr/>
        </p:nvSpPr>
        <p:spPr>
          <a:xfrm>
            <a:off x="7398890" y="2137400"/>
            <a:ext cx="1293000" cy="375600"/>
          </a:xfrm>
          <a:prstGeom prst="roundRect">
            <a:avLst>
              <a:gd fmla="val 16667" name="adj"/>
            </a:avLst>
          </a:prstGeom>
          <a:solidFill>
            <a:schemeClr val="lt1"/>
          </a:solidFill>
          <a:ln cap="flat" cmpd="sng" w="28575">
            <a:solidFill>
              <a:schemeClr val="accent4"/>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a:solidFill>
                  <a:schemeClr val="accent4"/>
                </a:solidFill>
                <a:latin typeface="Roboto"/>
                <a:ea typeface="Roboto"/>
                <a:cs typeface="Roboto"/>
                <a:sym typeface="Roboto"/>
              </a:rPr>
              <a:t>Qualitative </a:t>
            </a:r>
            <a:endParaRPr b="1">
              <a:solidFill>
                <a:schemeClr val="accent4"/>
              </a:solidFill>
              <a:latin typeface="Roboto"/>
              <a:ea typeface="Roboto"/>
              <a:cs typeface="Roboto"/>
              <a:sym typeface="Roboto"/>
            </a:endParaRPr>
          </a:p>
        </p:txBody>
      </p:sp>
      <p:cxnSp>
        <p:nvCxnSpPr>
          <p:cNvPr id="432" name="Google Shape;432;p55"/>
          <p:cNvCxnSpPr>
            <a:stCxn id="433" idx="2"/>
            <a:endCxn id="430" idx="0"/>
          </p:cNvCxnSpPr>
          <p:nvPr/>
        </p:nvCxnSpPr>
        <p:spPr>
          <a:xfrm flipH="1">
            <a:off x="6075998" y="1717150"/>
            <a:ext cx="978900" cy="402300"/>
          </a:xfrm>
          <a:prstGeom prst="straightConnector1">
            <a:avLst/>
          </a:prstGeom>
          <a:noFill/>
          <a:ln cap="flat" cmpd="sng" w="28575">
            <a:solidFill>
              <a:schemeClr val="dk1"/>
            </a:solidFill>
            <a:prstDash val="solid"/>
            <a:miter lim="800000"/>
            <a:headEnd len="sm" w="sm" type="none"/>
            <a:tailEnd len="med" w="med" type="triangle"/>
          </a:ln>
        </p:spPr>
      </p:cxnSp>
      <p:cxnSp>
        <p:nvCxnSpPr>
          <p:cNvPr id="434" name="Google Shape;434;p55"/>
          <p:cNvCxnSpPr>
            <a:stCxn id="433" idx="2"/>
            <a:endCxn id="431" idx="0"/>
          </p:cNvCxnSpPr>
          <p:nvPr/>
        </p:nvCxnSpPr>
        <p:spPr>
          <a:xfrm>
            <a:off x="7054898" y="1717150"/>
            <a:ext cx="990600" cy="420300"/>
          </a:xfrm>
          <a:prstGeom prst="straightConnector1">
            <a:avLst/>
          </a:prstGeom>
          <a:noFill/>
          <a:ln cap="flat" cmpd="sng" w="28575">
            <a:solidFill>
              <a:schemeClr val="dk1"/>
            </a:solidFill>
            <a:prstDash val="solid"/>
            <a:miter lim="800000"/>
            <a:headEnd len="sm" w="sm" type="none"/>
            <a:tailEnd len="med" w="med" type="triangle"/>
          </a:ln>
        </p:spPr>
      </p:cxnSp>
      <p:sp>
        <p:nvSpPr>
          <p:cNvPr id="435" name="Google Shape;435;p55"/>
          <p:cNvSpPr/>
          <p:nvPr/>
        </p:nvSpPr>
        <p:spPr>
          <a:xfrm>
            <a:off x="6931250" y="3050500"/>
            <a:ext cx="798300" cy="393600"/>
          </a:xfrm>
          <a:prstGeom prst="roundRect">
            <a:avLst>
              <a:gd fmla="val 16667" name="adj"/>
            </a:avLst>
          </a:prstGeom>
          <a:solidFill>
            <a:schemeClr val="lt1"/>
          </a:solidFill>
          <a:ln cap="flat" cmpd="sng" w="28575">
            <a:solidFill>
              <a:schemeClr val="accent4"/>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a:solidFill>
                  <a:schemeClr val="dk1"/>
                </a:solidFill>
                <a:latin typeface="Roboto Light"/>
                <a:ea typeface="Roboto Light"/>
                <a:cs typeface="Roboto Light"/>
                <a:sym typeface="Roboto Light"/>
              </a:rPr>
              <a:t>Ordinal</a:t>
            </a:r>
            <a:endParaRPr>
              <a:solidFill>
                <a:schemeClr val="dk1"/>
              </a:solidFill>
              <a:latin typeface="Roboto Light"/>
              <a:ea typeface="Roboto Light"/>
              <a:cs typeface="Roboto Light"/>
              <a:sym typeface="Roboto Light"/>
            </a:endParaRPr>
          </a:p>
        </p:txBody>
      </p:sp>
      <p:sp>
        <p:nvSpPr>
          <p:cNvPr id="436" name="Google Shape;436;p55"/>
          <p:cNvSpPr/>
          <p:nvPr/>
        </p:nvSpPr>
        <p:spPr>
          <a:xfrm>
            <a:off x="7885325" y="3050500"/>
            <a:ext cx="1039500" cy="375600"/>
          </a:xfrm>
          <a:prstGeom prst="roundRect">
            <a:avLst>
              <a:gd fmla="val 16667" name="adj"/>
            </a:avLst>
          </a:prstGeom>
          <a:solidFill>
            <a:schemeClr val="lt1"/>
          </a:solidFill>
          <a:ln cap="flat" cmpd="sng" w="28575">
            <a:solidFill>
              <a:schemeClr val="accent4"/>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a:solidFill>
                  <a:schemeClr val="dk1"/>
                </a:solidFill>
                <a:latin typeface="Roboto Light"/>
                <a:ea typeface="Roboto Light"/>
                <a:cs typeface="Roboto Light"/>
                <a:sym typeface="Roboto Light"/>
              </a:rPr>
              <a:t>Nominal</a:t>
            </a:r>
            <a:endParaRPr>
              <a:solidFill>
                <a:schemeClr val="dk1"/>
              </a:solidFill>
              <a:latin typeface="Roboto Light"/>
              <a:ea typeface="Roboto Light"/>
              <a:cs typeface="Roboto Light"/>
              <a:sym typeface="Roboto Light"/>
            </a:endParaRPr>
          </a:p>
        </p:txBody>
      </p:sp>
      <p:cxnSp>
        <p:nvCxnSpPr>
          <p:cNvPr id="437" name="Google Shape;437;p55"/>
          <p:cNvCxnSpPr>
            <a:stCxn id="431" idx="2"/>
            <a:endCxn id="435" idx="0"/>
          </p:cNvCxnSpPr>
          <p:nvPr/>
        </p:nvCxnSpPr>
        <p:spPr>
          <a:xfrm flipH="1">
            <a:off x="7330490" y="2513000"/>
            <a:ext cx="714900" cy="537600"/>
          </a:xfrm>
          <a:prstGeom prst="straightConnector1">
            <a:avLst/>
          </a:prstGeom>
          <a:noFill/>
          <a:ln cap="flat" cmpd="sng" w="28575">
            <a:solidFill>
              <a:schemeClr val="dk1"/>
            </a:solidFill>
            <a:prstDash val="solid"/>
            <a:miter lim="800000"/>
            <a:headEnd len="sm" w="sm" type="none"/>
            <a:tailEnd len="med" w="med" type="triangle"/>
          </a:ln>
        </p:spPr>
      </p:cxnSp>
      <p:cxnSp>
        <p:nvCxnSpPr>
          <p:cNvPr id="438" name="Google Shape;438;p55"/>
          <p:cNvCxnSpPr>
            <a:stCxn id="431" idx="2"/>
            <a:endCxn id="436" idx="0"/>
          </p:cNvCxnSpPr>
          <p:nvPr/>
        </p:nvCxnSpPr>
        <p:spPr>
          <a:xfrm>
            <a:off x="8045390" y="2513000"/>
            <a:ext cx="359700" cy="537600"/>
          </a:xfrm>
          <a:prstGeom prst="straightConnector1">
            <a:avLst/>
          </a:prstGeom>
          <a:noFill/>
          <a:ln cap="flat" cmpd="sng" w="28575">
            <a:solidFill>
              <a:schemeClr val="dk1"/>
            </a:solidFill>
            <a:prstDash val="solid"/>
            <a:miter lim="800000"/>
            <a:headEnd len="sm" w="sm" type="none"/>
            <a:tailEnd len="med" w="med" type="triangle"/>
          </a:ln>
        </p:spPr>
      </p:cxnSp>
      <p:sp>
        <p:nvSpPr>
          <p:cNvPr id="433" name="Google Shape;433;p55"/>
          <p:cNvSpPr/>
          <p:nvPr/>
        </p:nvSpPr>
        <p:spPr>
          <a:xfrm>
            <a:off x="6408398" y="1428850"/>
            <a:ext cx="1293000" cy="288300"/>
          </a:xfrm>
          <a:prstGeom prst="roundRect">
            <a:avLst>
              <a:gd fmla="val 16667" name="adj"/>
            </a:avLst>
          </a:prstGeom>
          <a:solidFill>
            <a:schemeClr val="lt1"/>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600">
                <a:solidFill>
                  <a:schemeClr val="dk1"/>
                </a:solidFill>
                <a:latin typeface="Roboto Light"/>
                <a:ea typeface="Roboto Light"/>
                <a:cs typeface="Roboto Light"/>
                <a:sym typeface="Roboto Light"/>
              </a:rPr>
              <a:t>Variable</a:t>
            </a:r>
            <a:endParaRPr sz="1600">
              <a:solidFill>
                <a:schemeClr val="dk1"/>
              </a:solidFill>
              <a:latin typeface="Roboto Light"/>
              <a:ea typeface="Roboto Light"/>
              <a:cs typeface="Roboto Light"/>
              <a:sym typeface="Roboto Light"/>
            </a:endParaRPr>
          </a:p>
        </p:txBody>
      </p:sp>
      <p:sp>
        <p:nvSpPr>
          <p:cNvPr id="439" name="Google Shape;439;p55"/>
          <p:cNvSpPr txBox="1"/>
          <p:nvPr/>
        </p:nvSpPr>
        <p:spPr>
          <a:xfrm>
            <a:off x="2624135" y="3552278"/>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400"/>
              </a:spcAft>
              <a:buNone/>
            </a:pPr>
            <a:r>
              <a:rPr b="1" lang="en" sz="1100">
                <a:solidFill>
                  <a:schemeClr val="accent3"/>
                </a:solidFill>
                <a:latin typeface="Roboto"/>
                <a:ea typeface="Roboto"/>
                <a:cs typeface="Roboto"/>
                <a:sym typeface="Roboto"/>
              </a:rPr>
              <a:t>Quantitative / </a:t>
            </a:r>
            <a:r>
              <a:rPr b="1" lang="en" sz="1100">
                <a:solidFill>
                  <a:schemeClr val="accent4"/>
                </a:solidFill>
                <a:latin typeface="Roboto"/>
                <a:ea typeface="Roboto"/>
                <a:cs typeface="Roboto"/>
                <a:sym typeface="Roboto"/>
              </a:rPr>
              <a:t>Qualitative Ordinal</a:t>
            </a:r>
            <a:endParaRPr b="1" sz="1100">
              <a:solidFill>
                <a:schemeClr val="accent4"/>
              </a:solidFill>
              <a:latin typeface="Roboto"/>
              <a:ea typeface="Roboto"/>
              <a:cs typeface="Roboto"/>
              <a:sym typeface="Roboto"/>
            </a:endParaRPr>
          </a:p>
        </p:txBody>
      </p:sp>
      <p:sp>
        <p:nvSpPr>
          <p:cNvPr id="440" name="Google Shape;440;p55"/>
          <p:cNvSpPr txBox="1"/>
          <p:nvPr/>
        </p:nvSpPr>
        <p:spPr>
          <a:xfrm>
            <a:off x="2624135" y="398599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400"/>
              </a:spcAft>
              <a:buNone/>
            </a:pPr>
            <a:r>
              <a:rPr b="1" lang="en" sz="1100">
                <a:solidFill>
                  <a:schemeClr val="accent3"/>
                </a:solidFill>
                <a:latin typeface="Roboto"/>
                <a:ea typeface="Roboto"/>
                <a:cs typeface="Roboto"/>
                <a:sym typeface="Roboto"/>
              </a:rPr>
              <a:t>Quantitative / </a:t>
            </a:r>
            <a:r>
              <a:rPr b="1" lang="en" sz="1100">
                <a:solidFill>
                  <a:schemeClr val="accent4"/>
                </a:solidFill>
                <a:latin typeface="Roboto"/>
                <a:ea typeface="Roboto"/>
                <a:cs typeface="Roboto"/>
                <a:sym typeface="Roboto"/>
              </a:rPr>
              <a:t>Qualitative Ordinal</a:t>
            </a:r>
            <a:endParaRPr sz="900"/>
          </a:p>
        </p:txBody>
      </p:sp>
      <p:sp>
        <p:nvSpPr>
          <p:cNvPr id="441" name="Google Shape;441;p55"/>
          <p:cNvSpPr txBox="1"/>
          <p:nvPr/>
        </p:nvSpPr>
        <p:spPr>
          <a:xfrm>
            <a:off x="2597485" y="2173605"/>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400"/>
              </a:spcAft>
              <a:buNone/>
            </a:pPr>
            <a:r>
              <a:rPr b="1" lang="en" sz="1100">
                <a:solidFill>
                  <a:schemeClr val="accent4"/>
                </a:solidFill>
                <a:latin typeface="Roboto"/>
                <a:ea typeface="Roboto"/>
                <a:cs typeface="Roboto"/>
                <a:sym typeface="Roboto"/>
              </a:rPr>
              <a:t>Qualitative Ordinal</a:t>
            </a:r>
            <a:endParaRPr sz="900"/>
          </a:p>
        </p:txBody>
      </p:sp>
      <p:sp>
        <p:nvSpPr>
          <p:cNvPr id="442" name="Google Shape;442;p55"/>
          <p:cNvSpPr txBox="1"/>
          <p:nvPr/>
        </p:nvSpPr>
        <p:spPr>
          <a:xfrm>
            <a:off x="2597485" y="2654868"/>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400"/>
              </a:spcAft>
              <a:buNone/>
            </a:pPr>
            <a:r>
              <a:rPr b="1" lang="en" sz="1100">
                <a:solidFill>
                  <a:schemeClr val="accent4"/>
                </a:solidFill>
                <a:latin typeface="Roboto"/>
                <a:ea typeface="Roboto"/>
                <a:cs typeface="Roboto"/>
                <a:sym typeface="Roboto"/>
              </a:rPr>
              <a:t>Qualitative Nominal</a:t>
            </a:r>
            <a:endParaRPr sz="900"/>
          </a:p>
        </p:txBody>
      </p:sp>
      <p:sp>
        <p:nvSpPr>
          <p:cNvPr id="443" name="Google Shape;443;p55"/>
          <p:cNvSpPr txBox="1"/>
          <p:nvPr/>
        </p:nvSpPr>
        <p:spPr>
          <a:xfrm>
            <a:off x="2597485" y="313613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400"/>
              </a:spcAft>
              <a:buNone/>
            </a:pPr>
            <a:r>
              <a:rPr b="1" lang="en" sz="1100">
                <a:solidFill>
                  <a:schemeClr val="accent4"/>
                </a:solidFill>
                <a:latin typeface="Roboto"/>
                <a:ea typeface="Roboto"/>
                <a:cs typeface="Roboto"/>
                <a:sym typeface="Roboto"/>
              </a:rPr>
              <a:t>Qualitative Ordinal / Nominal</a:t>
            </a:r>
            <a:endParaRPr sz="900"/>
          </a:p>
        </p:txBody>
      </p:sp>
      <p:sp>
        <p:nvSpPr>
          <p:cNvPr id="444" name="Google Shape;444;p55"/>
          <p:cNvSpPr txBox="1"/>
          <p:nvPr/>
        </p:nvSpPr>
        <p:spPr>
          <a:xfrm>
            <a:off x="2624135" y="4375140"/>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Roboto"/>
                <a:ea typeface="Roboto"/>
                <a:cs typeface="Roboto"/>
                <a:sym typeface="Roboto"/>
              </a:rPr>
              <a:t>Slido!</a:t>
            </a:r>
            <a:endParaRPr b="1" sz="1100">
              <a:solidFill>
                <a:schemeClr val="accent3"/>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8" name="Shape 448"/>
        <p:cNvGrpSpPr/>
        <p:nvPr/>
      </p:nvGrpSpPr>
      <p:grpSpPr>
        <a:xfrm>
          <a:off x="0" y="0"/>
          <a:ext cx="0" cy="0"/>
          <a:chOff x="0" y="0"/>
          <a:chExt cx="0" cy="0"/>
        </a:xfrm>
      </p:grpSpPr>
      <p:sp>
        <p:nvSpPr>
          <p:cNvPr id="449" name="Google Shape;449;p56"/>
          <p:cNvSpPr/>
          <p:nvPr/>
        </p:nvSpPr>
        <p:spPr>
          <a:xfrm rot="5400000">
            <a:off x="7365228" y="0"/>
            <a:ext cx="1778700" cy="1778700"/>
          </a:xfrm>
          <a:prstGeom prst="diagStripe">
            <a:avLst>
              <a:gd fmla="val 50000" name="adj"/>
            </a:avLst>
          </a:prstGeom>
          <a:solidFill>
            <a:srgbClr val="EDFA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450" name="Google Shape;450;p56"/>
          <p:cNvSpPr txBox="1"/>
          <p:nvPr/>
        </p:nvSpPr>
        <p:spPr>
          <a:xfrm rot="2700000">
            <a:off x="7215273" y="386217"/>
            <a:ext cx="2501461" cy="583787"/>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98038"/>
                </a:solidFill>
                <a:latin typeface="Inter"/>
                <a:ea typeface="Inter"/>
                <a:cs typeface="Inter"/>
                <a:sym typeface="Inter"/>
              </a:rPr>
              <a:t>Do not edit</a:t>
            </a:r>
            <a:endParaRPr b="1" sz="1200">
              <a:solidFill>
                <a:srgbClr val="198038"/>
              </a:solidFill>
              <a:latin typeface="Inter"/>
              <a:ea typeface="Inter"/>
              <a:cs typeface="Inter"/>
              <a:sym typeface="Inter"/>
            </a:endParaRPr>
          </a:p>
          <a:p>
            <a:pPr indent="0" lvl="0" marL="0" rtl="0" algn="ctr">
              <a:spcBef>
                <a:spcPts val="0"/>
              </a:spcBef>
              <a:spcAft>
                <a:spcPts val="0"/>
              </a:spcAft>
              <a:buNone/>
            </a:pPr>
            <a:r>
              <a:rPr lang="en" sz="1200" u="sng">
                <a:solidFill>
                  <a:srgbClr val="198038"/>
                </a:solidFill>
                <a:latin typeface="Inter Light"/>
                <a:ea typeface="Inter Light"/>
                <a:cs typeface="Inter Light"/>
                <a:sym typeface="Inter Light"/>
                <a:hlinkClick r:id="rId3">
                  <a:extLst>
                    <a:ext uri="{A12FA001-AC4F-418D-AE19-62706E023703}">
                      <ahyp:hlinkClr val="tx"/>
                    </a:ext>
                  </a:extLst>
                </a:hlinkClick>
              </a:rPr>
              <a:t>How to change the design</a:t>
            </a:r>
            <a:endParaRPr sz="1200">
              <a:solidFill>
                <a:srgbClr val="198038"/>
              </a:solidFill>
              <a:latin typeface="Inter Light"/>
              <a:ea typeface="Inter Light"/>
              <a:cs typeface="Inter Light"/>
              <a:sym typeface="Inter Light"/>
            </a:endParaRPr>
          </a:p>
        </p:txBody>
      </p:sp>
      <p:sp>
        <p:nvSpPr>
          <p:cNvPr descr="title-id" id="451" name="Google Shape;451;p56"/>
          <p:cNvSpPr txBox="1"/>
          <p:nvPr/>
        </p:nvSpPr>
        <p:spPr>
          <a:xfrm>
            <a:off x="2334638" y="1320628"/>
            <a:ext cx="6364800" cy="175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00">
                <a:solidFill>
                  <a:srgbClr val="5B5B5B"/>
                </a:solidFill>
                <a:latin typeface="Inter"/>
                <a:ea typeface="Inter"/>
                <a:cs typeface="Inter"/>
                <a:sym typeface="Inter"/>
              </a:rPr>
              <a:t>What type of variable is a U.S. postal code (e.g., 94705)?</a:t>
            </a:r>
            <a:endParaRPr b="1" sz="3600">
              <a:solidFill>
                <a:srgbClr val="5B5B5B"/>
              </a:solidFill>
              <a:latin typeface="Inter"/>
              <a:ea typeface="Inter"/>
              <a:cs typeface="Inter"/>
              <a:sym typeface="Inter"/>
            </a:endParaRPr>
          </a:p>
        </p:txBody>
      </p:sp>
      <p:sp>
        <p:nvSpPr>
          <p:cNvPr id="452" name="Google Shape;452;p56"/>
          <p:cNvSpPr/>
          <p:nvPr/>
        </p:nvSpPr>
        <p:spPr>
          <a:xfrm>
            <a:off x="0" y="4365024"/>
            <a:ext cx="9144000" cy="778500"/>
          </a:xfrm>
          <a:prstGeom prst="rect">
            <a:avLst/>
          </a:prstGeom>
          <a:solidFill>
            <a:srgbClr val="19803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453" name="Google Shape;453;p56"/>
          <p:cNvSpPr txBox="1"/>
          <p:nvPr/>
        </p:nvSpPr>
        <p:spPr>
          <a:xfrm>
            <a:off x="555866" y="4365024"/>
            <a:ext cx="6948300" cy="77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FFFFFF"/>
                </a:solidFill>
                <a:latin typeface="Inter Light"/>
                <a:ea typeface="Inter Light"/>
                <a:cs typeface="Inter Light"/>
                <a:sym typeface="Inter Light"/>
              </a:rPr>
              <a:t>Presenting with animations, GIFs or speaker notes? Enable our </a:t>
            </a:r>
            <a:r>
              <a:rPr lang="en" sz="1200" u="sng">
                <a:solidFill>
                  <a:srgbClr val="FFFFFF"/>
                </a:solidFill>
                <a:latin typeface="Inter Light"/>
                <a:ea typeface="Inter Light"/>
                <a:cs typeface="Inter Light"/>
                <a:sym typeface="Inter Light"/>
                <a:hlinkClick r:id="rId4">
                  <a:extLst>
                    <a:ext uri="{A12FA001-AC4F-418D-AE19-62706E023703}">
                      <ahyp:hlinkClr val="tx"/>
                    </a:ext>
                  </a:extLst>
                </a:hlinkClick>
              </a:rPr>
              <a:t>Chrome extension</a:t>
            </a:r>
            <a:endParaRPr sz="1200">
              <a:solidFill>
                <a:srgbClr val="FFFFFF"/>
              </a:solidFill>
              <a:latin typeface="Inter Light"/>
              <a:ea typeface="Inter Light"/>
              <a:cs typeface="Inter Light"/>
              <a:sym typeface="Inter Light"/>
            </a:endParaRPr>
          </a:p>
        </p:txBody>
      </p:sp>
      <p:pic>
        <p:nvPicPr>
          <p:cNvPr id="454" name="Google Shape;454;p56"/>
          <p:cNvPicPr preferRelativeResize="0"/>
          <p:nvPr/>
        </p:nvPicPr>
        <p:blipFill>
          <a:blip r:embed="rId5">
            <a:alphaModFix/>
          </a:blip>
          <a:stretch>
            <a:fillRect/>
          </a:stretch>
        </p:blipFill>
        <p:spPr>
          <a:xfrm>
            <a:off x="222347" y="4643089"/>
            <a:ext cx="222347" cy="222347"/>
          </a:xfrm>
          <a:prstGeom prst="rect">
            <a:avLst/>
          </a:prstGeom>
          <a:noFill/>
          <a:ln>
            <a:noFill/>
          </a:ln>
        </p:spPr>
      </p:pic>
      <p:pic>
        <p:nvPicPr>
          <p:cNvPr descr="logo-id" id="455" name="Google Shape;455;p56">
            <a:hlinkClick r:id="rId6"/>
          </p:cNvPr>
          <p:cNvPicPr preferRelativeResize="0"/>
          <p:nvPr/>
        </p:nvPicPr>
        <p:blipFill>
          <a:blip r:embed="rId7">
            <a:alphaModFix/>
          </a:blip>
          <a:stretch>
            <a:fillRect/>
          </a:stretch>
        </p:blipFill>
        <p:spPr>
          <a:xfrm>
            <a:off x="7921094" y="4476329"/>
            <a:ext cx="1111733" cy="555866"/>
          </a:xfrm>
          <a:prstGeom prst="rect">
            <a:avLst/>
          </a:prstGeom>
          <a:noFill/>
          <a:ln>
            <a:noFill/>
          </a:ln>
        </p:spPr>
      </p:pic>
      <p:pic>
        <p:nvPicPr>
          <p:cNvPr descr="poll-type-id" id="456" name="Google Shape;456;p56">
            <a:hlinkClick r:id="rId8"/>
          </p:cNvPr>
          <p:cNvPicPr preferRelativeResize="0"/>
          <p:nvPr/>
        </p:nvPicPr>
        <p:blipFill>
          <a:blip r:embed="rId9">
            <a:alphaModFix/>
          </a:blip>
          <a:stretch>
            <a:fillRect/>
          </a:stretch>
        </p:blipFill>
        <p:spPr>
          <a:xfrm>
            <a:off x="333520" y="1307027"/>
            <a:ext cx="1778772" cy="177877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2" name="Google Shape;462;p5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Postal (ZIP) codes are not randomly assigned! </a:t>
            </a:r>
            <a:endParaRPr/>
          </a:p>
        </p:txBody>
      </p:sp>
      <p:pic>
        <p:nvPicPr>
          <p:cNvPr id="463" name="Google Shape;463;p57"/>
          <p:cNvPicPr preferRelativeResize="0"/>
          <p:nvPr/>
        </p:nvPicPr>
        <p:blipFill>
          <a:blip r:embed="rId3">
            <a:alphaModFix/>
          </a:blip>
          <a:stretch>
            <a:fillRect/>
          </a:stretch>
        </p:blipFill>
        <p:spPr>
          <a:xfrm>
            <a:off x="1013663" y="577800"/>
            <a:ext cx="6493271" cy="4445101"/>
          </a:xfrm>
          <a:prstGeom prst="rect">
            <a:avLst/>
          </a:prstGeom>
          <a:noFill/>
          <a:ln>
            <a:noFill/>
          </a:ln>
        </p:spPr>
      </p:pic>
      <p:sp>
        <p:nvSpPr>
          <p:cNvPr id="464" name="Google Shape;464;p57"/>
          <p:cNvSpPr txBox="1"/>
          <p:nvPr/>
        </p:nvSpPr>
        <p:spPr>
          <a:xfrm>
            <a:off x="7647100" y="997925"/>
            <a:ext cx="13740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Roboto Light"/>
                <a:ea typeface="Roboto Light"/>
                <a:cs typeface="Roboto Light"/>
                <a:sym typeface="Roboto Light"/>
              </a:rPr>
              <a:t>If we stored ZIP as an integer, what could go wrong? Think about the northeast!</a:t>
            </a:r>
            <a:endParaRPr sz="1600">
              <a:solidFill>
                <a:schemeClr val="dk1"/>
              </a:solidFill>
              <a:latin typeface="Roboto Light"/>
              <a:ea typeface="Roboto Light"/>
              <a:cs typeface="Roboto Light"/>
              <a:sym typeface="Roboto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0" name="Google Shape;470;p58"/>
          <p:cNvSpPr txBox="1"/>
          <p:nvPr>
            <p:ph idx="1" type="body"/>
          </p:nvPr>
        </p:nvSpPr>
        <p:spPr>
          <a:xfrm>
            <a:off x="4882900" y="448050"/>
            <a:ext cx="3950100" cy="4124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b="1" lang="en">
                <a:latin typeface="Roboto"/>
                <a:ea typeface="Roboto"/>
                <a:cs typeface="Roboto"/>
                <a:sym typeface="Roboto"/>
              </a:rPr>
              <a:t>Structure </a:t>
            </a:r>
            <a:r>
              <a:rPr lang="en"/>
              <a:t>-- the "shape" of a data file</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Clr>
                <a:schemeClr val="dk1"/>
              </a:buClr>
              <a:buSzPts val="1100"/>
              <a:buFont typeface="Arial"/>
              <a:buNone/>
            </a:pPr>
            <a:r>
              <a:rPr b="1" lang="en">
                <a:latin typeface="Roboto"/>
                <a:ea typeface="Roboto"/>
                <a:cs typeface="Roboto"/>
                <a:sym typeface="Roboto"/>
              </a:rPr>
              <a:t>Granularity</a:t>
            </a:r>
            <a:r>
              <a:rPr lang="en"/>
              <a:t> -- how fine/coarse is each </a:t>
            </a:r>
            <a:r>
              <a:rPr lang="en"/>
              <a:t>datum</a:t>
            </a:r>
            <a:r>
              <a:rPr lang="en"/>
              <a:t> → a single "piece" of data</a:t>
            </a:r>
            <a:endParaRPr>
              <a:solidFill>
                <a:srgbClr val="9E9E9E"/>
              </a:solidFill>
            </a:endParaRPr>
          </a:p>
          <a:p>
            <a:pPr indent="0" lvl="0" marL="0" rtl="0" algn="l">
              <a:spcBef>
                <a:spcPts val="600"/>
              </a:spcBef>
              <a:spcAft>
                <a:spcPts val="0"/>
              </a:spcAft>
              <a:buClr>
                <a:schemeClr val="dk1"/>
              </a:buClr>
              <a:buSzPts val="1100"/>
              <a:buFont typeface="Arial"/>
              <a:buNone/>
            </a:pPr>
            <a:r>
              <a:t/>
            </a:r>
            <a:endParaRPr>
              <a:solidFill>
                <a:srgbClr val="9E9E9E"/>
              </a:solidFill>
            </a:endParaRPr>
          </a:p>
          <a:p>
            <a:pPr indent="0" lvl="0" marL="0" rtl="0" algn="l">
              <a:spcBef>
                <a:spcPts val="600"/>
              </a:spcBef>
              <a:spcAft>
                <a:spcPts val="0"/>
              </a:spcAft>
              <a:buClr>
                <a:schemeClr val="dk1"/>
              </a:buClr>
              <a:buSzPts val="1100"/>
              <a:buFont typeface="Arial"/>
              <a:buNone/>
            </a:pPr>
            <a:r>
              <a:rPr b="1" lang="en">
                <a:solidFill>
                  <a:srgbClr val="9E9E9E"/>
                </a:solidFill>
                <a:latin typeface="Roboto"/>
                <a:ea typeface="Roboto"/>
                <a:cs typeface="Roboto"/>
                <a:sym typeface="Roboto"/>
              </a:rPr>
              <a:t>Temporality</a:t>
            </a:r>
            <a:r>
              <a:rPr lang="en">
                <a:solidFill>
                  <a:srgbClr val="9E9E9E"/>
                </a:solidFill>
              </a:rPr>
              <a:t> -- how is the data situated in time</a:t>
            </a:r>
            <a:endParaRPr>
              <a:solidFill>
                <a:srgbClr val="9E9E9E"/>
              </a:solidFill>
            </a:endParaRPr>
          </a:p>
          <a:p>
            <a:pPr indent="0" lvl="0" marL="0" rtl="0" algn="l">
              <a:spcBef>
                <a:spcPts val="600"/>
              </a:spcBef>
              <a:spcAft>
                <a:spcPts val="0"/>
              </a:spcAft>
              <a:buClr>
                <a:schemeClr val="dk1"/>
              </a:buClr>
              <a:buSzPts val="1100"/>
              <a:buFont typeface="Arial"/>
              <a:buNone/>
            </a:pPr>
            <a:r>
              <a:t/>
            </a:r>
            <a:endParaRPr>
              <a:solidFill>
                <a:srgbClr val="9E9E9E"/>
              </a:solidFill>
            </a:endParaRPr>
          </a:p>
          <a:p>
            <a:pPr indent="0" lvl="0" marL="0" rtl="0" algn="l">
              <a:spcBef>
                <a:spcPts val="600"/>
              </a:spcBef>
              <a:spcAft>
                <a:spcPts val="0"/>
              </a:spcAft>
              <a:buNone/>
            </a:pPr>
            <a:r>
              <a:rPr b="1" lang="en">
                <a:solidFill>
                  <a:srgbClr val="9E9E9E"/>
                </a:solidFill>
                <a:latin typeface="Roboto"/>
                <a:ea typeface="Roboto"/>
                <a:cs typeface="Roboto"/>
                <a:sym typeface="Roboto"/>
              </a:rPr>
              <a:t>Faithfulness</a:t>
            </a:r>
            <a:r>
              <a:rPr lang="en">
                <a:solidFill>
                  <a:srgbClr val="9E9E9E"/>
                </a:solidFill>
              </a:rPr>
              <a:t> -- how well does the data capture "reality"</a:t>
            </a:r>
            <a:endParaRPr>
              <a:solidFill>
                <a:srgbClr val="9E9E9E"/>
              </a:solidFill>
            </a:endParaRPr>
          </a:p>
        </p:txBody>
      </p:sp>
      <p:sp>
        <p:nvSpPr>
          <p:cNvPr id="471" name="Google Shape;471;p58"/>
          <p:cNvSpPr txBox="1"/>
          <p:nvPr/>
        </p:nvSpPr>
        <p:spPr>
          <a:xfrm>
            <a:off x="177925" y="2003300"/>
            <a:ext cx="4038000" cy="2037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rgbClr val="0B5394"/>
                </a:solidFill>
                <a:latin typeface="Roboto Medium"/>
                <a:ea typeface="Roboto Medium"/>
                <a:cs typeface="Roboto Medium"/>
                <a:sym typeface="Roboto Medium"/>
              </a:rPr>
              <a:t>Key Data Properties to Consider in EDA</a:t>
            </a:r>
            <a:endParaRPr sz="3600">
              <a:solidFill>
                <a:srgbClr val="0B5394"/>
              </a:solidFill>
              <a:latin typeface="Roboto Medium"/>
              <a:ea typeface="Roboto Medium"/>
              <a:cs typeface="Roboto Medium"/>
              <a:sym typeface="Roboto Medium"/>
            </a:endParaRPr>
          </a:p>
        </p:txBody>
      </p:sp>
      <p:sp>
        <p:nvSpPr>
          <p:cNvPr id="472" name="Google Shape;472;p58"/>
          <p:cNvSpPr txBox="1"/>
          <p:nvPr/>
        </p:nvSpPr>
        <p:spPr>
          <a:xfrm>
            <a:off x="3031725" y="253075"/>
            <a:ext cx="21534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Roboto Light"/>
                <a:ea typeface="Roboto Light"/>
                <a:cs typeface="Roboto Light"/>
                <a:sym typeface="Roboto Light"/>
              </a:rPr>
              <a:t>(we'll come back to this!)</a:t>
            </a:r>
            <a:endParaRPr>
              <a:latin typeface="Roboto Light"/>
              <a:ea typeface="Roboto Light"/>
              <a:cs typeface="Roboto Light"/>
              <a:sym typeface="Roboto Light"/>
            </a:endParaRPr>
          </a:p>
        </p:txBody>
      </p:sp>
      <p:sp>
        <p:nvSpPr>
          <p:cNvPr id="473" name="Google Shape;473;p58"/>
          <p:cNvSpPr/>
          <p:nvPr/>
        </p:nvSpPr>
        <p:spPr>
          <a:xfrm flipH="1">
            <a:off x="4005200" y="1040575"/>
            <a:ext cx="801300" cy="728700"/>
          </a:xfrm>
          <a:prstGeom prst="lef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9" name="Google Shape;479;p5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Important Conundrum in Data Science</a:t>
            </a:r>
            <a:endParaRPr/>
          </a:p>
        </p:txBody>
      </p:sp>
      <p:graphicFrame>
        <p:nvGraphicFramePr>
          <p:cNvPr id="480" name="Google Shape;480;p59"/>
          <p:cNvGraphicFramePr/>
          <p:nvPr/>
        </p:nvGraphicFramePr>
        <p:xfrm>
          <a:off x="2113325" y="1676525"/>
          <a:ext cx="3000000" cy="3000000"/>
        </p:xfrm>
        <a:graphic>
          <a:graphicData uri="http://schemas.openxmlformats.org/drawingml/2006/table">
            <a:tbl>
              <a:tblPr>
                <a:noFill/>
                <a:tableStyleId>{A18C7BDA-818C-4EB6-94C1-2E421272494B}</a:tableStyleId>
              </a:tblPr>
              <a:tblGrid>
                <a:gridCol w="2458675"/>
                <a:gridCol w="2458675"/>
              </a:tblGrid>
              <a:tr h="527150">
                <a:tc>
                  <a:txBody>
                    <a:bodyPr/>
                    <a:lstStyle/>
                    <a:p>
                      <a:pPr indent="0" lvl="0" marL="0" rtl="0" algn="ctr">
                        <a:spcBef>
                          <a:spcPts val="0"/>
                        </a:spcBef>
                        <a:spcAft>
                          <a:spcPts val="0"/>
                        </a:spcAft>
                        <a:buNone/>
                      </a:pPr>
                      <a:r>
                        <a:rPr b="1" lang="en" sz="1600">
                          <a:solidFill>
                            <a:schemeClr val="dk1"/>
                          </a:solidFill>
                          <a:latin typeface="Roboto"/>
                          <a:ea typeface="Roboto"/>
                          <a:cs typeface="Roboto"/>
                          <a:sym typeface="Roboto"/>
                        </a:rPr>
                        <a:t>Singular "data"</a:t>
                      </a:r>
                      <a:endParaRPr b="1" sz="1600">
                        <a:solidFill>
                          <a:schemeClr val="dk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lang="en" sz="1600">
                          <a:solidFill>
                            <a:schemeClr val="dk1"/>
                          </a:solidFill>
                          <a:latin typeface="Roboto Light"/>
                          <a:ea typeface="Roboto Light"/>
                          <a:cs typeface="Roboto Light"/>
                          <a:sym typeface="Roboto Light"/>
                        </a:rPr>
                        <a:t>"The data show</a:t>
                      </a:r>
                      <a:r>
                        <a:rPr b="1" lang="en" sz="1600">
                          <a:solidFill>
                            <a:schemeClr val="dk1"/>
                          </a:solidFill>
                          <a:latin typeface="Roboto"/>
                          <a:ea typeface="Roboto"/>
                          <a:cs typeface="Roboto"/>
                          <a:sym typeface="Roboto"/>
                        </a:rPr>
                        <a:t>s</a:t>
                      </a:r>
                      <a:r>
                        <a:rPr lang="en" sz="1600">
                          <a:solidFill>
                            <a:schemeClr val="dk1"/>
                          </a:solidFill>
                          <a:latin typeface="Roboto Light"/>
                          <a:ea typeface="Roboto Light"/>
                          <a:cs typeface="Roboto Light"/>
                          <a:sym typeface="Roboto Light"/>
                        </a:rPr>
                        <a:t> …"</a:t>
                      </a:r>
                      <a:endParaRPr sz="1600">
                        <a:solidFill>
                          <a:schemeClr val="dk1"/>
                        </a:solidFill>
                        <a:latin typeface="Roboto Light"/>
                        <a:ea typeface="Roboto Light"/>
                        <a:cs typeface="Roboto Light"/>
                        <a:sym typeface="Roboto Light"/>
                      </a:endParaRPr>
                    </a:p>
                  </a:txBody>
                  <a:tcPr marT="91425" marB="91425" marR="91425" marL="91425" anchor="ctr"/>
                </a:tc>
              </a:tr>
              <a:tr h="527150">
                <a:tc>
                  <a:txBody>
                    <a:bodyPr/>
                    <a:lstStyle/>
                    <a:p>
                      <a:pPr indent="0" lvl="0" marL="0" rtl="0" algn="ctr">
                        <a:spcBef>
                          <a:spcPts val="0"/>
                        </a:spcBef>
                        <a:spcAft>
                          <a:spcPts val="0"/>
                        </a:spcAft>
                        <a:buNone/>
                      </a:pPr>
                      <a:r>
                        <a:rPr b="1" lang="en" sz="1600">
                          <a:solidFill>
                            <a:schemeClr val="dk1"/>
                          </a:solidFill>
                          <a:latin typeface="Roboto"/>
                          <a:ea typeface="Roboto"/>
                          <a:cs typeface="Roboto"/>
                          <a:sym typeface="Roboto"/>
                        </a:rPr>
                        <a:t>Plural "data" (</a:t>
                      </a:r>
                      <a:r>
                        <a:rPr b="1" lang="en" sz="1600" strike="sngStrike">
                          <a:solidFill>
                            <a:schemeClr val="dk1"/>
                          </a:solidFill>
                          <a:latin typeface="Roboto"/>
                          <a:ea typeface="Roboto"/>
                          <a:cs typeface="Roboto"/>
                          <a:sym typeface="Roboto"/>
                        </a:rPr>
                        <a:t>datums</a:t>
                      </a:r>
                      <a:r>
                        <a:rPr b="1" lang="en" sz="1600">
                          <a:solidFill>
                            <a:schemeClr val="dk1"/>
                          </a:solidFill>
                          <a:latin typeface="Roboto"/>
                          <a:ea typeface="Roboto"/>
                          <a:cs typeface="Roboto"/>
                          <a:sym typeface="Roboto"/>
                        </a:rPr>
                        <a:t>)</a:t>
                      </a:r>
                      <a:endParaRPr b="1" sz="1600">
                        <a:solidFill>
                          <a:schemeClr val="dk1"/>
                        </a:solidFill>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en" sz="1600">
                          <a:solidFill>
                            <a:schemeClr val="dk1"/>
                          </a:solidFill>
                          <a:latin typeface="Roboto Light"/>
                          <a:ea typeface="Roboto Light"/>
                          <a:cs typeface="Roboto Light"/>
                          <a:sym typeface="Roboto Light"/>
                        </a:rPr>
                        <a:t>"</a:t>
                      </a:r>
                      <a:r>
                        <a:rPr lang="en" sz="1600">
                          <a:solidFill>
                            <a:schemeClr val="dk1"/>
                          </a:solidFill>
                          <a:latin typeface="Roboto Light"/>
                          <a:ea typeface="Roboto Light"/>
                          <a:cs typeface="Roboto Light"/>
                          <a:sym typeface="Roboto Light"/>
                        </a:rPr>
                        <a:t>The data show …"</a:t>
                      </a:r>
                      <a:endParaRPr sz="1600">
                        <a:solidFill>
                          <a:schemeClr val="dk1"/>
                        </a:solidFill>
                        <a:latin typeface="Roboto Light"/>
                        <a:ea typeface="Roboto Light"/>
                        <a:cs typeface="Roboto Light"/>
                        <a:sym typeface="Roboto Light"/>
                      </a:endParaRPr>
                    </a:p>
                  </a:txBody>
                  <a:tcPr marT="91425" marB="91425" marR="91425" marL="91425" anchor="ctr"/>
                </a:tc>
              </a:tr>
            </a:tbl>
          </a:graphicData>
        </a:graphic>
      </p:graphicFrame>
      <p:sp>
        <p:nvSpPr>
          <p:cNvPr id="481" name="Google Shape;481;p59"/>
          <p:cNvSpPr txBox="1"/>
          <p:nvPr/>
        </p:nvSpPr>
        <p:spPr>
          <a:xfrm>
            <a:off x="2839975" y="2944675"/>
            <a:ext cx="34641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dk1"/>
                </a:solidFill>
                <a:latin typeface="Roboto Light"/>
                <a:ea typeface="Roboto Light"/>
                <a:cs typeface="Roboto Light"/>
                <a:sym typeface="Roboto Light"/>
              </a:rPr>
              <a:t>The first one is </a:t>
            </a:r>
            <a:r>
              <a:rPr i="1" lang="en" sz="1600">
                <a:solidFill>
                  <a:schemeClr val="dk1"/>
                </a:solidFill>
                <a:latin typeface="Roboto Light"/>
                <a:ea typeface="Roboto Light"/>
                <a:cs typeface="Roboto Light"/>
                <a:sym typeface="Roboto Light"/>
              </a:rPr>
              <a:t>technically</a:t>
            </a:r>
            <a:r>
              <a:rPr lang="en" sz="1600">
                <a:solidFill>
                  <a:schemeClr val="dk1"/>
                </a:solidFill>
                <a:latin typeface="Roboto Light"/>
                <a:ea typeface="Roboto Light"/>
                <a:cs typeface="Roboto Light"/>
                <a:sym typeface="Roboto Light"/>
              </a:rPr>
              <a:t> incorrect, but in practice, either is fine 🙂</a:t>
            </a:r>
            <a:endParaRPr sz="1600">
              <a:solidFill>
                <a:schemeClr val="dk1"/>
              </a:solidFill>
              <a:latin typeface="Roboto Light"/>
              <a:ea typeface="Roboto Light"/>
              <a:cs typeface="Roboto Light"/>
              <a:sym typeface="Roboto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Granularity: How Fine/Coarse Is Each Datum?</a:t>
            </a:r>
            <a:endParaRPr/>
          </a:p>
        </p:txBody>
      </p:sp>
      <p:sp>
        <p:nvSpPr>
          <p:cNvPr id="487" name="Google Shape;487;p60"/>
          <p:cNvSpPr txBox="1"/>
          <p:nvPr>
            <p:ph idx="1" type="body"/>
          </p:nvPr>
        </p:nvSpPr>
        <p:spPr>
          <a:xfrm>
            <a:off x="107044" y="276705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What does each </a:t>
            </a:r>
            <a:r>
              <a:rPr b="1" lang="en">
                <a:solidFill>
                  <a:schemeClr val="accent3"/>
                </a:solidFill>
                <a:latin typeface="Roboto"/>
                <a:ea typeface="Roboto"/>
                <a:cs typeface="Roboto"/>
                <a:sym typeface="Roboto"/>
              </a:rPr>
              <a:t>record</a:t>
            </a:r>
            <a:r>
              <a:rPr lang="en"/>
              <a:t> (row)</a:t>
            </a:r>
            <a:r>
              <a:rPr i="1" lang="en"/>
              <a:t> </a:t>
            </a:r>
            <a:r>
              <a:rPr lang="en"/>
              <a:t>represent?</a:t>
            </a:r>
            <a:endParaRPr/>
          </a:p>
          <a:p>
            <a:pPr indent="-330200" lvl="0" marL="457200" rtl="0" algn="l">
              <a:spcBef>
                <a:spcPts val="600"/>
              </a:spcBef>
              <a:spcAft>
                <a:spcPts val="0"/>
              </a:spcAft>
              <a:buSzPts val="1600"/>
              <a:buChar char="●"/>
            </a:pPr>
            <a:r>
              <a:rPr lang="en"/>
              <a:t>Examples: a single purchase, a single person, a group of users</a:t>
            </a:r>
            <a:endParaRPr/>
          </a:p>
          <a:p>
            <a:pPr indent="-330200" lvl="0" marL="457200" rtl="0" algn="l">
              <a:spcBef>
                <a:spcPts val="0"/>
              </a:spcBef>
              <a:spcAft>
                <a:spcPts val="0"/>
              </a:spcAft>
              <a:buSzPts val="1600"/>
              <a:buChar char="●"/>
            </a:pPr>
            <a:r>
              <a:rPr lang="en"/>
              <a:t>Some data will include summaries (aka </a:t>
            </a:r>
            <a:r>
              <a:rPr b="1" lang="en">
                <a:solidFill>
                  <a:schemeClr val="accent4"/>
                </a:solidFill>
                <a:latin typeface="Roboto"/>
                <a:ea typeface="Roboto"/>
                <a:cs typeface="Roboto"/>
                <a:sym typeface="Roboto"/>
              </a:rPr>
              <a:t>rollups</a:t>
            </a:r>
            <a:r>
              <a:rPr lang="en"/>
              <a:t>) as records.</a:t>
            </a:r>
            <a:br>
              <a:rPr lang="en"/>
            </a:br>
            <a:endParaRPr/>
          </a:p>
          <a:p>
            <a:pPr indent="0" lvl="0" marL="0" rtl="0" algn="l">
              <a:spcBef>
                <a:spcPts val="600"/>
              </a:spcBef>
              <a:spcAft>
                <a:spcPts val="0"/>
              </a:spcAft>
              <a:buClr>
                <a:schemeClr val="dk1"/>
              </a:buClr>
              <a:buSzPts val="1100"/>
              <a:buFont typeface="Arial"/>
              <a:buNone/>
            </a:pPr>
            <a:r>
              <a:rPr lang="en"/>
              <a:t>If the data are </a:t>
            </a:r>
            <a:r>
              <a:rPr b="1" lang="en">
                <a:solidFill>
                  <a:schemeClr val="accent4"/>
                </a:solidFill>
                <a:latin typeface="Roboto"/>
                <a:ea typeface="Roboto"/>
                <a:cs typeface="Roboto"/>
                <a:sym typeface="Roboto"/>
              </a:rPr>
              <a:t>coarse</a:t>
            </a:r>
            <a:r>
              <a:rPr lang="en"/>
              <a:t>, how were the records aggregated?</a:t>
            </a:r>
            <a:endParaRPr/>
          </a:p>
          <a:p>
            <a:pPr indent="-330200" lvl="0" marL="457200" rtl="0" algn="l">
              <a:spcBef>
                <a:spcPts val="600"/>
              </a:spcBef>
              <a:spcAft>
                <a:spcPts val="0"/>
              </a:spcAft>
              <a:buSzPts val="1600"/>
              <a:buChar char="●"/>
            </a:pPr>
            <a:r>
              <a:rPr lang="en"/>
              <a:t>Summing, averaging, or something else?</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None/>
            </a:pPr>
            <a:r>
              <a:t/>
            </a:r>
            <a:endParaRPr/>
          </a:p>
        </p:txBody>
      </p:sp>
      <p:sp>
        <p:nvSpPr>
          <p:cNvPr id="488" name="Google Shape;488;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9" name="Google Shape;489;p60"/>
          <p:cNvSpPr txBox="1"/>
          <p:nvPr/>
        </p:nvSpPr>
        <p:spPr>
          <a:xfrm>
            <a:off x="937601" y="1939203"/>
            <a:ext cx="1368300" cy="8079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en" sz="2400">
                <a:solidFill>
                  <a:schemeClr val="dk1"/>
                </a:solidFill>
                <a:latin typeface="Roboto Light"/>
                <a:ea typeface="Roboto Light"/>
                <a:cs typeface="Roboto Light"/>
                <a:sym typeface="Roboto Light"/>
              </a:rPr>
              <a:t>Fine </a:t>
            </a:r>
            <a:br>
              <a:rPr lang="en" sz="2400">
                <a:solidFill>
                  <a:schemeClr val="dk1"/>
                </a:solidFill>
                <a:latin typeface="Roboto Light"/>
                <a:ea typeface="Roboto Light"/>
                <a:cs typeface="Roboto Light"/>
                <a:sym typeface="Roboto Light"/>
              </a:rPr>
            </a:br>
            <a:r>
              <a:rPr lang="en" sz="2400">
                <a:solidFill>
                  <a:schemeClr val="dk1"/>
                </a:solidFill>
                <a:latin typeface="Roboto Light"/>
                <a:ea typeface="Roboto Light"/>
                <a:cs typeface="Roboto Light"/>
                <a:sym typeface="Roboto Light"/>
              </a:rPr>
              <a:t>Grained</a:t>
            </a:r>
            <a:endParaRPr sz="1100">
              <a:latin typeface="Roboto Light"/>
              <a:ea typeface="Roboto Light"/>
              <a:cs typeface="Roboto Light"/>
              <a:sym typeface="Roboto Light"/>
            </a:endParaRPr>
          </a:p>
        </p:txBody>
      </p:sp>
      <p:sp>
        <p:nvSpPr>
          <p:cNvPr id="490" name="Google Shape;490;p60"/>
          <p:cNvSpPr txBox="1"/>
          <p:nvPr/>
        </p:nvSpPr>
        <p:spPr>
          <a:xfrm>
            <a:off x="6744357" y="1939203"/>
            <a:ext cx="1368300" cy="8079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en" sz="2400">
                <a:solidFill>
                  <a:schemeClr val="dk1"/>
                </a:solidFill>
                <a:latin typeface="Roboto Light"/>
                <a:ea typeface="Roboto Light"/>
                <a:cs typeface="Roboto Light"/>
                <a:sym typeface="Roboto Light"/>
              </a:rPr>
              <a:t>Coarse</a:t>
            </a:r>
            <a:endParaRPr sz="1100">
              <a:latin typeface="Roboto Light"/>
              <a:ea typeface="Roboto Light"/>
              <a:cs typeface="Roboto Light"/>
              <a:sym typeface="Roboto Light"/>
            </a:endParaRPr>
          </a:p>
          <a:p>
            <a:pPr indent="0" lvl="0" marL="0" marR="0" rtl="0" algn="ctr">
              <a:spcBef>
                <a:spcPts val="0"/>
              </a:spcBef>
              <a:spcAft>
                <a:spcPts val="0"/>
              </a:spcAft>
              <a:buNone/>
            </a:pPr>
            <a:r>
              <a:rPr lang="en" sz="2400">
                <a:solidFill>
                  <a:schemeClr val="dk1"/>
                </a:solidFill>
                <a:latin typeface="Roboto Light"/>
                <a:ea typeface="Roboto Light"/>
                <a:cs typeface="Roboto Light"/>
                <a:sym typeface="Roboto Light"/>
              </a:rPr>
              <a:t>Grained</a:t>
            </a:r>
            <a:endParaRPr sz="1100">
              <a:latin typeface="Roboto Light"/>
              <a:ea typeface="Roboto Light"/>
              <a:cs typeface="Roboto Light"/>
              <a:sym typeface="Roboto Light"/>
            </a:endParaRPr>
          </a:p>
        </p:txBody>
      </p:sp>
      <p:sp>
        <p:nvSpPr>
          <p:cNvPr id="491" name="Google Shape;491;p60"/>
          <p:cNvSpPr/>
          <p:nvPr/>
        </p:nvSpPr>
        <p:spPr>
          <a:xfrm>
            <a:off x="2621056" y="2073412"/>
            <a:ext cx="3831300" cy="539700"/>
          </a:xfrm>
          <a:prstGeom prst="leftRightArrow">
            <a:avLst>
              <a:gd fmla="val 50000" name="adj1"/>
              <a:gd fmla="val 50000" name="adj2"/>
            </a:avLst>
          </a:prstGeom>
          <a:gradFill>
            <a:gsLst>
              <a:gs pos="0">
                <a:srgbClr val="474747"/>
              </a:gs>
              <a:gs pos="50000">
                <a:schemeClr val="dk1"/>
              </a:gs>
              <a:gs pos="100000">
                <a:schemeClr val="dk1"/>
              </a:gs>
            </a:gsLst>
            <a:lin ang="5400012" scaled="0"/>
          </a:gradFill>
          <a:ln>
            <a:noFill/>
          </a:ln>
          <a:effectLst>
            <a:outerShdw blurRad="57150" rotWithShape="0" algn="ctr" dir="5400000" dist="19050">
              <a:srgbClr val="000000">
                <a:alpha val="6275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entury Gothic"/>
              <a:ea typeface="Century Gothic"/>
              <a:cs typeface="Century Gothic"/>
              <a:sym typeface="Century Gothic"/>
            </a:endParaRPr>
          </a:p>
        </p:txBody>
      </p:sp>
      <p:grpSp>
        <p:nvGrpSpPr>
          <p:cNvPr id="492" name="Google Shape;492;p60"/>
          <p:cNvGrpSpPr/>
          <p:nvPr/>
        </p:nvGrpSpPr>
        <p:grpSpPr>
          <a:xfrm>
            <a:off x="628650" y="1082832"/>
            <a:ext cx="2159129" cy="836606"/>
            <a:chOff x="866947" y="3704974"/>
            <a:chExt cx="2878839" cy="1115475"/>
          </a:xfrm>
        </p:grpSpPr>
        <p:sp>
          <p:nvSpPr>
            <p:cNvPr id="493" name="Google Shape;493;p60"/>
            <p:cNvSpPr/>
            <p:nvPr/>
          </p:nvSpPr>
          <p:spPr>
            <a:xfrm>
              <a:off x="1034578" y="4073370"/>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5"/>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494" name="Google Shape;494;p60"/>
            <p:cNvSpPr/>
            <p:nvPr/>
          </p:nvSpPr>
          <p:spPr>
            <a:xfrm>
              <a:off x="2096868" y="4073370"/>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4"/>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495" name="Google Shape;495;p60"/>
            <p:cNvSpPr/>
            <p:nvPr/>
          </p:nvSpPr>
          <p:spPr>
            <a:xfrm>
              <a:off x="3092540" y="4073370"/>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6"/>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496" name="Google Shape;496;p60"/>
            <p:cNvSpPr txBox="1"/>
            <p:nvPr/>
          </p:nvSpPr>
          <p:spPr>
            <a:xfrm>
              <a:off x="866947" y="3704974"/>
              <a:ext cx="880500" cy="369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a:solidFill>
                    <a:schemeClr val="dk1"/>
                  </a:solidFill>
                  <a:latin typeface="Roboto Light"/>
                  <a:ea typeface="Roboto Light"/>
                  <a:cs typeface="Roboto Light"/>
                  <a:sym typeface="Roboto Light"/>
                </a:rPr>
                <a:t>Row</a:t>
              </a:r>
              <a:r>
                <a:rPr lang="en" sz="1400">
                  <a:solidFill>
                    <a:schemeClr val="dk1"/>
                  </a:solidFill>
                  <a:latin typeface="Roboto Light"/>
                  <a:ea typeface="Roboto Light"/>
                  <a:cs typeface="Roboto Light"/>
                  <a:sym typeface="Roboto Light"/>
                </a:rPr>
                <a:t> 1</a:t>
              </a:r>
              <a:endParaRPr sz="1100">
                <a:latin typeface="Roboto Light"/>
                <a:ea typeface="Roboto Light"/>
                <a:cs typeface="Roboto Light"/>
                <a:sym typeface="Roboto Light"/>
              </a:endParaRPr>
            </a:p>
          </p:txBody>
        </p:sp>
        <p:sp>
          <p:nvSpPr>
            <p:cNvPr id="497" name="Google Shape;497;p60"/>
            <p:cNvSpPr txBox="1"/>
            <p:nvPr/>
          </p:nvSpPr>
          <p:spPr>
            <a:xfrm>
              <a:off x="1866117" y="3704974"/>
              <a:ext cx="880500" cy="369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a:solidFill>
                    <a:schemeClr val="dk1"/>
                  </a:solidFill>
                  <a:latin typeface="Roboto Light"/>
                  <a:ea typeface="Roboto Light"/>
                  <a:cs typeface="Roboto Light"/>
                  <a:sym typeface="Roboto Light"/>
                </a:rPr>
                <a:t>Row</a:t>
              </a:r>
              <a:r>
                <a:rPr lang="en" sz="1400">
                  <a:solidFill>
                    <a:schemeClr val="dk1"/>
                  </a:solidFill>
                  <a:latin typeface="Roboto Light"/>
                  <a:ea typeface="Roboto Light"/>
                  <a:cs typeface="Roboto Light"/>
                  <a:sym typeface="Roboto Light"/>
                </a:rPr>
                <a:t> 2</a:t>
              </a:r>
              <a:endParaRPr sz="1100">
                <a:latin typeface="Roboto Light"/>
                <a:ea typeface="Roboto Light"/>
                <a:cs typeface="Roboto Light"/>
                <a:sym typeface="Roboto Light"/>
              </a:endParaRPr>
            </a:p>
          </p:txBody>
        </p:sp>
        <p:sp>
          <p:nvSpPr>
            <p:cNvPr id="498" name="Google Shape;498;p60"/>
            <p:cNvSpPr txBox="1"/>
            <p:nvPr/>
          </p:nvSpPr>
          <p:spPr>
            <a:xfrm>
              <a:off x="2865286" y="3704974"/>
              <a:ext cx="880500" cy="369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a:solidFill>
                    <a:schemeClr val="dk1"/>
                  </a:solidFill>
                  <a:latin typeface="Roboto Light"/>
                  <a:ea typeface="Roboto Light"/>
                  <a:cs typeface="Roboto Light"/>
                  <a:sym typeface="Roboto Light"/>
                </a:rPr>
                <a:t>Row</a:t>
              </a:r>
              <a:r>
                <a:rPr lang="en" sz="1400">
                  <a:solidFill>
                    <a:schemeClr val="dk1"/>
                  </a:solidFill>
                  <a:latin typeface="Roboto Light"/>
                  <a:ea typeface="Roboto Light"/>
                  <a:cs typeface="Roboto Light"/>
                  <a:sym typeface="Roboto Light"/>
                </a:rPr>
                <a:t> 3</a:t>
              </a:r>
              <a:endParaRPr sz="1100">
                <a:latin typeface="Roboto Light"/>
                <a:ea typeface="Roboto Light"/>
                <a:cs typeface="Roboto Light"/>
                <a:sym typeface="Roboto Light"/>
              </a:endParaRPr>
            </a:p>
          </p:txBody>
        </p:sp>
      </p:grpSp>
      <p:grpSp>
        <p:nvGrpSpPr>
          <p:cNvPr id="499" name="Google Shape;499;p60"/>
          <p:cNvGrpSpPr/>
          <p:nvPr/>
        </p:nvGrpSpPr>
        <p:grpSpPr>
          <a:xfrm>
            <a:off x="3389090" y="835606"/>
            <a:ext cx="2569194" cy="1083832"/>
            <a:chOff x="4486574" y="3541039"/>
            <a:chExt cx="3425592" cy="1445110"/>
          </a:xfrm>
        </p:grpSpPr>
        <p:grpSp>
          <p:nvGrpSpPr>
            <p:cNvPr id="500" name="Google Shape;500;p60"/>
            <p:cNvGrpSpPr/>
            <p:nvPr/>
          </p:nvGrpSpPr>
          <p:grpSpPr>
            <a:xfrm>
              <a:off x="4499497" y="3979852"/>
              <a:ext cx="768376" cy="934116"/>
              <a:chOff x="4499497" y="4136968"/>
              <a:chExt cx="768376" cy="934116"/>
            </a:xfrm>
          </p:grpSpPr>
          <p:sp>
            <p:nvSpPr>
              <p:cNvPr id="501" name="Google Shape;501;p60"/>
              <p:cNvSpPr/>
              <p:nvPr/>
            </p:nvSpPr>
            <p:spPr>
              <a:xfrm>
                <a:off x="4670195" y="4136968"/>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4"/>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502" name="Google Shape;502;p60"/>
              <p:cNvSpPr/>
              <p:nvPr/>
            </p:nvSpPr>
            <p:spPr>
              <a:xfrm>
                <a:off x="4499497" y="4324005"/>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4"/>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503" name="Google Shape;503;p60"/>
              <p:cNvSpPr/>
              <p:nvPr/>
            </p:nvSpPr>
            <p:spPr>
              <a:xfrm>
                <a:off x="4822595" y="4289368"/>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4"/>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grpSp>
        <p:grpSp>
          <p:nvGrpSpPr>
            <p:cNvPr id="504" name="Google Shape;504;p60"/>
            <p:cNvGrpSpPr/>
            <p:nvPr/>
          </p:nvGrpSpPr>
          <p:grpSpPr>
            <a:xfrm>
              <a:off x="5925929" y="3907670"/>
              <a:ext cx="606206" cy="1078479"/>
              <a:chOff x="5941798" y="4256671"/>
              <a:chExt cx="606206" cy="1078479"/>
            </a:xfrm>
          </p:grpSpPr>
          <p:sp>
            <p:nvSpPr>
              <p:cNvPr id="505" name="Google Shape;505;p60"/>
              <p:cNvSpPr/>
              <p:nvPr/>
            </p:nvSpPr>
            <p:spPr>
              <a:xfrm>
                <a:off x="5950326" y="4256671"/>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6"/>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506" name="Google Shape;506;p60"/>
              <p:cNvSpPr/>
              <p:nvPr/>
            </p:nvSpPr>
            <p:spPr>
              <a:xfrm>
                <a:off x="6102726" y="4409071"/>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6"/>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507" name="Google Shape;507;p60"/>
              <p:cNvSpPr/>
              <p:nvPr/>
            </p:nvSpPr>
            <p:spPr>
              <a:xfrm>
                <a:off x="5941798" y="4588071"/>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6"/>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grpSp>
        <p:grpSp>
          <p:nvGrpSpPr>
            <p:cNvPr id="508" name="Google Shape;508;p60"/>
            <p:cNvGrpSpPr/>
            <p:nvPr/>
          </p:nvGrpSpPr>
          <p:grpSpPr>
            <a:xfrm>
              <a:off x="6921601" y="3909609"/>
              <a:ext cx="990565" cy="1074601"/>
              <a:chOff x="6799630" y="4213998"/>
              <a:chExt cx="990565" cy="1074601"/>
            </a:xfrm>
          </p:grpSpPr>
          <p:sp>
            <p:nvSpPr>
              <p:cNvPr id="509" name="Google Shape;509;p60"/>
              <p:cNvSpPr/>
              <p:nvPr/>
            </p:nvSpPr>
            <p:spPr>
              <a:xfrm>
                <a:off x="7078058" y="4213998"/>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rgbClr val="7030A0"/>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510" name="Google Shape;510;p60"/>
              <p:cNvSpPr/>
              <p:nvPr/>
            </p:nvSpPr>
            <p:spPr>
              <a:xfrm>
                <a:off x="7344917" y="4315971"/>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rgbClr val="7030A0"/>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511" name="Google Shape;511;p60"/>
              <p:cNvSpPr/>
              <p:nvPr/>
            </p:nvSpPr>
            <p:spPr>
              <a:xfrm>
                <a:off x="6799630" y="4366398"/>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rgbClr val="7030A0"/>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512" name="Google Shape;512;p60"/>
              <p:cNvSpPr/>
              <p:nvPr/>
            </p:nvSpPr>
            <p:spPr>
              <a:xfrm>
                <a:off x="7089205" y="4541520"/>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rgbClr val="7030A0"/>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grpSp>
        <p:sp>
          <p:nvSpPr>
            <p:cNvPr id="513" name="Google Shape;513;p60"/>
            <p:cNvSpPr txBox="1"/>
            <p:nvPr/>
          </p:nvSpPr>
          <p:spPr>
            <a:xfrm>
              <a:off x="4486574" y="3541039"/>
              <a:ext cx="880500" cy="369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a:solidFill>
                    <a:schemeClr val="dk1"/>
                  </a:solidFill>
                  <a:latin typeface="Roboto Light"/>
                  <a:ea typeface="Roboto Light"/>
                  <a:cs typeface="Roboto Light"/>
                  <a:sym typeface="Roboto Light"/>
                </a:rPr>
                <a:t>Row</a:t>
              </a:r>
              <a:r>
                <a:rPr lang="en" sz="1400">
                  <a:solidFill>
                    <a:schemeClr val="dk1"/>
                  </a:solidFill>
                  <a:latin typeface="Roboto Light"/>
                  <a:ea typeface="Roboto Light"/>
                  <a:cs typeface="Roboto Light"/>
                  <a:sym typeface="Roboto Light"/>
                </a:rPr>
                <a:t> 1</a:t>
              </a:r>
              <a:endParaRPr sz="1100">
                <a:latin typeface="Roboto Light"/>
                <a:ea typeface="Roboto Light"/>
                <a:cs typeface="Roboto Light"/>
                <a:sym typeface="Roboto Light"/>
              </a:endParaRPr>
            </a:p>
          </p:txBody>
        </p:sp>
        <p:sp>
          <p:nvSpPr>
            <p:cNvPr id="514" name="Google Shape;514;p60"/>
            <p:cNvSpPr txBox="1"/>
            <p:nvPr/>
          </p:nvSpPr>
          <p:spPr>
            <a:xfrm>
              <a:off x="5707832" y="3541039"/>
              <a:ext cx="880500" cy="369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a:solidFill>
                    <a:schemeClr val="dk1"/>
                  </a:solidFill>
                  <a:latin typeface="Roboto Light"/>
                  <a:ea typeface="Roboto Light"/>
                  <a:cs typeface="Roboto Light"/>
                  <a:sym typeface="Roboto Light"/>
                </a:rPr>
                <a:t>Row</a:t>
              </a:r>
              <a:r>
                <a:rPr lang="en" sz="1400">
                  <a:solidFill>
                    <a:schemeClr val="dk1"/>
                  </a:solidFill>
                  <a:latin typeface="Roboto Light"/>
                  <a:ea typeface="Roboto Light"/>
                  <a:cs typeface="Roboto Light"/>
                  <a:sym typeface="Roboto Light"/>
                </a:rPr>
                <a:t> 2</a:t>
              </a:r>
              <a:endParaRPr sz="1100">
                <a:latin typeface="Roboto Light"/>
                <a:ea typeface="Roboto Light"/>
                <a:cs typeface="Roboto Light"/>
                <a:sym typeface="Roboto Light"/>
              </a:endParaRPr>
            </a:p>
          </p:txBody>
        </p:sp>
        <p:sp>
          <p:nvSpPr>
            <p:cNvPr id="515" name="Google Shape;515;p60"/>
            <p:cNvSpPr txBox="1"/>
            <p:nvPr/>
          </p:nvSpPr>
          <p:spPr>
            <a:xfrm>
              <a:off x="6982801" y="3541039"/>
              <a:ext cx="880500" cy="369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a:solidFill>
                    <a:schemeClr val="dk1"/>
                  </a:solidFill>
                  <a:latin typeface="Roboto Light"/>
                  <a:ea typeface="Roboto Light"/>
                  <a:cs typeface="Roboto Light"/>
                  <a:sym typeface="Roboto Light"/>
                </a:rPr>
                <a:t>Row</a:t>
              </a:r>
              <a:r>
                <a:rPr lang="en" sz="1400">
                  <a:solidFill>
                    <a:schemeClr val="dk1"/>
                  </a:solidFill>
                  <a:latin typeface="Roboto Light"/>
                  <a:ea typeface="Roboto Light"/>
                  <a:cs typeface="Roboto Light"/>
                  <a:sym typeface="Roboto Light"/>
                </a:rPr>
                <a:t> 3</a:t>
              </a:r>
              <a:endParaRPr sz="1100">
                <a:latin typeface="Roboto Light"/>
                <a:ea typeface="Roboto Light"/>
                <a:cs typeface="Roboto Light"/>
                <a:sym typeface="Roboto Light"/>
              </a:endParaRPr>
            </a:p>
          </p:txBody>
        </p:sp>
      </p:grpSp>
      <p:grpSp>
        <p:nvGrpSpPr>
          <p:cNvPr id="516" name="Google Shape;516;p60"/>
          <p:cNvGrpSpPr/>
          <p:nvPr/>
        </p:nvGrpSpPr>
        <p:grpSpPr>
          <a:xfrm>
            <a:off x="6743539" y="514027"/>
            <a:ext cx="1451225" cy="1405411"/>
            <a:chOff x="9227397" y="3290580"/>
            <a:chExt cx="1934967" cy="1873882"/>
          </a:xfrm>
        </p:grpSpPr>
        <p:grpSp>
          <p:nvGrpSpPr>
            <p:cNvPr id="517" name="Google Shape;517;p60"/>
            <p:cNvGrpSpPr/>
            <p:nvPr/>
          </p:nvGrpSpPr>
          <p:grpSpPr>
            <a:xfrm>
              <a:off x="9227397" y="3704974"/>
              <a:ext cx="1934967" cy="1459488"/>
              <a:chOff x="9227397" y="3704974"/>
              <a:chExt cx="1934967" cy="1459488"/>
            </a:xfrm>
          </p:grpSpPr>
          <p:sp>
            <p:nvSpPr>
              <p:cNvPr id="518" name="Google Shape;518;p60"/>
              <p:cNvSpPr/>
              <p:nvPr/>
            </p:nvSpPr>
            <p:spPr>
              <a:xfrm>
                <a:off x="9240655" y="3722614"/>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4"/>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519" name="Google Shape;519;p60"/>
              <p:cNvSpPr/>
              <p:nvPr/>
            </p:nvSpPr>
            <p:spPr>
              <a:xfrm>
                <a:off x="9556551" y="3879240"/>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6"/>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520" name="Google Shape;520;p60"/>
              <p:cNvSpPr/>
              <p:nvPr/>
            </p:nvSpPr>
            <p:spPr>
              <a:xfrm>
                <a:off x="9719768" y="4057011"/>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6"/>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521" name="Google Shape;521;p60"/>
              <p:cNvSpPr/>
              <p:nvPr/>
            </p:nvSpPr>
            <p:spPr>
              <a:xfrm>
                <a:off x="9227397" y="4108150"/>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4"/>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522" name="Google Shape;522;p60"/>
              <p:cNvSpPr/>
              <p:nvPr/>
            </p:nvSpPr>
            <p:spPr>
              <a:xfrm>
                <a:off x="9968745" y="3704974"/>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4"/>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523" name="Google Shape;523;p60"/>
              <p:cNvSpPr/>
              <p:nvPr/>
            </p:nvSpPr>
            <p:spPr>
              <a:xfrm>
                <a:off x="10717086" y="3868918"/>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6"/>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524" name="Google Shape;524;p60"/>
              <p:cNvSpPr/>
              <p:nvPr/>
            </p:nvSpPr>
            <p:spPr>
              <a:xfrm>
                <a:off x="10147341" y="3792448"/>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rgbClr val="7030A0"/>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525" name="Google Shape;525;p60"/>
              <p:cNvSpPr/>
              <p:nvPr/>
            </p:nvSpPr>
            <p:spPr>
              <a:xfrm>
                <a:off x="10412473" y="4078199"/>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rgbClr val="7030A0"/>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526" name="Google Shape;526;p60"/>
              <p:cNvSpPr/>
              <p:nvPr/>
            </p:nvSpPr>
            <p:spPr>
              <a:xfrm>
                <a:off x="9452772" y="4213998"/>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rgbClr val="7030A0"/>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527" name="Google Shape;527;p60"/>
              <p:cNvSpPr/>
              <p:nvPr/>
            </p:nvSpPr>
            <p:spPr>
              <a:xfrm>
                <a:off x="9696668" y="4400539"/>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rgbClr val="7030A0"/>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528" name="Google Shape;528;p60"/>
              <p:cNvSpPr/>
              <p:nvPr/>
            </p:nvSpPr>
            <p:spPr>
              <a:xfrm>
                <a:off x="10638565" y="4417383"/>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6"/>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sp>
            <p:nvSpPr>
              <p:cNvPr id="529" name="Google Shape;529;p60"/>
              <p:cNvSpPr/>
              <p:nvPr/>
            </p:nvSpPr>
            <p:spPr>
              <a:xfrm>
                <a:off x="10081143" y="4274714"/>
                <a:ext cx="445278" cy="747079"/>
              </a:xfrm>
              <a:custGeom>
                <a:rect b="b" l="l" r="r" t="t"/>
                <a:pathLst>
                  <a:path extrusionOk="0" h="2668139" w="1590278">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4"/>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Light"/>
                  <a:ea typeface="Roboto Light"/>
                  <a:cs typeface="Roboto Light"/>
                  <a:sym typeface="Roboto Light"/>
                </a:endParaRPr>
              </a:p>
            </p:txBody>
          </p:sp>
        </p:grpSp>
        <p:sp>
          <p:nvSpPr>
            <p:cNvPr id="530" name="Google Shape;530;p60"/>
            <p:cNvSpPr txBox="1"/>
            <p:nvPr/>
          </p:nvSpPr>
          <p:spPr>
            <a:xfrm>
              <a:off x="9779508" y="3290580"/>
              <a:ext cx="880500" cy="369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a:solidFill>
                    <a:schemeClr val="dk1"/>
                  </a:solidFill>
                  <a:latin typeface="Roboto Light"/>
                  <a:ea typeface="Roboto Light"/>
                  <a:cs typeface="Roboto Light"/>
                  <a:sym typeface="Roboto Light"/>
                </a:rPr>
                <a:t>Row</a:t>
              </a:r>
              <a:r>
                <a:rPr lang="en" sz="1400">
                  <a:solidFill>
                    <a:schemeClr val="dk1"/>
                  </a:solidFill>
                  <a:latin typeface="Roboto Light"/>
                  <a:ea typeface="Roboto Light"/>
                  <a:cs typeface="Roboto Light"/>
                  <a:sym typeface="Roboto Light"/>
                </a:rPr>
                <a:t> 1</a:t>
              </a:r>
              <a:endParaRPr sz="1100">
                <a:latin typeface="Roboto Light"/>
                <a:ea typeface="Roboto Light"/>
                <a:cs typeface="Roboto Light"/>
                <a:sym typeface="Roboto Ligh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4" name="Shape 534"/>
        <p:cNvGrpSpPr/>
        <p:nvPr/>
      </p:nvGrpSpPr>
      <p:grpSpPr>
        <a:xfrm>
          <a:off x="0" y="0"/>
          <a:ext cx="0" cy="0"/>
          <a:chOff x="0" y="0"/>
          <a:chExt cx="0" cy="0"/>
        </a:xfrm>
      </p:grpSpPr>
      <p:sp>
        <p:nvSpPr>
          <p:cNvPr id="535" name="Google Shape;535;p61"/>
          <p:cNvSpPr/>
          <p:nvPr/>
        </p:nvSpPr>
        <p:spPr>
          <a:xfrm rot="5400000">
            <a:off x="7365228" y="0"/>
            <a:ext cx="1778700" cy="1778700"/>
          </a:xfrm>
          <a:prstGeom prst="diagStripe">
            <a:avLst>
              <a:gd fmla="val 50000" name="adj"/>
            </a:avLst>
          </a:prstGeom>
          <a:solidFill>
            <a:srgbClr val="EDFA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536" name="Google Shape;536;p61"/>
          <p:cNvSpPr txBox="1"/>
          <p:nvPr/>
        </p:nvSpPr>
        <p:spPr>
          <a:xfrm rot="2700000">
            <a:off x="7215273" y="386217"/>
            <a:ext cx="2501461" cy="583787"/>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98038"/>
                </a:solidFill>
                <a:latin typeface="Inter"/>
                <a:ea typeface="Inter"/>
                <a:cs typeface="Inter"/>
                <a:sym typeface="Inter"/>
              </a:rPr>
              <a:t>Do not edit</a:t>
            </a:r>
            <a:endParaRPr b="1" sz="1200">
              <a:solidFill>
                <a:srgbClr val="198038"/>
              </a:solidFill>
              <a:latin typeface="Inter"/>
              <a:ea typeface="Inter"/>
              <a:cs typeface="Inter"/>
              <a:sym typeface="Inter"/>
            </a:endParaRPr>
          </a:p>
          <a:p>
            <a:pPr indent="0" lvl="0" marL="0" rtl="0" algn="ctr">
              <a:spcBef>
                <a:spcPts val="0"/>
              </a:spcBef>
              <a:spcAft>
                <a:spcPts val="0"/>
              </a:spcAft>
              <a:buNone/>
            </a:pPr>
            <a:r>
              <a:rPr lang="en" sz="1200" u="sng">
                <a:solidFill>
                  <a:srgbClr val="198038"/>
                </a:solidFill>
                <a:latin typeface="Inter Light"/>
                <a:ea typeface="Inter Light"/>
                <a:cs typeface="Inter Light"/>
                <a:sym typeface="Inter Light"/>
                <a:hlinkClick r:id="rId3">
                  <a:extLst>
                    <a:ext uri="{A12FA001-AC4F-418D-AE19-62706E023703}">
                      <ahyp:hlinkClr val="tx"/>
                    </a:ext>
                  </a:extLst>
                </a:hlinkClick>
              </a:rPr>
              <a:t>How to change the design</a:t>
            </a:r>
            <a:endParaRPr sz="1200">
              <a:solidFill>
                <a:srgbClr val="198038"/>
              </a:solidFill>
              <a:latin typeface="Inter Light"/>
              <a:ea typeface="Inter Light"/>
              <a:cs typeface="Inter Light"/>
              <a:sym typeface="Inter Light"/>
            </a:endParaRPr>
          </a:p>
        </p:txBody>
      </p:sp>
      <p:sp>
        <p:nvSpPr>
          <p:cNvPr descr="title-id" id="537" name="Google Shape;537;p61"/>
          <p:cNvSpPr txBox="1"/>
          <p:nvPr/>
        </p:nvSpPr>
        <p:spPr>
          <a:xfrm>
            <a:off x="2334638" y="1320628"/>
            <a:ext cx="6364800" cy="175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rgbClr val="5B5B5B"/>
                </a:solidFill>
                <a:latin typeface="Inter"/>
                <a:ea typeface="Inter"/>
                <a:cs typeface="Inter"/>
                <a:sym typeface="Inter"/>
              </a:rPr>
              <a:t>What does each row of the `elections` dataset represent? In other words, what is granularity of `elections`?</a:t>
            </a:r>
            <a:endParaRPr b="1" sz="2400">
              <a:solidFill>
                <a:srgbClr val="5B5B5B"/>
              </a:solidFill>
              <a:latin typeface="Inter"/>
              <a:ea typeface="Inter"/>
              <a:cs typeface="Inter"/>
              <a:sym typeface="Inter"/>
            </a:endParaRPr>
          </a:p>
        </p:txBody>
      </p:sp>
      <p:sp>
        <p:nvSpPr>
          <p:cNvPr id="538" name="Google Shape;538;p61"/>
          <p:cNvSpPr/>
          <p:nvPr/>
        </p:nvSpPr>
        <p:spPr>
          <a:xfrm>
            <a:off x="0" y="4365024"/>
            <a:ext cx="9144000" cy="778500"/>
          </a:xfrm>
          <a:prstGeom prst="rect">
            <a:avLst/>
          </a:prstGeom>
          <a:solidFill>
            <a:srgbClr val="19803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539" name="Google Shape;539;p61"/>
          <p:cNvSpPr txBox="1"/>
          <p:nvPr/>
        </p:nvSpPr>
        <p:spPr>
          <a:xfrm>
            <a:off x="555866" y="4365024"/>
            <a:ext cx="6948300" cy="77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FFFFFF"/>
                </a:solidFill>
                <a:latin typeface="Inter Light"/>
                <a:ea typeface="Inter Light"/>
                <a:cs typeface="Inter Light"/>
                <a:sym typeface="Inter Light"/>
              </a:rPr>
              <a:t>Presenting with animations, GIFs or speaker notes? Enable our </a:t>
            </a:r>
            <a:r>
              <a:rPr lang="en" sz="1200" u="sng">
                <a:solidFill>
                  <a:srgbClr val="FFFFFF"/>
                </a:solidFill>
                <a:latin typeface="Inter Light"/>
                <a:ea typeface="Inter Light"/>
                <a:cs typeface="Inter Light"/>
                <a:sym typeface="Inter Light"/>
                <a:hlinkClick r:id="rId4">
                  <a:extLst>
                    <a:ext uri="{A12FA001-AC4F-418D-AE19-62706E023703}">
                      <ahyp:hlinkClr val="tx"/>
                    </a:ext>
                  </a:extLst>
                </a:hlinkClick>
              </a:rPr>
              <a:t>Chrome extension</a:t>
            </a:r>
            <a:endParaRPr sz="1200">
              <a:solidFill>
                <a:srgbClr val="FFFFFF"/>
              </a:solidFill>
              <a:latin typeface="Inter Light"/>
              <a:ea typeface="Inter Light"/>
              <a:cs typeface="Inter Light"/>
              <a:sym typeface="Inter Light"/>
            </a:endParaRPr>
          </a:p>
        </p:txBody>
      </p:sp>
      <p:pic>
        <p:nvPicPr>
          <p:cNvPr id="540" name="Google Shape;540;p61"/>
          <p:cNvPicPr preferRelativeResize="0"/>
          <p:nvPr/>
        </p:nvPicPr>
        <p:blipFill>
          <a:blip r:embed="rId5">
            <a:alphaModFix/>
          </a:blip>
          <a:stretch>
            <a:fillRect/>
          </a:stretch>
        </p:blipFill>
        <p:spPr>
          <a:xfrm>
            <a:off x="222347" y="4643089"/>
            <a:ext cx="222347" cy="222347"/>
          </a:xfrm>
          <a:prstGeom prst="rect">
            <a:avLst/>
          </a:prstGeom>
          <a:noFill/>
          <a:ln>
            <a:noFill/>
          </a:ln>
        </p:spPr>
      </p:pic>
      <p:pic>
        <p:nvPicPr>
          <p:cNvPr descr="logo-id" id="541" name="Google Shape;541;p61">
            <a:hlinkClick r:id="rId6"/>
          </p:cNvPr>
          <p:cNvPicPr preferRelativeResize="0"/>
          <p:nvPr/>
        </p:nvPicPr>
        <p:blipFill>
          <a:blip r:embed="rId7">
            <a:alphaModFix/>
          </a:blip>
          <a:stretch>
            <a:fillRect/>
          </a:stretch>
        </p:blipFill>
        <p:spPr>
          <a:xfrm>
            <a:off x="7921094" y="4476329"/>
            <a:ext cx="1111733" cy="555866"/>
          </a:xfrm>
          <a:prstGeom prst="rect">
            <a:avLst/>
          </a:prstGeom>
          <a:noFill/>
          <a:ln>
            <a:noFill/>
          </a:ln>
        </p:spPr>
      </p:pic>
      <p:pic>
        <p:nvPicPr>
          <p:cNvPr descr="poll-type-id" id="542" name="Google Shape;542;p61">
            <a:hlinkClick r:id="rId8"/>
          </p:cNvPr>
          <p:cNvPicPr preferRelativeResize="0"/>
          <p:nvPr/>
        </p:nvPicPr>
        <p:blipFill>
          <a:blip r:embed="rId9">
            <a:alphaModFix/>
          </a:blip>
          <a:stretch>
            <a:fillRect/>
          </a:stretch>
        </p:blipFill>
        <p:spPr>
          <a:xfrm>
            <a:off x="333520" y="1307027"/>
            <a:ext cx="1778772" cy="177877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Granularity of </a:t>
            </a:r>
            <a:r>
              <a:rPr lang="en">
                <a:latin typeface="Consolas"/>
                <a:ea typeface="Consolas"/>
                <a:cs typeface="Consolas"/>
                <a:sym typeface="Consolas"/>
              </a:rPr>
              <a:t>elections</a:t>
            </a:r>
            <a:endParaRPr>
              <a:latin typeface="Consolas"/>
              <a:ea typeface="Consolas"/>
              <a:cs typeface="Consolas"/>
              <a:sym typeface="Consolas"/>
            </a:endParaRPr>
          </a:p>
        </p:txBody>
      </p:sp>
      <p:sp>
        <p:nvSpPr>
          <p:cNvPr id="548" name="Google Shape;548;p6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Each row of </a:t>
            </a:r>
            <a:r>
              <a:rPr lang="en">
                <a:latin typeface="Consolas"/>
                <a:ea typeface="Consolas"/>
                <a:cs typeface="Consolas"/>
                <a:sym typeface="Consolas"/>
              </a:rPr>
              <a:t>elections</a:t>
            </a:r>
            <a:r>
              <a:rPr lang="en"/>
              <a:t> represents a unique combination of </a:t>
            </a:r>
            <a:r>
              <a:rPr b="1" lang="en">
                <a:latin typeface="Roboto"/>
                <a:ea typeface="Roboto"/>
                <a:cs typeface="Roboto"/>
                <a:sym typeface="Roboto"/>
              </a:rPr>
              <a:t>candidate and year.</a:t>
            </a:r>
            <a:endParaRPr b="1">
              <a:latin typeface="Roboto"/>
              <a:ea typeface="Roboto"/>
              <a:cs typeface="Roboto"/>
              <a:sym typeface="Roboto"/>
            </a:endParaRPr>
          </a:p>
          <a:p>
            <a:pPr indent="-330200" lvl="0" marL="457200" rtl="0" algn="l">
              <a:spcBef>
                <a:spcPts val="600"/>
              </a:spcBef>
              <a:spcAft>
                <a:spcPts val="0"/>
              </a:spcAft>
              <a:buSzPts val="1600"/>
              <a:buChar char="●"/>
            </a:pPr>
            <a:r>
              <a:rPr lang="en"/>
              <a:t>Assumptions: O</a:t>
            </a:r>
            <a:r>
              <a:rPr lang="en"/>
              <a:t>ne election per year and c</a:t>
            </a:r>
            <a:r>
              <a:rPr lang="en"/>
              <a:t>andidate represents one party per election.</a:t>
            </a:r>
            <a:endParaRPr/>
          </a:p>
        </p:txBody>
      </p:sp>
      <p:sp>
        <p:nvSpPr>
          <p:cNvPr id="549" name="Google Shape;549;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50" name="Google Shape;550;p62"/>
          <p:cNvPicPr preferRelativeResize="0"/>
          <p:nvPr/>
        </p:nvPicPr>
        <p:blipFill>
          <a:blip r:embed="rId3">
            <a:alphaModFix/>
          </a:blip>
          <a:stretch>
            <a:fillRect/>
          </a:stretch>
        </p:blipFill>
        <p:spPr>
          <a:xfrm>
            <a:off x="636200" y="1532424"/>
            <a:ext cx="7781951" cy="251965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4" name="Shape 554"/>
        <p:cNvGrpSpPr/>
        <p:nvPr/>
      </p:nvGrpSpPr>
      <p:grpSpPr>
        <a:xfrm>
          <a:off x="0" y="0"/>
          <a:ext cx="0" cy="0"/>
          <a:chOff x="0" y="0"/>
          <a:chExt cx="0" cy="0"/>
        </a:xfrm>
      </p:grpSpPr>
      <p:sp>
        <p:nvSpPr>
          <p:cNvPr id="555" name="Google Shape;555;p63"/>
          <p:cNvSpPr/>
          <p:nvPr/>
        </p:nvSpPr>
        <p:spPr>
          <a:xfrm rot="5400000">
            <a:off x="7365228" y="0"/>
            <a:ext cx="1778700" cy="1778700"/>
          </a:xfrm>
          <a:prstGeom prst="diagStripe">
            <a:avLst>
              <a:gd fmla="val 50000" name="adj"/>
            </a:avLst>
          </a:prstGeom>
          <a:solidFill>
            <a:srgbClr val="EDFA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556" name="Google Shape;556;p63"/>
          <p:cNvSpPr txBox="1"/>
          <p:nvPr/>
        </p:nvSpPr>
        <p:spPr>
          <a:xfrm rot="2700000">
            <a:off x="7215273" y="386217"/>
            <a:ext cx="2501461" cy="583787"/>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98038"/>
                </a:solidFill>
                <a:latin typeface="Inter"/>
                <a:ea typeface="Inter"/>
                <a:cs typeface="Inter"/>
                <a:sym typeface="Inter"/>
              </a:rPr>
              <a:t>Do not edit</a:t>
            </a:r>
            <a:endParaRPr b="1" sz="1200">
              <a:solidFill>
                <a:srgbClr val="198038"/>
              </a:solidFill>
              <a:latin typeface="Inter"/>
              <a:ea typeface="Inter"/>
              <a:cs typeface="Inter"/>
              <a:sym typeface="Inter"/>
            </a:endParaRPr>
          </a:p>
          <a:p>
            <a:pPr indent="0" lvl="0" marL="0" rtl="0" algn="ctr">
              <a:spcBef>
                <a:spcPts val="0"/>
              </a:spcBef>
              <a:spcAft>
                <a:spcPts val="0"/>
              </a:spcAft>
              <a:buNone/>
            </a:pPr>
            <a:r>
              <a:rPr lang="en" sz="1200" u="sng">
                <a:solidFill>
                  <a:srgbClr val="198038"/>
                </a:solidFill>
                <a:latin typeface="Inter Light"/>
                <a:ea typeface="Inter Light"/>
                <a:cs typeface="Inter Light"/>
                <a:sym typeface="Inter Light"/>
                <a:hlinkClick r:id="rId3">
                  <a:extLst>
                    <a:ext uri="{A12FA001-AC4F-418D-AE19-62706E023703}">
                      <ahyp:hlinkClr val="tx"/>
                    </a:ext>
                  </a:extLst>
                </a:hlinkClick>
              </a:rPr>
              <a:t>How to change the design</a:t>
            </a:r>
            <a:endParaRPr sz="1200">
              <a:solidFill>
                <a:srgbClr val="198038"/>
              </a:solidFill>
              <a:latin typeface="Inter Light"/>
              <a:ea typeface="Inter Light"/>
              <a:cs typeface="Inter Light"/>
              <a:sym typeface="Inter Light"/>
            </a:endParaRPr>
          </a:p>
        </p:txBody>
      </p:sp>
      <p:sp>
        <p:nvSpPr>
          <p:cNvPr descr="title-id" id="557" name="Google Shape;557;p63"/>
          <p:cNvSpPr txBox="1"/>
          <p:nvPr/>
        </p:nvSpPr>
        <p:spPr>
          <a:xfrm>
            <a:off x="2334638" y="1320628"/>
            <a:ext cx="6364800" cy="175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00">
                <a:solidFill>
                  <a:srgbClr val="5B5B5B"/>
                </a:solidFill>
                <a:latin typeface="Inter"/>
                <a:ea typeface="Inter"/>
                <a:cs typeface="Inter"/>
                <a:sym typeface="Inter"/>
              </a:rPr>
              <a:t>What is the granularity of the `babynames` dataset?</a:t>
            </a:r>
            <a:endParaRPr b="1" sz="3600">
              <a:solidFill>
                <a:srgbClr val="5B5B5B"/>
              </a:solidFill>
              <a:latin typeface="Inter"/>
              <a:ea typeface="Inter"/>
              <a:cs typeface="Inter"/>
              <a:sym typeface="Inter"/>
            </a:endParaRPr>
          </a:p>
        </p:txBody>
      </p:sp>
      <p:sp>
        <p:nvSpPr>
          <p:cNvPr id="558" name="Google Shape;558;p63"/>
          <p:cNvSpPr/>
          <p:nvPr/>
        </p:nvSpPr>
        <p:spPr>
          <a:xfrm>
            <a:off x="0" y="4365024"/>
            <a:ext cx="9144000" cy="778500"/>
          </a:xfrm>
          <a:prstGeom prst="rect">
            <a:avLst/>
          </a:prstGeom>
          <a:solidFill>
            <a:srgbClr val="19803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559" name="Google Shape;559;p63"/>
          <p:cNvSpPr txBox="1"/>
          <p:nvPr/>
        </p:nvSpPr>
        <p:spPr>
          <a:xfrm>
            <a:off x="555866" y="4365024"/>
            <a:ext cx="6948300" cy="77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FFFFFF"/>
                </a:solidFill>
                <a:latin typeface="Inter Light"/>
                <a:ea typeface="Inter Light"/>
                <a:cs typeface="Inter Light"/>
                <a:sym typeface="Inter Light"/>
              </a:rPr>
              <a:t>Presenting with animations, GIFs or speaker notes? Enable our </a:t>
            </a:r>
            <a:r>
              <a:rPr lang="en" sz="1200" u="sng">
                <a:solidFill>
                  <a:srgbClr val="FFFFFF"/>
                </a:solidFill>
                <a:latin typeface="Inter Light"/>
                <a:ea typeface="Inter Light"/>
                <a:cs typeface="Inter Light"/>
                <a:sym typeface="Inter Light"/>
                <a:hlinkClick r:id="rId4">
                  <a:extLst>
                    <a:ext uri="{A12FA001-AC4F-418D-AE19-62706E023703}">
                      <ahyp:hlinkClr val="tx"/>
                    </a:ext>
                  </a:extLst>
                </a:hlinkClick>
              </a:rPr>
              <a:t>Chrome extension</a:t>
            </a:r>
            <a:endParaRPr sz="1200">
              <a:solidFill>
                <a:srgbClr val="FFFFFF"/>
              </a:solidFill>
              <a:latin typeface="Inter Light"/>
              <a:ea typeface="Inter Light"/>
              <a:cs typeface="Inter Light"/>
              <a:sym typeface="Inter Light"/>
            </a:endParaRPr>
          </a:p>
        </p:txBody>
      </p:sp>
      <p:pic>
        <p:nvPicPr>
          <p:cNvPr id="560" name="Google Shape;560;p63"/>
          <p:cNvPicPr preferRelativeResize="0"/>
          <p:nvPr/>
        </p:nvPicPr>
        <p:blipFill>
          <a:blip r:embed="rId5">
            <a:alphaModFix/>
          </a:blip>
          <a:stretch>
            <a:fillRect/>
          </a:stretch>
        </p:blipFill>
        <p:spPr>
          <a:xfrm>
            <a:off x="222347" y="4643089"/>
            <a:ext cx="222347" cy="222347"/>
          </a:xfrm>
          <a:prstGeom prst="rect">
            <a:avLst/>
          </a:prstGeom>
          <a:noFill/>
          <a:ln>
            <a:noFill/>
          </a:ln>
        </p:spPr>
      </p:pic>
      <p:pic>
        <p:nvPicPr>
          <p:cNvPr descr="logo-id" id="561" name="Google Shape;561;p63">
            <a:hlinkClick r:id="rId6"/>
          </p:cNvPr>
          <p:cNvPicPr preferRelativeResize="0"/>
          <p:nvPr/>
        </p:nvPicPr>
        <p:blipFill>
          <a:blip r:embed="rId7">
            <a:alphaModFix/>
          </a:blip>
          <a:stretch>
            <a:fillRect/>
          </a:stretch>
        </p:blipFill>
        <p:spPr>
          <a:xfrm>
            <a:off x="7921094" y="4476329"/>
            <a:ext cx="1111733" cy="555866"/>
          </a:xfrm>
          <a:prstGeom prst="rect">
            <a:avLst/>
          </a:prstGeom>
          <a:noFill/>
          <a:ln>
            <a:noFill/>
          </a:ln>
        </p:spPr>
      </p:pic>
      <p:pic>
        <p:nvPicPr>
          <p:cNvPr descr="poll-type-id" id="562" name="Google Shape;562;p63">
            <a:hlinkClick r:id="rId8"/>
          </p:cNvPr>
          <p:cNvPicPr preferRelativeResize="0"/>
          <p:nvPr/>
        </p:nvPicPr>
        <p:blipFill>
          <a:blip r:embed="rId9">
            <a:alphaModFix/>
          </a:blip>
          <a:stretch>
            <a:fillRect/>
          </a:stretch>
        </p:blipFill>
        <p:spPr>
          <a:xfrm>
            <a:off x="333520" y="1307027"/>
            <a:ext cx="1778772" cy="177877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Granularity of </a:t>
            </a:r>
            <a:r>
              <a:rPr lang="en">
                <a:latin typeface="Consolas"/>
                <a:ea typeface="Consolas"/>
                <a:cs typeface="Consolas"/>
                <a:sym typeface="Consolas"/>
              </a:rPr>
              <a:t>babynames</a:t>
            </a:r>
            <a:endParaRPr>
              <a:latin typeface="Consolas"/>
              <a:ea typeface="Consolas"/>
              <a:cs typeface="Consolas"/>
              <a:sym typeface="Consolas"/>
            </a:endParaRPr>
          </a:p>
        </p:txBody>
      </p:sp>
      <p:sp>
        <p:nvSpPr>
          <p:cNvPr id="568" name="Google Shape;568;p6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Each row of </a:t>
            </a:r>
            <a:r>
              <a:rPr lang="en">
                <a:latin typeface="Consolas"/>
                <a:ea typeface="Consolas"/>
                <a:cs typeface="Consolas"/>
                <a:sym typeface="Consolas"/>
              </a:rPr>
              <a:t>babynames</a:t>
            </a:r>
            <a:r>
              <a:rPr lang="en"/>
              <a:t> represents a unique combination of </a:t>
            </a:r>
            <a:r>
              <a:rPr b="1" lang="en">
                <a:latin typeface="Roboto"/>
                <a:ea typeface="Roboto"/>
                <a:cs typeface="Roboto"/>
                <a:sym typeface="Roboto"/>
              </a:rPr>
              <a:t>name, state, sex, and year</a:t>
            </a:r>
            <a:r>
              <a:rPr lang="en"/>
              <a:t>.</a:t>
            </a:r>
            <a:endParaRPr/>
          </a:p>
        </p:txBody>
      </p:sp>
      <p:sp>
        <p:nvSpPr>
          <p:cNvPr id="569" name="Google Shape;569;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70" name="Google Shape;570;p64"/>
          <p:cNvPicPr preferRelativeResize="0"/>
          <p:nvPr/>
        </p:nvPicPr>
        <p:blipFill>
          <a:blip r:embed="rId3">
            <a:alphaModFix/>
          </a:blip>
          <a:stretch>
            <a:fillRect/>
          </a:stretch>
        </p:blipFill>
        <p:spPr>
          <a:xfrm>
            <a:off x="2189375" y="1231225"/>
            <a:ext cx="4504351" cy="29612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6" name="Google Shape;576;p65"/>
          <p:cNvSpPr txBox="1"/>
          <p:nvPr>
            <p:ph idx="1" type="body"/>
          </p:nvPr>
        </p:nvSpPr>
        <p:spPr>
          <a:xfrm>
            <a:off x="4882900" y="448050"/>
            <a:ext cx="3950100" cy="4124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solidFill>
                  <a:schemeClr val="dk2"/>
                </a:solidFill>
                <a:latin typeface="Roboto"/>
                <a:ea typeface="Roboto"/>
                <a:cs typeface="Roboto"/>
                <a:sym typeface="Roboto"/>
              </a:rPr>
              <a:t>Structure </a:t>
            </a:r>
            <a:r>
              <a:rPr lang="en">
                <a:solidFill>
                  <a:schemeClr val="dk2"/>
                </a:solidFill>
              </a:rPr>
              <a:t>-- the "shape" of a data file</a:t>
            </a:r>
            <a:endParaRPr>
              <a:solidFill>
                <a:schemeClr val="dk2"/>
              </a:solidFill>
            </a:endParaRPr>
          </a:p>
          <a:p>
            <a:pPr indent="0" lvl="0" marL="0" rtl="0" algn="l">
              <a:spcBef>
                <a:spcPts val="600"/>
              </a:spcBef>
              <a:spcAft>
                <a:spcPts val="0"/>
              </a:spcAft>
              <a:buNone/>
            </a:pPr>
            <a:r>
              <a:t/>
            </a:r>
            <a:endParaRPr>
              <a:solidFill>
                <a:schemeClr val="dk2"/>
              </a:solidFill>
            </a:endParaRPr>
          </a:p>
          <a:p>
            <a:pPr indent="0" lvl="0" marL="0" rtl="0" algn="l">
              <a:spcBef>
                <a:spcPts val="600"/>
              </a:spcBef>
              <a:spcAft>
                <a:spcPts val="0"/>
              </a:spcAft>
              <a:buNone/>
            </a:pPr>
            <a:r>
              <a:rPr b="1" lang="en">
                <a:solidFill>
                  <a:schemeClr val="dk2"/>
                </a:solidFill>
                <a:latin typeface="Roboto"/>
                <a:ea typeface="Roboto"/>
                <a:cs typeface="Roboto"/>
                <a:sym typeface="Roboto"/>
              </a:rPr>
              <a:t>Granularity</a:t>
            </a:r>
            <a:r>
              <a:rPr lang="en">
                <a:solidFill>
                  <a:schemeClr val="dk2"/>
                </a:solidFill>
              </a:rPr>
              <a:t> -- how fine/coarse is each datum</a:t>
            </a:r>
            <a:endParaRPr>
              <a:solidFill>
                <a:schemeClr val="dk2"/>
              </a:solidFill>
            </a:endParaRPr>
          </a:p>
          <a:p>
            <a:pPr indent="0" lvl="0" marL="0" rtl="0" algn="l">
              <a:spcBef>
                <a:spcPts val="600"/>
              </a:spcBef>
              <a:spcAft>
                <a:spcPts val="0"/>
              </a:spcAft>
              <a:buNone/>
            </a:pPr>
            <a:r>
              <a:t/>
            </a:r>
            <a:endParaRPr/>
          </a:p>
          <a:p>
            <a:pPr indent="0" lvl="0" marL="0" rtl="0" algn="l">
              <a:spcBef>
                <a:spcPts val="600"/>
              </a:spcBef>
              <a:spcAft>
                <a:spcPts val="0"/>
              </a:spcAft>
              <a:buNone/>
            </a:pPr>
            <a:r>
              <a:rPr b="1" lang="en">
                <a:latin typeface="Roboto"/>
                <a:ea typeface="Roboto"/>
                <a:cs typeface="Roboto"/>
                <a:sym typeface="Roboto"/>
              </a:rPr>
              <a:t>Temporality</a:t>
            </a:r>
            <a:r>
              <a:rPr lang="en"/>
              <a:t> -- how is the data situated in time</a:t>
            </a:r>
            <a:endParaRPr/>
          </a:p>
          <a:p>
            <a:pPr indent="0" lvl="0" marL="0" rtl="0" algn="l">
              <a:spcBef>
                <a:spcPts val="600"/>
              </a:spcBef>
              <a:spcAft>
                <a:spcPts val="0"/>
              </a:spcAft>
              <a:buNone/>
            </a:pPr>
            <a:r>
              <a:t/>
            </a:r>
            <a:endParaRPr/>
          </a:p>
          <a:p>
            <a:pPr indent="0" lvl="0" marL="0" rtl="0" algn="l">
              <a:spcBef>
                <a:spcPts val="600"/>
              </a:spcBef>
              <a:spcAft>
                <a:spcPts val="0"/>
              </a:spcAft>
              <a:buNone/>
            </a:pPr>
            <a:r>
              <a:rPr b="1" lang="en">
                <a:solidFill>
                  <a:schemeClr val="dk2"/>
                </a:solidFill>
                <a:latin typeface="Roboto"/>
                <a:ea typeface="Roboto"/>
                <a:cs typeface="Roboto"/>
                <a:sym typeface="Roboto"/>
              </a:rPr>
              <a:t>Faithfulness</a:t>
            </a:r>
            <a:r>
              <a:rPr lang="en">
                <a:solidFill>
                  <a:schemeClr val="dk2"/>
                </a:solidFill>
              </a:rPr>
              <a:t> -- how well does the data capture "reality"</a:t>
            </a:r>
            <a:endParaRPr>
              <a:solidFill>
                <a:schemeClr val="dk2"/>
              </a:solidFill>
            </a:endParaRPr>
          </a:p>
        </p:txBody>
      </p:sp>
      <p:sp>
        <p:nvSpPr>
          <p:cNvPr id="577" name="Google Shape;577;p65"/>
          <p:cNvSpPr txBox="1"/>
          <p:nvPr/>
        </p:nvSpPr>
        <p:spPr>
          <a:xfrm>
            <a:off x="177925" y="2313850"/>
            <a:ext cx="4038000" cy="2037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rgbClr val="0B5394"/>
                </a:solidFill>
                <a:latin typeface="Roboto Medium"/>
                <a:ea typeface="Roboto Medium"/>
                <a:cs typeface="Roboto Medium"/>
                <a:sym typeface="Roboto Medium"/>
              </a:rPr>
              <a:t>Key Data Properties to Consider in EDA</a:t>
            </a:r>
            <a:endParaRPr sz="3600">
              <a:solidFill>
                <a:srgbClr val="0B5394"/>
              </a:solidFill>
              <a:latin typeface="Roboto Medium"/>
              <a:ea typeface="Roboto Medium"/>
              <a:cs typeface="Roboto Medium"/>
              <a:sym typeface="Roboto Medium"/>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1" name="Shape 581"/>
        <p:cNvGrpSpPr/>
        <p:nvPr/>
      </p:nvGrpSpPr>
      <p:grpSpPr>
        <a:xfrm>
          <a:off x="0" y="0"/>
          <a:ext cx="0" cy="0"/>
          <a:chOff x="0" y="0"/>
          <a:chExt cx="0" cy="0"/>
        </a:xfrm>
      </p:grpSpPr>
      <p:pic>
        <p:nvPicPr>
          <p:cNvPr descr="logo-id" id="582" name="Google Shape;582;p66">
            <a:hlinkClick r:id="rId3"/>
          </p:cNvPr>
          <p:cNvPicPr preferRelativeResize="0"/>
          <p:nvPr/>
        </p:nvPicPr>
        <p:blipFill>
          <a:blip r:embed="rId4">
            <a:alphaModFix/>
          </a:blip>
          <a:stretch>
            <a:fillRect/>
          </a:stretch>
        </p:blipFill>
        <p:spPr>
          <a:xfrm>
            <a:off x="2612020" y="508000"/>
            <a:ext cx="874500" cy="382594"/>
          </a:xfrm>
          <a:prstGeom prst="rect">
            <a:avLst/>
          </a:prstGeom>
          <a:noFill/>
          <a:ln>
            <a:noFill/>
          </a:ln>
        </p:spPr>
      </p:pic>
      <p:sp>
        <p:nvSpPr>
          <p:cNvPr descr="title-id" id="583" name="Google Shape;583;p66"/>
          <p:cNvSpPr txBox="1"/>
          <p:nvPr/>
        </p:nvSpPr>
        <p:spPr>
          <a:xfrm>
            <a:off x="2590800" y="1928813"/>
            <a:ext cx="6045300" cy="128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00">
                <a:solidFill>
                  <a:srgbClr val="5B5B5B"/>
                </a:solidFill>
                <a:latin typeface="Roboto"/>
                <a:ea typeface="Roboto"/>
                <a:cs typeface="Roboto"/>
                <a:sym typeface="Roboto"/>
              </a:rPr>
              <a:t>What type of variable is a datetime (e.g., 01/01/2025 3:30pm)?</a:t>
            </a:r>
            <a:endParaRPr b="1" sz="3600">
              <a:solidFill>
                <a:srgbClr val="5B5B5B"/>
              </a:solidFill>
              <a:latin typeface="Roboto"/>
              <a:ea typeface="Roboto"/>
              <a:cs typeface="Roboto"/>
              <a:sym typeface="Roboto"/>
            </a:endParaRPr>
          </a:p>
        </p:txBody>
      </p:sp>
      <p:sp>
        <p:nvSpPr>
          <p:cNvPr descr="footer-id" id="584" name="Google Shape;584;p66"/>
          <p:cNvSpPr txBox="1"/>
          <p:nvPr/>
        </p:nvSpPr>
        <p:spPr>
          <a:xfrm>
            <a:off x="2286000" y="4381500"/>
            <a:ext cx="304800" cy="38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rgbClr val="5B5B5B"/>
                </a:solidFill>
                <a:latin typeface="Roboto"/>
                <a:ea typeface="Roboto"/>
                <a:cs typeface="Roboto"/>
                <a:sym typeface="Roboto"/>
              </a:rPr>
              <a:t>ⓘ</a:t>
            </a:r>
            <a:endParaRPr b="1" sz="1300">
              <a:solidFill>
                <a:srgbClr val="5B5B5B"/>
              </a:solidFill>
              <a:latin typeface="Roboto"/>
              <a:ea typeface="Roboto"/>
              <a:cs typeface="Roboto"/>
              <a:sym typeface="Roboto"/>
            </a:endParaRPr>
          </a:p>
        </p:txBody>
      </p:sp>
      <p:sp>
        <p:nvSpPr>
          <p:cNvPr descr="footer-id" id="585" name="Google Shape;585;p66"/>
          <p:cNvSpPr txBox="1"/>
          <p:nvPr/>
        </p:nvSpPr>
        <p:spPr>
          <a:xfrm>
            <a:off x="2590800" y="4381500"/>
            <a:ext cx="6045300" cy="38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5B5B5B"/>
                </a:solidFill>
                <a:latin typeface="Roboto Light"/>
                <a:ea typeface="Roboto Light"/>
                <a:cs typeface="Roboto Light"/>
                <a:sym typeface="Roboto Light"/>
              </a:rPr>
              <a:t>Click </a:t>
            </a:r>
            <a:r>
              <a:rPr b="1" lang="en">
                <a:solidFill>
                  <a:srgbClr val="5B5B5B"/>
                </a:solidFill>
                <a:latin typeface="Roboto"/>
                <a:ea typeface="Roboto"/>
                <a:cs typeface="Roboto"/>
                <a:sym typeface="Roboto"/>
              </a:rPr>
              <a:t>Present with Slido</a:t>
            </a:r>
            <a:r>
              <a:rPr lang="en">
                <a:solidFill>
                  <a:srgbClr val="5B5B5B"/>
                </a:solidFill>
                <a:latin typeface="Roboto Light"/>
                <a:ea typeface="Roboto Light"/>
                <a:cs typeface="Roboto Light"/>
                <a:sym typeface="Roboto Light"/>
              </a:rPr>
              <a:t> or install our </a:t>
            </a:r>
            <a:r>
              <a:rPr lang="en" u="sng">
                <a:solidFill>
                  <a:schemeClr val="hlink"/>
                </a:solidFill>
                <a:latin typeface="Roboto Light"/>
                <a:ea typeface="Roboto Light"/>
                <a:cs typeface="Roboto Light"/>
                <a:sym typeface="Roboto Light"/>
                <a:hlinkClick r:id="rId5"/>
              </a:rPr>
              <a:t>Chrome extension</a:t>
            </a:r>
            <a:r>
              <a:rPr lang="en">
                <a:solidFill>
                  <a:srgbClr val="5B5B5B"/>
                </a:solidFill>
                <a:latin typeface="Roboto Light"/>
                <a:ea typeface="Roboto Light"/>
                <a:cs typeface="Roboto Light"/>
                <a:sym typeface="Roboto Light"/>
              </a:rPr>
              <a:t> to activate this poll while presenting.</a:t>
            </a:r>
            <a:endParaRPr>
              <a:solidFill>
                <a:srgbClr val="5B5B5B"/>
              </a:solidFill>
              <a:latin typeface="Roboto Light"/>
              <a:ea typeface="Roboto Light"/>
              <a:cs typeface="Roboto Light"/>
              <a:sym typeface="Roboto Light"/>
            </a:endParaRPr>
          </a:p>
        </p:txBody>
      </p:sp>
      <p:pic>
        <p:nvPicPr>
          <p:cNvPr descr="poll-type-id" id="586" name="Google Shape;586;p66">
            <a:hlinkClick r:id="rId6"/>
          </p:cNvPr>
          <p:cNvPicPr preferRelativeResize="0"/>
          <p:nvPr/>
        </p:nvPicPr>
        <p:blipFill>
          <a:blip r:embed="rId7">
            <a:alphaModFix/>
          </a:blip>
          <a:stretch>
            <a:fillRect/>
          </a:stretch>
        </p:blipFill>
        <p:spPr>
          <a:xfrm>
            <a:off x="508000" y="1657350"/>
            <a:ext cx="1828800" cy="18288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67"/>
          <p:cNvSpPr txBox="1"/>
          <p:nvPr>
            <p:ph idx="1" type="body"/>
          </p:nvPr>
        </p:nvSpPr>
        <p:spPr>
          <a:xfrm>
            <a:off x="223850" y="580975"/>
            <a:ext cx="8797200" cy="3237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As humans, we write datetimes as strings: </a:t>
            </a:r>
            <a:r>
              <a:rPr b="1" lang="en">
                <a:latin typeface="Roboto"/>
                <a:ea typeface="Roboto"/>
                <a:cs typeface="Roboto"/>
                <a:sym typeface="Roboto"/>
              </a:rPr>
              <a:t>01/01/2025 3:30pm</a:t>
            </a:r>
            <a:endParaRPr/>
          </a:p>
          <a:p>
            <a:pPr indent="-330200" lvl="0" marL="457200" rtl="0" algn="l">
              <a:lnSpc>
                <a:spcPct val="115000"/>
              </a:lnSpc>
              <a:spcBef>
                <a:spcPts val="600"/>
              </a:spcBef>
              <a:spcAft>
                <a:spcPts val="0"/>
              </a:spcAft>
              <a:buSzPts val="1600"/>
              <a:buChar char="●"/>
            </a:pPr>
            <a:r>
              <a:rPr lang="en"/>
              <a:t>First try: store as a </a:t>
            </a:r>
            <a:r>
              <a:rPr b="1" lang="en">
                <a:latin typeface="Roboto"/>
                <a:ea typeface="Roboto"/>
                <a:cs typeface="Roboto"/>
                <a:sym typeface="Roboto"/>
              </a:rPr>
              <a:t>categorical </a:t>
            </a:r>
            <a:r>
              <a:rPr lang="en"/>
              <a:t>string, e.g. </a:t>
            </a:r>
            <a:r>
              <a:rPr lang="en">
                <a:latin typeface="Consolas"/>
                <a:ea typeface="Consolas"/>
                <a:cs typeface="Consolas"/>
                <a:sym typeface="Consolas"/>
              </a:rPr>
              <a:t>"010120250330p"</a:t>
            </a:r>
            <a:endParaRPr>
              <a:latin typeface="Consolas"/>
              <a:ea typeface="Consolas"/>
              <a:cs typeface="Consolas"/>
              <a:sym typeface="Consolas"/>
            </a:endParaRPr>
          </a:p>
          <a:p>
            <a:pPr indent="-330200" lvl="1" marL="914400" rtl="0" algn="l">
              <a:lnSpc>
                <a:spcPct val="115000"/>
              </a:lnSpc>
              <a:spcBef>
                <a:spcPts val="0"/>
              </a:spcBef>
              <a:spcAft>
                <a:spcPts val="0"/>
              </a:spcAft>
              <a:buSzPts val="1600"/>
              <a:buFont typeface="Roboto"/>
              <a:buChar char="○"/>
            </a:pPr>
            <a:r>
              <a:rPr b="1" lang="en">
                <a:latin typeface="Roboto"/>
                <a:ea typeface="Roboto"/>
                <a:cs typeface="Roboto"/>
                <a:sym typeface="Roboto"/>
              </a:rPr>
              <a:t>Problem</a:t>
            </a:r>
            <a:r>
              <a:rPr lang="en"/>
              <a:t>: difficult to make comparisons (before/after), do computation (how long between), etc.</a:t>
            </a:r>
            <a:endParaRPr/>
          </a:p>
          <a:p>
            <a:pPr indent="-330200" lvl="1" marL="914400" rtl="0" algn="l">
              <a:lnSpc>
                <a:spcPct val="115000"/>
              </a:lnSpc>
              <a:spcBef>
                <a:spcPts val="0"/>
              </a:spcBef>
              <a:spcAft>
                <a:spcPts val="0"/>
              </a:spcAft>
              <a:buSzPts val="1600"/>
              <a:buFont typeface="Roboto"/>
              <a:buChar char="○"/>
            </a:pPr>
            <a:r>
              <a:rPr b="1" lang="en">
                <a:latin typeface="Roboto"/>
                <a:ea typeface="Roboto"/>
                <a:cs typeface="Roboto"/>
                <a:sym typeface="Roboto"/>
              </a:rPr>
              <a:t>Problem</a:t>
            </a:r>
            <a:r>
              <a:rPr lang="en"/>
              <a:t>: wastes space. Strings require more bits than numbers.</a:t>
            </a:r>
            <a:endParaRPr/>
          </a:p>
          <a:p>
            <a:pPr indent="0" lvl="0" marL="914400" rtl="0" algn="l">
              <a:lnSpc>
                <a:spcPct val="115000"/>
              </a:lnSpc>
              <a:spcBef>
                <a:spcPts val="600"/>
              </a:spcBef>
              <a:spcAft>
                <a:spcPts val="0"/>
              </a:spcAft>
              <a:buNone/>
            </a:pPr>
            <a:r>
              <a:t/>
            </a:r>
            <a:endParaRPr/>
          </a:p>
          <a:p>
            <a:pPr indent="-330200" lvl="0" marL="457200" rtl="0" algn="l">
              <a:lnSpc>
                <a:spcPct val="115000"/>
              </a:lnSpc>
              <a:spcBef>
                <a:spcPts val="600"/>
              </a:spcBef>
              <a:spcAft>
                <a:spcPts val="0"/>
              </a:spcAft>
              <a:buSzPts val="1600"/>
              <a:buChar char="●"/>
            </a:pPr>
            <a:r>
              <a:rPr lang="en"/>
              <a:t>Better idea: store as </a:t>
            </a:r>
            <a:r>
              <a:rPr b="1" lang="en">
                <a:latin typeface="Roboto"/>
                <a:ea typeface="Roboto"/>
                <a:cs typeface="Roboto"/>
                <a:sym typeface="Roboto"/>
              </a:rPr>
              <a:t>numerical values</a:t>
            </a:r>
            <a:endParaRPr/>
          </a:p>
          <a:p>
            <a:pPr indent="0" lvl="0" marL="0" rtl="0" algn="l">
              <a:lnSpc>
                <a:spcPct val="115000"/>
              </a:lnSpc>
              <a:spcBef>
                <a:spcPts val="600"/>
              </a:spcBef>
              <a:spcAft>
                <a:spcPts val="0"/>
              </a:spcAft>
              <a:buNone/>
            </a:pPr>
            <a:r>
              <a:t/>
            </a:r>
            <a:endParaRPr/>
          </a:p>
          <a:p>
            <a:pPr indent="-330200" lvl="0" marL="457200" rtl="0" algn="l">
              <a:lnSpc>
                <a:spcPct val="115000"/>
              </a:lnSpc>
              <a:spcBef>
                <a:spcPts val="600"/>
              </a:spcBef>
              <a:spcAft>
                <a:spcPts val="0"/>
              </a:spcAft>
              <a:buSzPts val="1600"/>
              <a:buChar char="●"/>
            </a:pPr>
            <a:r>
              <a:rPr lang="en"/>
              <a:t>Computing standard: </a:t>
            </a:r>
            <a:r>
              <a:rPr b="1" lang="en">
                <a:latin typeface="Roboto"/>
                <a:ea typeface="Roboto"/>
                <a:cs typeface="Roboto"/>
                <a:sym typeface="Roboto"/>
              </a:rPr>
              <a:t>Unix/POSIX time</a:t>
            </a:r>
            <a:endParaRPr/>
          </a:p>
          <a:p>
            <a:pPr indent="-330200" lvl="1" marL="914400" rtl="0" algn="l">
              <a:lnSpc>
                <a:spcPct val="115000"/>
              </a:lnSpc>
              <a:spcBef>
                <a:spcPts val="0"/>
              </a:spcBef>
              <a:spcAft>
                <a:spcPts val="0"/>
              </a:spcAft>
              <a:buSzPts val="1600"/>
              <a:buChar char="○"/>
            </a:pPr>
            <a:r>
              <a:rPr lang="en"/>
              <a:t>Number of seconds* since </a:t>
            </a:r>
            <a:r>
              <a:rPr b="1" lang="en">
                <a:solidFill>
                  <a:schemeClr val="accent4"/>
                </a:solidFill>
                <a:latin typeface="Roboto"/>
                <a:ea typeface="Roboto"/>
                <a:cs typeface="Roboto"/>
                <a:sym typeface="Roboto"/>
              </a:rPr>
              <a:t>January 1st 1970 UTC </a:t>
            </a:r>
            <a:r>
              <a:rPr b="1" lang="en" sz="700">
                <a:solidFill>
                  <a:srgbClr val="888888"/>
                </a:solidFill>
                <a:latin typeface="Roboto"/>
                <a:ea typeface="Roboto"/>
                <a:cs typeface="Roboto"/>
                <a:sym typeface="Roboto"/>
              </a:rPr>
              <a:t>(Coordinated Universal Time)</a:t>
            </a:r>
            <a:endParaRPr/>
          </a:p>
          <a:p>
            <a:pPr indent="-330200" lvl="2" marL="1371600" rtl="0" algn="l">
              <a:lnSpc>
                <a:spcPct val="115000"/>
              </a:lnSpc>
              <a:spcBef>
                <a:spcPts val="0"/>
              </a:spcBef>
              <a:spcAft>
                <a:spcPts val="0"/>
              </a:spcAft>
              <a:buSzPts val="1600"/>
              <a:buChar char="■"/>
            </a:pPr>
            <a:r>
              <a:rPr lang="en" sz="1700"/>
              <a:t>Example: Feb 4, 2025 5:00pm PDT → </a:t>
            </a:r>
            <a:r>
              <a:rPr lang="en" sz="1700">
                <a:latin typeface="Roboto Mono Medium"/>
                <a:ea typeface="Roboto Mono Medium"/>
                <a:cs typeface="Roboto Mono Medium"/>
                <a:sym typeface="Roboto Mono Medium"/>
              </a:rPr>
              <a:t>1738674000</a:t>
            </a:r>
            <a:r>
              <a:rPr lang="en" sz="1700">
                <a:latin typeface="Roboto Medium"/>
                <a:ea typeface="Roboto Medium"/>
                <a:cs typeface="Roboto Medium"/>
                <a:sym typeface="Roboto Medium"/>
              </a:rPr>
              <a:t> </a:t>
            </a:r>
            <a:r>
              <a:rPr lang="en" sz="900"/>
              <a:t>(1,738,674,000 seconds)</a:t>
            </a:r>
            <a:endParaRPr sz="900"/>
          </a:p>
          <a:p>
            <a:pPr indent="-330200" lvl="2" marL="1371600" rtl="0" algn="l">
              <a:lnSpc>
                <a:spcPct val="115000"/>
              </a:lnSpc>
              <a:spcBef>
                <a:spcPts val="0"/>
              </a:spcBef>
              <a:spcAft>
                <a:spcPts val="0"/>
              </a:spcAft>
              <a:buSzPts val="1600"/>
              <a:buChar char="■"/>
            </a:pPr>
            <a:r>
              <a:rPr lang="en" sz="1700"/>
              <a:t>Example: Feb 4, 1950 5:00pm PDT → </a:t>
            </a:r>
            <a:r>
              <a:rPr lang="en" sz="1700">
                <a:latin typeface="Roboto Mono Medium"/>
                <a:ea typeface="Roboto Mono Medium"/>
                <a:cs typeface="Roboto Mono Medium"/>
                <a:sym typeface="Roboto Mono Medium"/>
              </a:rPr>
              <a:t>-628167600</a:t>
            </a:r>
            <a:r>
              <a:rPr lang="en" sz="1700">
                <a:latin typeface="Roboto Medium"/>
                <a:ea typeface="Roboto Medium"/>
                <a:cs typeface="Roboto Medium"/>
                <a:sym typeface="Roboto Medium"/>
              </a:rPr>
              <a:t> </a:t>
            </a:r>
            <a:r>
              <a:rPr lang="en" sz="900"/>
              <a:t>(-628,167,600 seconds)</a:t>
            </a:r>
            <a:endParaRPr sz="900"/>
          </a:p>
          <a:p>
            <a:pPr indent="-330200" lvl="1" marL="914400" rtl="0" algn="l">
              <a:lnSpc>
                <a:spcPct val="115000"/>
              </a:lnSpc>
              <a:spcBef>
                <a:spcPts val="0"/>
              </a:spcBef>
              <a:spcAft>
                <a:spcPts val="0"/>
              </a:spcAft>
              <a:buSzPts val="1600"/>
              <a:buChar char="○"/>
            </a:pPr>
            <a:r>
              <a:rPr lang="en"/>
              <a:t>Easy to make comparisons, calculate “time between X and Y,” etc.</a:t>
            </a:r>
            <a:endParaRPr/>
          </a:p>
        </p:txBody>
      </p:sp>
      <p:sp>
        <p:nvSpPr>
          <p:cNvPr id="592" name="Google Shape;592;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3" name="Google Shape;593;p6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Should We Store Datetimes?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9" name="Google Shape;599;p68"/>
          <p:cNvSpPr txBox="1"/>
          <p:nvPr>
            <p:ph idx="1" type="body"/>
          </p:nvPr>
        </p:nvSpPr>
        <p:spPr>
          <a:xfrm>
            <a:off x="4882900" y="448050"/>
            <a:ext cx="3950100" cy="4124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latin typeface="Roboto"/>
                <a:ea typeface="Roboto"/>
                <a:cs typeface="Roboto"/>
                <a:sym typeface="Roboto"/>
              </a:rPr>
              <a:t>Structure </a:t>
            </a:r>
            <a:r>
              <a:rPr lang="en"/>
              <a:t>-- the "shape" of a data file</a:t>
            </a:r>
            <a:endParaRPr/>
          </a:p>
          <a:p>
            <a:pPr indent="0" lvl="0" marL="0" rtl="0" algn="l">
              <a:spcBef>
                <a:spcPts val="600"/>
              </a:spcBef>
              <a:spcAft>
                <a:spcPts val="0"/>
              </a:spcAft>
              <a:buNone/>
            </a:pPr>
            <a:r>
              <a:t/>
            </a:r>
            <a:endParaRPr/>
          </a:p>
          <a:p>
            <a:pPr indent="0" lvl="0" marL="0" rtl="0" algn="l">
              <a:spcBef>
                <a:spcPts val="600"/>
              </a:spcBef>
              <a:spcAft>
                <a:spcPts val="0"/>
              </a:spcAft>
              <a:buNone/>
            </a:pPr>
            <a:r>
              <a:rPr b="1" lang="en">
                <a:solidFill>
                  <a:schemeClr val="dk2"/>
                </a:solidFill>
                <a:latin typeface="Roboto"/>
                <a:ea typeface="Roboto"/>
                <a:cs typeface="Roboto"/>
                <a:sym typeface="Roboto"/>
              </a:rPr>
              <a:t>Granularity</a:t>
            </a:r>
            <a:r>
              <a:rPr lang="en">
                <a:solidFill>
                  <a:schemeClr val="dk2"/>
                </a:solidFill>
              </a:rPr>
              <a:t> -- how fine/coarse is each datum</a:t>
            </a:r>
            <a:endParaRPr>
              <a:solidFill>
                <a:schemeClr val="dk2"/>
              </a:solidFill>
            </a:endParaRPr>
          </a:p>
          <a:p>
            <a:pPr indent="0" lvl="0" marL="0" rtl="0" algn="l">
              <a:spcBef>
                <a:spcPts val="600"/>
              </a:spcBef>
              <a:spcAft>
                <a:spcPts val="0"/>
              </a:spcAft>
              <a:buNone/>
            </a:pPr>
            <a:r>
              <a:t/>
            </a:r>
            <a:endParaRPr>
              <a:solidFill>
                <a:schemeClr val="dk2"/>
              </a:solidFill>
            </a:endParaRPr>
          </a:p>
          <a:p>
            <a:pPr indent="0" lvl="0" marL="0" rtl="0" algn="l">
              <a:spcBef>
                <a:spcPts val="600"/>
              </a:spcBef>
              <a:spcAft>
                <a:spcPts val="0"/>
              </a:spcAft>
              <a:buNone/>
            </a:pPr>
            <a:r>
              <a:rPr b="1" lang="en">
                <a:solidFill>
                  <a:schemeClr val="dk2"/>
                </a:solidFill>
                <a:latin typeface="Roboto"/>
                <a:ea typeface="Roboto"/>
                <a:cs typeface="Roboto"/>
                <a:sym typeface="Roboto"/>
              </a:rPr>
              <a:t>Temporality</a:t>
            </a:r>
            <a:r>
              <a:rPr lang="en">
                <a:solidFill>
                  <a:schemeClr val="dk2"/>
                </a:solidFill>
              </a:rPr>
              <a:t> -- how is the data situated in time</a:t>
            </a:r>
            <a:endParaRPr>
              <a:solidFill>
                <a:schemeClr val="dk2"/>
              </a:solidFill>
            </a:endParaRPr>
          </a:p>
          <a:p>
            <a:pPr indent="0" lvl="0" marL="0" rtl="0" algn="l">
              <a:spcBef>
                <a:spcPts val="600"/>
              </a:spcBef>
              <a:spcAft>
                <a:spcPts val="0"/>
              </a:spcAft>
              <a:buNone/>
            </a:pPr>
            <a:r>
              <a:t/>
            </a:r>
            <a:endParaRPr>
              <a:solidFill>
                <a:schemeClr val="dk2"/>
              </a:solidFill>
            </a:endParaRPr>
          </a:p>
          <a:p>
            <a:pPr indent="0" lvl="0" marL="0" rtl="0" algn="l">
              <a:spcBef>
                <a:spcPts val="600"/>
              </a:spcBef>
              <a:spcAft>
                <a:spcPts val="0"/>
              </a:spcAft>
              <a:buNone/>
            </a:pPr>
            <a:r>
              <a:rPr b="1" lang="en">
                <a:solidFill>
                  <a:schemeClr val="dk2"/>
                </a:solidFill>
                <a:latin typeface="Roboto"/>
                <a:ea typeface="Roboto"/>
                <a:cs typeface="Roboto"/>
                <a:sym typeface="Roboto"/>
              </a:rPr>
              <a:t>Faithfulness</a:t>
            </a:r>
            <a:r>
              <a:rPr lang="en">
                <a:solidFill>
                  <a:schemeClr val="dk2"/>
                </a:solidFill>
              </a:rPr>
              <a:t> -- how well does the data capture "reality"</a:t>
            </a:r>
            <a:endParaRPr>
              <a:solidFill>
                <a:schemeClr val="dk2"/>
              </a:solidFill>
            </a:endParaRPr>
          </a:p>
        </p:txBody>
      </p:sp>
      <p:sp>
        <p:nvSpPr>
          <p:cNvPr id="600" name="Google Shape;600;p68"/>
          <p:cNvSpPr/>
          <p:nvPr/>
        </p:nvSpPr>
        <p:spPr>
          <a:xfrm flipH="1">
            <a:off x="3995325" y="398875"/>
            <a:ext cx="801300" cy="728700"/>
          </a:xfrm>
          <a:prstGeom prst="lef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68"/>
          <p:cNvSpPr txBox="1"/>
          <p:nvPr/>
        </p:nvSpPr>
        <p:spPr>
          <a:xfrm>
            <a:off x="177925" y="2313850"/>
            <a:ext cx="4038000" cy="2037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rgbClr val="0B5394"/>
                </a:solidFill>
                <a:latin typeface="Roboto Medium"/>
                <a:ea typeface="Roboto Medium"/>
                <a:cs typeface="Roboto Medium"/>
                <a:sym typeface="Roboto Medium"/>
              </a:rPr>
              <a:t>Key Data Properties to Consider in EDA</a:t>
            </a:r>
            <a:endParaRPr sz="3600">
              <a:solidFill>
                <a:srgbClr val="0B5394"/>
              </a:solidFill>
              <a:latin typeface="Roboto Medium"/>
              <a:ea typeface="Roboto Medium"/>
              <a:cs typeface="Roboto Medium"/>
              <a:sym typeface="Roboto Medium"/>
            </a:endParaRPr>
          </a:p>
        </p:txBody>
      </p:sp>
      <p:sp>
        <p:nvSpPr>
          <p:cNvPr id="602" name="Google Shape;602;p68"/>
          <p:cNvSpPr txBox="1"/>
          <p:nvPr>
            <p:ph idx="2" type="body"/>
          </p:nvPr>
        </p:nvSpPr>
        <p:spPr>
          <a:xfrm>
            <a:off x="2307375" y="448050"/>
            <a:ext cx="2264700" cy="6279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 sz="1800"/>
              <a:t>Variable Type</a:t>
            </a:r>
            <a:endParaRPr b="1" sz="1800">
              <a:solidFill>
                <a:schemeClr val="accent3"/>
              </a:solidFill>
              <a:latin typeface="Roboto"/>
              <a:ea typeface="Roboto"/>
              <a:cs typeface="Roboto"/>
              <a:sym typeface="Roboto"/>
            </a:endParaRPr>
          </a:p>
          <a:p>
            <a:pPr indent="0" lvl="0" marL="0" rtl="0" algn="l">
              <a:spcBef>
                <a:spcPts val="400"/>
              </a:spcBef>
              <a:spcAft>
                <a:spcPts val="0"/>
              </a:spcAft>
              <a:buNone/>
            </a:pPr>
            <a:r>
              <a:rPr b="1" lang="en" sz="1800">
                <a:solidFill>
                  <a:schemeClr val="accent3"/>
                </a:solidFill>
                <a:latin typeface="Roboto"/>
                <a:ea typeface="Roboto"/>
                <a:cs typeface="Roboto"/>
                <a:sym typeface="Roboto"/>
              </a:rPr>
              <a:t>Multiple Files</a:t>
            </a:r>
            <a:endParaRPr sz="1800"/>
          </a:p>
          <a:p>
            <a:pPr indent="0" lvl="0" marL="0" rtl="0" algn="l">
              <a:spcBef>
                <a:spcPts val="400"/>
              </a:spcBef>
              <a:spcAft>
                <a:spcPts val="0"/>
              </a:spcAft>
              <a:buClr>
                <a:schemeClr val="dk1"/>
              </a:buClr>
              <a:buSzPts val="1100"/>
              <a:buFont typeface="Arial"/>
              <a:buNone/>
            </a:pPr>
            <a:r>
              <a:rPr lang="en" sz="1800"/>
              <a:t>File Format</a:t>
            </a:r>
            <a:endParaRPr sz="1800"/>
          </a:p>
          <a:p>
            <a:pPr indent="0" lvl="0" marL="0" rtl="0" algn="l">
              <a:spcBef>
                <a:spcPts val="400"/>
              </a:spcBef>
              <a:spcAft>
                <a:spcPts val="0"/>
              </a:spcAft>
              <a:buNone/>
            </a:pPr>
            <a:r>
              <a:t/>
            </a:r>
            <a:endParaRPr>
              <a:solidFill>
                <a:schemeClr val="accent3"/>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6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Multidimensional Data</a:t>
            </a:r>
            <a:endParaRPr/>
          </a:p>
        </p:txBody>
      </p:sp>
      <p:sp>
        <p:nvSpPr>
          <p:cNvPr id="608" name="Google Shape;608;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9" name="Google Shape;609;p69"/>
          <p:cNvSpPr txBox="1"/>
          <p:nvPr/>
        </p:nvSpPr>
        <p:spPr>
          <a:xfrm>
            <a:off x="95950" y="489400"/>
            <a:ext cx="83487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Roboto Light"/>
                <a:ea typeface="Roboto Light"/>
                <a:cs typeface="Roboto Light"/>
                <a:sym typeface="Roboto Light"/>
              </a:rPr>
              <a:t>To minimize redundant storage, databases store data across </a:t>
            </a:r>
            <a:r>
              <a:rPr b="1" lang="en" sz="1600">
                <a:latin typeface="Roboto"/>
                <a:ea typeface="Roboto"/>
                <a:cs typeface="Roboto"/>
                <a:sym typeface="Roboto"/>
              </a:rPr>
              <a:t>fact</a:t>
            </a:r>
            <a:r>
              <a:rPr lang="en" sz="1600">
                <a:latin typeface="Roboto Light"/>
                <a:ea typeface="Roboto Light"/>
                <a:cs typeface="Roboto Light"/>
                <a:sym typeface="Roboto Light"/>
              </a:rPr>
              <a:t> and </a:t>
            </a:r>
            <a:r>
              <a:rPr b="1" lang="en" sz="1600">
                <a:latin typeface="Roboto"/>
                <a:ea typeface="Roboto"/>
                <a:cs typeface="Roboto"/>
                <a:sym typeface="Roboto"/>
              </a:rPr>
              <a:t>dimension tables.</a:t>
            </a:r>
            <a:endParaRPr sz="1600">
              <a:latin typeface="Roboto Light"/>
              <a:ea typeface="Roboto Light"/>
              <a:cs typeface="Roboto Light"/>
              <a:sym typeface="Roboto Light"/>
            </a:endParaRPr>
          </a:p>
        </p:txBody>
      </p:sp>
      <p:sp>
        <p:nvSpPr>
          <p:cNvPr id="610" name="Google Shape;610;p69"/>
          <p:cNvSpPr txBox="1"/>
          <p:nvPr/>
        </p:nvSpPr>
        <p:spPr>
          <a:xfrm>
            <a:off x="95950" y="1498525"/>
            <a:ext cx="3872700" cy="316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Roboto"/>
                <a:ea typeface="Roboto"/>
                <a:cs typeface="Roboto"/>
                <a:sym typeface="Roboto"/>
              </a:rPr>
              <a:t>Fact table:</a:t>
            </a:r>
            <a:r>
              <a:rPr lang="en" sz="1600">
                <a:latin typeface="Roboto Light"/>
                <a:ea typeface="Roboto Light"/>
                <a:cs typeface="Roboto Light"/>
                <a:sym typeface="Roboto Light"/>
              </a:rPr>
              <a:t> Central table w/ info to link its entries to other dimension tables. Few columns, </a:t>
            </a:r>
            <a:r>
              <a:rPr b="1" lang="en" sz="1600">
                <a:latin typeface="Roboto"/>
                <a:ea typeface="Roboto"/>
                <a:cs typeface="Roboto"/>
                <a:sym typeface="Roboto"/>
              </a:rPr>
              <a:t>many records</a:t>
            </a:r>
            <a:r>
              <a:rPr lang="en" sz="1600">
                <a:latin typeface="Roboto Light"/>
                <a:ea typeface="Roboto Light"/>
                <a:cs typeface="Roboto Light"/>
                <a:sym typeface="Roboto Light"/>
              </a:rPr>
              <a:t>.</a:t>
            </a:r>
            <a:endParaRPr sz="1600">
              <a:latin typeface="Roboto Light"/>
              <a:ea typeface="Roboto Light"/>
              <a:cs typeface="Roboto Light"/>
              <a:sym typeface="Roboto Light"/>
            </a:endParaRPr>
          </a:p>
          <a:p>
            <a:pPr indent="0" lvl="0" marL="0" rtl="0" algn="l">
              <a:spcBef>
                <a:spcPts val="0"/>
              </a:spcBef>
              <a:spcAft>
                <a:spcPts val="0"/>
              </a:spcAft>
              <a:buNone/>
            </a:pPr>
            <a:r>
              <a:t/>
            </a:r>
            <a:endParaRPr sz="1600">
              <a:latin typeface="Roboto Light"/>
              <a:ea typeface="Roboto Light"/>
              <a:cs typeface="Roboto Light"/>
              <a:sym typeface="Roboto Light"/>
            </a:endParaRPr>
          </a:p>
          <a:p>
            <a:pPr indent="0" lvl="0" marL="0" rtl="0" algn="l">
              <a:spcBef>
                <a:spcPts val="0"/>
              </a:spcBef>
              <a:spcAft>
                <a:spcPts val="0"/>
              </a:spcAft>
              <a:buNone/>
            </a:pPr>
            <a:r>
              <a:rPr b="1" lang="en" sz="1600">
                <a:latin typeface="Roboto"/>
                <a:ea typeface="Roboto"/>
                <a:cs typeface="Roboto"/>
                <a:sym typeface="Roboto"/>
              </a:rPr>
              <a:t>Dimension table:</a:t>
            </a:r>
            <a:r>
              <a:rPr lang="en" sz="1600">
                <a:latin typeface="Roboto Light"/>
                <a:ea typeface="Roboto Light"/>
                <a:cs typeface="Roboto Light"/>
                <a:sym typeface="Roboto Light"/>
              </a:rPr>
              <a:t> More detailed information about each type of fact. </a:t>
            </a:r>
            <a:r>
              <a:rPr b="1" lang="en" sz="1600">
                <a:latin typeface="Roboto"/>
                <a:ea typeface="Roboto"/>
                <a:cs typeface="Roboto"/>
                <a:sym typeface="Roboto"/>
              </a:rPr>
              <a:t>More columns</a:t>
            </a:r>
            <a:r>
              <a:rPr lang="en" sz="1600">
                <a:latin typeface="Roboto Light"/>
                <a:ea typeface="Roboto Light"/>
                <a:cs typeface="Roboto Light"/>
                <a:sym typeface="Roboto Light"/>
              </a:rPr>
              <a:t> and fewer records.</a:t>
            </a:r>
            <a:endParaRPr sz="1600">
              <a:latin typeface="Roboto Light"/>
              <a:ea typeface="Roboto Light"/>
              <a:cs typeface="Roboto Light"/>
              <a:sym typeface="Roboto Light"/>
            </a:endParaRPr>
          </a:p>
        </p:txBody>
      </p:sp>
      <p:pic>
        <p:nvPicPr>
          <p:cNvPr id="611" name="Google Shape;611;p69"/>
          <p:cNvPicPr preferRelativeResize="0"/>
          <p:nvPr/>
        </p:nvPicPr>
        <p:blipFill rotWithShape="1">
          <a:blip r:embed="rId3">
            <a:alphaModFix/>
          </a:blip>
          <a:srcRect b="0" l="0" r="16957" t="0"/>
          <a:stretch/>
        </p:blipFill>
        <p:spPr>
          <a:xfrm>
            <a:off x="3968800" y="1045650"/>
            <a:ext cx="5114549" cy="3915199"/>
          </a:xfrm>
          <a:prstGeom prst="rect">
            <a:avLst/>
          </a:prstGeom>
          <a:noFill/>
          <a:ln>
            <a:noFill/>
          </a:ln>
        </p:spPr>
      </p:pic>
      <p:grpSp>
        <p:nvGrpSpPr>
          <p:cNvPr id="612" name="Google Shape;612;p69"/>
          <p:cNvGrpSpPr/>
          <p:nvPr/>
        </p:nvGrpSpPr>
        <p:grpSpPr>
          <a:xfrm>
            <a:off x="3930050" y="3428000"/>
            <a:ext cx="2615400" cy="1163275"/>
            <a:chOff x="3930050" y="3428000"/>
            <a:chExt cx="2615400" cy="1163275"/>
          </a:xfrm>
        </p:grpSpPr>
        <p:sp>
          <p:nvSpPr>
            <p:cNvPr id="613" name="Google Shape;613;p69"/>
            <p:cNvSpPr txBox="1"/>
            <p:nvPr/>
          </p:nvSpPr>
          <p:spPr>
            <a:xfrm>
              <a:off x="3930050" y="3806175"/>
              <a:ext cx="26154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Roboto Light"/>
                  <a:ea typeface="Roboto Light"/>
                  <a:cs typeface="Roboto Light"/>
                  <a:sym typeface="Roboto Light"/>
                </a:rPr>
                <a:t>Granularity: Every possible drink+topping combinations across all stores. Lots of rows!</a:t>
              </a:r>
              <a:endParaRPr sz="1300">
                <a:solidFill>
                  <a:schemeClr val="dk1"/>
                </a:solidFill>
                <a:latin typeface="Roboto Light"/>
                <a:ea typeface="Roboto Light"/>
                <a:cs typeface="Roboto Light"/>
                <a:sym typeface="Roboto Light"/>
              </a:endParaRPr>
            </a:p>
          </p:txBody>
        </p:sp>
        <p:sp>
          <p:nvSpPr>
            <p:cNvPr id="614" name="Google Shape;614;p69"/>
            <p:cNvSpPr txBox="1"/>
            <p:nvPr/>
          </p:nvSpPr>
          <p:spPr>
            <a:xfrm>
              <a:off x="4916000" y="3428000"/>
              <a:ext cx="548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Roboto Light"/>
                  <a:ea typeface="Roboto Light"/>
                  <a:cs typeface="Roboto Light"/>
                  <a:sym typeface="Roboto Light"/>
                </a:rPr>
                <a:t>. . .</a:t>
              </a:r>
              <a:endParaRPr sz="1600">
                <a:solidFill>
                  <a:schemeClr val="dk1"/>
                </a:solidFill>
                <a:latin typeface="Roboto Light"/>
                <a:ea typeface="Roboto Light"/>
                <a:cs typeface="Roboto Light"/>
                <a:sym typeface="Roboto Light"/>
              </a:endParaRPr>
            </a:p>
          </p:txBody>
        </p:sp>
        <p:sp>
          <p:nvSpPr>
            <p:cNvPr id="615" name="Google Shape;615;p69"/>
            <p:cNvSpPr txBox="1"/>
            <p:nvPr/>
          </p:nvSpPr>
          <p:spPr>
            <a:xfrm>
              <a:off x="5449400" y="3428000"/>
              <a:ext cx="548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Roboto Light"/>
                  <a:ea typeface="Roboto Light"/>
                  <a:cs typeface="Roboto Light"/>
                  <a:sym typeface="Roboto Light"/>
                </a:rPr>
                <a:t>. . .</a:t>
              </a:r>
              <a:endParaRPr sz="1600">
                <a:solidFill>
                  <a:schemeClr val="dk1"/>
                </a:solidFill>
                <a:latin typeface="Roboto Light"/>
                <a:ea typeface="Roboto Light"/>
                <a:cs typeface="Roboto Light"/>
                <a:sym typeface="Roboto Light"/>
              </a:endParaRPr>
            </a:p>
          </p:txBody>
        </p:sp>
        <p:sp>
          <p:nvSpPr>
            <p:cNvPr id="616" name="Google Shape;616;p69"/>
            <p:cNvSpPr txBox="1"/>
            <p:nvPr/>
          </p:nvSpPr>
          <p:spPr>
            <a:xfrm>
              <a:off x="4306400" y="3428000"/>
              <a:ext cx="548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Roboto Light"/>
                  <a:ea typeface="Roboto Light"/>
                  <a:cs typeface="Roboto Light"/>
                  <a:sym typeface="Roboto Light"/>
                </a:rPr>
                <a:t>. . .</a:t>
              </a:r>
              <a:endParaRPr sz="1600">
                <a:solidFill>
                  <a:schemeClr val="dk1"/>
                </a:solidFill>
                <a:latin typeface="Roboto Light"/>
                <a:ea typeface="Roboto Light"/>
                <a:cs typeface="Roboto Light"/>
                <a:sym typeface="Roboto Ligh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7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Cats</a:t>
            </a:r>
            <a:endParaRPr/>
          </a:p>
        </p:txBody>
      </p:sp>
      <p:sp>
        <p:nvSpPr>
          <p:cNvPr id="622" name="Google Shape;622;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623" name="Google Shape;623;p70"/>
          <p:cNvGrpSpPr/>
          <p:nvPr/>
        </p:nvGrpSpPr>
        <p:grpSpPr>
          <a:xfrm>
            <a:off x="133875" y="907475"/>
            <a:ext cx="2553627" cy="2024750"/>
            <a:chOff x="133875" y="907475"/>
            <a:chExt cx="2553627" cy="2024750"/>
          </a:xfrm>
        </p:grpSpPr>
        <p:pic>
          <p:nvPicPr>
            <p:cNvPr id="624" name="Google Shape;624;p70"/>
            <p:cNvPicPr preferRelativeResize="0"/>
            <p:nvPr/>
          </p:nvPicPr>
          <p:blipFill rotWithShape="1">
            <a:blip r:embed="rId3">
              <a:alphaModFix/>
            </a:blip>
            <a:srcRect b="8636" l="6385" r="0" t="14806"/>
            <a:stretch/>
          </p:blipFill>
          <p:spPr>
            <a:xfrm>
              <a:off x="133875" y="907475"/>
              <a:ext cx="2553627" cy="1624549"/>
            </a:xfrm>
            <a:prstGeom prst="rect">
              <a:avLst/>
            </a:prstGeom>
            <a:noFill/>
            <a:ln>
              <a:noFill/>
            </a:ln>
          </p:spPr>
        </p:pic>
        <p:sp>
          <p:nvSpPr>
            <p:cNvPr id="625" name="Google Shape;625;p70"/>
            <p:cNvSpPr txBox="1"/>
            <p:nvPr/>
          </p:nvSpPr>
          <p:spPr>
            <a:xfrm>
              <a:off x="924688" y="2532025"/>
              <a:ext cx="972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Light"/>
                  <a:ea typeface="Roboto Light"/>
                  <a:cs typeface="Roboto Light"/>
                  <a:sym typeface="Roboto Light"/>
                </a:rPr>
                <a:t>Persian</a:t>
              </a:r>
              <a:endParaRPr>
                <a:latin typeface="Roboto Light"/>
                <a:ea typeface="Roboto Light"/>
                <a:cs typeface="Roboto Light"/>
                <a:sym typeface="Roboto Light"/>
              </a:endParaRPr>
            </a:p>
          </p:txBody>
        </p:sp>
      </p:grpSp>
      <p:grpSp>
        <p:nvGrpSpPr>
          <p:cNvPr id="626" name="Google Shape;626;p70"/>
          <p:cNvGrpSpPr/>
          <p:nvPr/>
        </p:nvGrpSpPr>
        <p:grpSpPr>
          <a:xfrm>
            <a:off x="3080806" y="907475"/>
            <a:ext cx="2819241" cy="2024750"/>
            <a:chOff x="3080806" y="907475"/>
            <a:chExt cx="2819241" cy="2024750"/>
          </a:xfrm>
        </p:grpSpPr>
        <p:pic>
          <p:nvPicPr>
            <p:cNvPr id="627" name="Google Shape;627;p70"/>
            <p:cNvPicPr preferRelativeResize="0"/>
            <p:nvPr/>
          </p:nvPicPr>
          <p:blipFill rotWithShape="1">
            <a:blip r:embed="rId4">
              <a:alphaModFix/>
            </a:blip>
            <a:srcRect b="4139" l="16156" r="18038" t="8357"/>
            <a:stretch/>
          </p:blipFill>
          <p:spPr>
            <a:xfrm>
              <a:off x="3080806" y="907475"/>
              <a:ext cx="2819241" cy="1624550"/>
            </a:xfrm>
            <a:prstGeom prst="rect">
              <a:avLst/>
            </a:prstGeom>
            <a:noFill/>
            <a:ln>
              <a:noFill/>
            </a:ln>
          </p:spPr>
        </p:pic>
        <p:sp>
          <p:nvSpPr>
            <p:cNvPr id="628" name="Google Shape;628;p70"/>
            <p:cNvSpPr txBox="1"/>
            <p:nvPr/>
          </p:nvSpPr>
          <p:spPr>
            <a:xfrm>
              <a:off x="3975375" y="2532025"/>
              <a:ext cx="972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Light"/>
                  <a:ea typeface="Roboto Light"/>
                  <a:cs typeface="Roboto Light"/>
                  <a:sym typeface="Roboto Light"/>
                </a:rPr>
                <a:t>Ragdoll</a:t>
              </a:r>
              <a:endParaRPr>
                <a:latin typeface="Roboto Light"/>
                <a:ea typeface="Roboto Light"/>
                <a:cs typeface="Roboto Light"/>
                <a:sym typeface="Roboto Light"/>
              </a:endParaRPr>
            </a:p>
          </p:txBody>
        </p:sp>
      </p:grpSp>
      <p:grpSp>
        <p:nvGrpSpPr>
          <p:cNvPr id="629" name="Google Shape;629;p70"/>
          <p:cNvGrpSpPr/>
          <p:nvPr/>
        </p:nvGrpSpPr>
        <p:grpSpPr>
          <a:xfrm>
            <a:off x="6293350" y="907474"/>
            <a:ext cx="2437440" cy="2024751"/>
            <a:chOff x="6293350" y="907474"/>
            <a:chExt cx="2437440" cy="2024751"/>
          </a:xfrm>
        </p:grpSpPr>
        <p:pic>
          <p:nvPicPr>
            <p:cNvPr id="630" name="Google Shape;630;p70"/>
            <p:cNvPicPr preferRelativeResize="0"/>
            <p:nvPr/>
          </p:nvPicPr>
          <p:blipFill>
            <a:blip r:embed="rId5">
              <a:alphaModFix/>
            </a:blip>
            <a:stretch>
              <a:fillRect/>
            </a:stretch>
          </p:blipFill>
          <p:spPr>
            <a:xfrm>
              <a:off x="6293350" y="907474"/>
              <a:ext cx="2437440" cy="1624550"/>
            </a:xfrm>
            <a:prstGeom prst="rect">
              <a:avLst/>
            </a:prstGeom>
            <a:noFill/>
            <a:ln>
              <a:noFill/>
            </a:ln>
          </p:spPr>
        </p:pic>
        <p:sp>
          <p:nvSpPr>
            <p:cNvPr id="631" name="Google Shape;631;p70"/>
            <p:cNvSpPr txBox="1"/>
            <p:nvPr/>
          </p:nvSpPr>
          <p:spPr>
            <a:xfrm>
              <a:off x="7026063" y="2532025"/>
              <a:ext cx="972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Light"/>
                  <a:ea typeface="Roboto Light"/>
                  <a:cs typeface="Roboto Light"/>
                  <a:sym typeface="Roboto Light"/>
                </a:rPr>
                <a:t>Bengal</a:t>
              </a:r>
              <a:endParaRPr>
                <a:latin typeface="Roboto Light"/>
                <a:ea typeface="Roboto Light"/>
                <a:cs typeface="Roboto Light"/>
                <a:sym typeface="Roboto Light"/>
              </a:endParaRPr>
            </a:p>
          </p:txBody>
        </p:sp>
      </p:grpSp>
      <p:pic>
        <p:nvPicPr>
          <p:cNvPr id="632" name="Google Shape;632;p70"/>
          <p:cNvPicPr preferRelativeResize="0"/>
          <p:nvPr/>
        </p:nvPicPr>
        <p:blipFill rotWithShape="1">
          <a:blip r:embed="rId6">
            <a:alphaModFix/>
          </a:blip>
          <a:srcRect b="0" l="0" r="53014" t="0"/>
          <a:stretch/>
        </p:blipFill>
        <p:spPr>
          <a:xfrm>
            <a:off x="2332425" y="3045900"/>
            <a:ext cx="4153174" cy="1981925"/>
          </a:xfrm>
          <a:prstGeom prst="rect">
            <a:avLst/>
          </a:prstGeom>
          <a:noFill/>
          <a:ln>
            <a:noFill/>
          </a:ln>
        </p:spPr>
      </p:pic>
      <p:sp>
        <p:nvSpPr>
          <p:cNvPr id="633" name="Google Shape;633;p70"/>
          <p:cNvSpPr/>
          <p:nvPr/>
        </p:nvSpPr>
        <p:spPr>
          <a:xfrm>
            <a:off x="3952675" y="3459600"/>
            <a:ext cx="777300" cy="138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4" name="Google Shape;634;p70"/>
          <p:cNvGrpSpPr/>
          <p:nvPr/>
        </p:nvGrpSpPr>
        <p:grpSpPr>
          <a:xfrm>
            <a:off x="6734682" y="3045900"/>
            <a:ext cx="2117425" cy="2066650"/>
            <a:chOff x="6734682" y="3045900"/>
            <a:chExt cx="2117425" cy="2066650"/>
          </a:xfrm>
        </p:grpSpPr>
        <p:sp>
          <p:nvSpPr>
            <p:cNvPr id="635" name="Google Shape;635;p70"/>
            <p:cNvSpPr txBox="1"/>
            <p:nvPr/>
          </p:nvSpPr>
          <p:spPr>
            <a:xfrm>
              <a:off x="7284388" y="4712350"/>
              <a:ext cx="972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Light"/>
                  <a:ea typeface="Roboto Light"/>
                  <a:cs typeface="Roboto Light"/>
                  <a:sym typeface="Roboto Light"/>
                </a:rPr>
                <a:t>Helios*</a:t>
              </a:r>
              <a:endParaRPr>
                <a:latin typeface="Roboto Light"/>
                <a:ea typeface="Roboto Light"/>
                <a:cs typeface="Roboto Light"/>
                <a:sym typeface="Roboto Light"/>
              </a:endParaRPr>
            </a:p>
          </p:txBody>
        </p:sp>
        <p:pic>
          <p:nvPicPr>
            <p:cNvPr id="636" name="Google Shape;636;p70"/>
            <p:cNvPicPr preferRelativeResize="0"/>
            <p:nvPr/>
          </p:nvPicPr>
          <p:blipFill>
            <a:blip r:embed="rId7">
              <a:alphaModFix/>
            </a:blip>
            <a:stretch>
              <a:fillRect/>
            </a:stretch>
          </p:blipFill>
          <p:spPr>
            <a:xfrm>
              <a:off x="6734682" y="3045900"/>
              <a:ext cx="2117425" cy="1647874"/>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7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Inner Join</a:t>
            </a:r>
            <a:endParaRPr/>
          </a:p>
        </p:txBody>
      </p:sp>
      <p:sp>
        <p:nvSpPr>
          <p:cNvPr id="642" name="Google Shape;642;p71"/>
          <p:cNvSpPr txBox="1"/>
          <p:nvPr>
            <p:ph idx="1" type="body"/>
          </p:nvPr>
        </p:nvSpPr>
        <p:spPr>
          <a:xfrm>
            <a:off x="107050" y="414038"/>
            <a:ext cx="8520600" cy="768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latin typeface="Roboto"/>
                <a:ea typeface="Roboto"/>
                <a:cs typeface="Roboto"/>
                <a:sym typeface="Roboto"/>
              </a:rPr>
              <a:t>Inner join:</a:t>
            </a:r>
            <a:r>
              <a:rPr lang="en"/>
              <a:t> Combine every row from the first table with its matching entry in the second table. If a row does not have a match, it is omitted.</a:t>
            </a:r>
            <a:endParaRPr/>
          </a:p>
        </p:txBody>
      </p:sp>
      <p:sp>
        <p:nvSpPr>
          <p:cNvPr id="643" name="Google Shape;643;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4" name="Google Shape;644;p71"/>
          <p:cNvSpPr/>
          <p:nvPr/>
        </p:nvSpPr>
        <p:spPr>
          <a:xfrm>
            <a:off x="4019625" y="1794475"/>
            <a:ext cx="4926600" cy="138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5" name="Google Shape;645;p71"/>
          <p:cNvPicPr preferRelativeResize="0"/>
          <p:nvPr/>
        </p:nvPicPr>
        <p:blipFill rotWithShape="1">
          <a:blip r:embed="rId3">
            <a:alphaModFix/>
          </a:blip>
          <a:srcRect b="0" l="0" r="54361" t="0"/>
          <a:stretch/>
        </p:blipFill>
        <p:spPr>
          <a:xfrm>
            <a:off x="562473" y="1361575"/>
            <a:ext cx="4034050" cy="1981925"/>
          </a:xfrm>
          <a:prstGeom prst="rect">
            <a:avLst/>
          </a:prstGeom>
          <a:noFill/>
          <a:ln>
            <a:noFill/>
          </a:ln>
        </p:spPr>
      </p:pic>
      <p:sp>
        <p:nvSpPr>
          <p:cNvPr id="646" name="Google Shape;646;p71"/>
          <p:cNvSpPr/>
          <p:nvPr/>
        </p:nvSpPr>
        <p:spPr>
          <a:xfrm>
            <a:off x="2196800" y="1806500"/>
            <a:ext cx="769200" cy="1304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7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Inner Join</a:t>
            </a:r>
            <a:endParaRPr/>
          </a:p>
        </p:txBody>
      </p:sp>
      <p:sp>
        <p:nvSpPr>
          <p:cNvPr id="652" name="Google Shape;652;p72"/>
          <p:cNvSpPr txBox="1"/>
          <p:nvPr>
            <p:ph idx="1" type="body"/>
          </p:nvPr>
        </p:nvSpPr>
        <p:spPr>
          <a:xfrm>
            <a:off x="107050" y="402200"/>
            <a:ext cx="8520600" cy="768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b="1" lang="en">
                <a:latin typeface="Roboto"/>
                <a:ea typeface="Roboto"/>
                <a:cs typeface="Roboto"/>
                <a:sym typeface="Roboto"/>
              </a:rPr>
              <a:t>Inner join:</a:t>
            </a:r>
            <a:r>
              <a:rPr lang="en"/>
              <a:t> Combine every row from the first table with its matching entry in the second table. If a row does not have a match, it is omitted.</a:t>
            </a:r>
            <a:endParaRPr/>
          </a:p>
        </p:txBody>
      </p:sp>
      <p:sp>
        <p:nvSpPr>
          <p:cNvPr id="653" name="Google Shape;653;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54" name="Google Shape;654;p72"/>
          <p:cNvPicPr preferRelativeResize="0"/>
          <p:nvPr/>
        </p:nvPicPr>
        <p:blipFill rotWithShape="1">
          <a:blip r:embed="rId3">
            <a:alphaModFix/>
          </a:blip>
          <a:srcRect b="0" l="0" r="44215" t="0"/>
          <a:stretch/>
        </p:blipFill>
        <p:spPr>
          <a:xfrm>
            <a:off x="562463" y="1361575"/>
            <a:ext cx="4930900" cy="1981925"/>
          </a:xfrm>
          <a:prstGeom prst="rect">
            <a:avLst/>
          </a:prstGeom>
          <a:noFill/>
          <a:ln>
            <a:noFill/>
          </a:ln>
        </p:spPr>
      </p:pic>
      <p:sp>
        <p:nvSpPr>
          <p:cNvPr id="655" name="Google Shape;655;p72"/>
          <p:cNvSpPr/>
          <p:nvPr/>
        </p:nvSpPr>
        <p:spPr>
          <a:xfrm>
            <a:off x="4499425" y="1746500"/>
            <a:ext cx="2294700" cy="138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6" name="Google Shape;656;p72"/>
          <p:cNvGrpSpPr/>
          <p:nvPr/>
        </p:nvGrpSpPr>
        <p:grpSpPr>
          <a:xfrm>
            <a:off x="4619975" y="1361575"/>
            <a:ext cx="3552262" cy="1981925"/>
            <a:chOff x="4619975" y="1361575"/>
            <a:chExt cx="3552262" cy="1981925"/>
          </a:xfrm>
        </p:grpSpPr>
        <p:pic>
          <p:nvPicPr>
            <p:cNvPr id="657" name="Google Shape;657;p72"/>
            <p:cNvPicPr preferRelativeResize="0"/>
            <p:nvPr/>
          </p:nvPicPr>
          <p:blipFill rotWithShape="1">
            <a:blip r:embed="rId3">
              <a:alphaModFix/>
            </a:blip>
            <a:srcRect b="0" l="69693" r="0" t="0"/>
            <a:stretch/>
          </p:blipFill>
          <p:spPr>
            <a:xfrm>
              <a:off x="5493362" y="1361575"/>
              <a:ext cx="2678875" cy="1981925"/>
            </a:xfrm>
            <a:prstGeom prst="rect">
              <a:avLst/>
            </a:prstGeom>
            <a:noFill/>
            <a:ln>
              <a:noFill/>
            </a:ln>
          </p:spPr>
        </p:pic>
        <p:cxnSp>
          <p:nvCxnSpPr>
            <p:cNvPr id="658" name="Google Shape;658;p72"/>
            <p:cNvCxnSpPr/>
            <p:nvPr/>
          </p:nvCxnSpPr>
          <p:spPr>
            <a:xfrm>
              <a:off x="4619975" y="2437400"/>
              <a:ext cx="759300" cy="0"/>
            </a:xfrm>
            <a:prstGeom prst="straightConnector1">
              <a:avLst/>
            </a:prstGeom>
            <a:noFill/>
            <a:ln cap="flat" cmpd="sng" w="28575">
              <a:solidFill>
                <a:schemeClr val="dk2"/>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7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JOIN Syntax</a:t>
            </a:r>
            <a:endParaRPr/>
          </a:p>
        </p:txBody>
      </p:sp>
      <p:sp>
        <p:nvSpPr>
          <p:cNvPr id="664" name="Google Shape;664;p73"/>
          <p:cNvSpPr txBox="1"/>
          <p:nvPr>
            <p:ph idx="1" type="body"/>
          </p:nvPr>
        </p:nvSpPr>
        <p:spPr>
          <a:xfrm>
            <a:off x="107050" y="402200"/>
            <a:ext cx="8520600" cy="557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Specify joins between tables as part of the FROM statement</a:t>
            </a:r>
            <a:endParaRPr/>
          </a:p>
        </p:txBody>
      </p:sp>
      <p:sp>
        <p:nvSpPr>
          <p:cNvPr id="665" name="Google Shape;665;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6" name="Google Shape;666;p73"/>
          <p:cNvSpPr txBox="1"/>
          <p:nvPr/>
        </p:nvSpPr>
        <p:spPr>
          <a:xfrm>
            <a:off x="211100" y="1165100"/>
            <a:ext cx="5508300" cy="11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Consolas"/>
                <a:ea typeface="Consolas"/>
                <a:cs typeface="Consolas"/>
                <a:sym typeface="Consolas"/>
              </a:rPr>
              <a:t>SELECT *</a:t>
            </a:r>
            <a:endParaRPr sz="1700">
              <a:latin typeface="Consolas"/>
              <a:ea typeface="Consolas"/>
              <a:cs typeface="Consolas"/>
              <a:sym typeface="Consolas"/>
            </a:endParaRPr>
          </a:p>
          <a:p>
            <a:pPr indent="0" lvl="0" marL="0" rtl="0" algn="l">
              <a:spcBef>
                <a:spcPts val="0"/>
              </a:spcBef>
              <a:spcAft>
                <a:spcPts val="0"/>
              </a:spcAft>
              <a:buNone/>
            </a:pPr>
            <a:r>
              <a:rPr lang="en" sz="1700">
                <a:latin typeface="Consolas"/>
                <a:ea typeface="Consolas"/>
                <a:cs typeface="Consolas"/>
                <a:sym typeface="Consolas"/>
              </a:rPr>
              <a:t>FROM table1 INNER JOIN table2</a:t>
            </a:r>
            <a:endParaRPr sz="1700">
              <a:latin typeface="Consolas"/>
              <a:ea typeface="Consolas"/>
              <a:cs typeface="Consolas"/>
              <a:sym typeface="Consolas"/>
            </a:endParaRPr>
          </a:p>
          <a:p>
            <a:pPr indent="0" lvl="0" marL="0" rtl="0" algn="l">
              <a:spcBef>
                <a:spcPts val="0"/>
              </a:spcBef>
              <a:spcAft>
                <a:spcPts val="0"/>
              </a:spcAft>
              <a:buNone/>
            </a:pPr>
            <a:r>
              <a:rPr lang="en" sz="1700">
                <a:latin typeface="Consolas"/>
                <a:ea typeface="Consolas"/>
                <a:cs typeface="Consolas"/>
                <a:sym typeface="Consolas"/>
              </a:rPr>
              <a:t>		   ON table1.key = table2.key</a:t>
            </a:r>
            <a:endParaRPr sz="1700">
              <a:latin typeface="Consolas"/>
              <a:ea typeface="Consolas"/>
              <a:cs typeface="Consolas"/>
              <a:sym typeface="Consolas"/>
            </a:endParaRPr>
          </a:p>
        </p:txBody>
      </p:sp>
      <p:sp>
        <p:nvSpPr>
          <p:cNvPr id="667" name="Google Shape;667;p73"/>
          <p:cNvSpPr txBox="1"/>
          <p:nvPr/>
        </p:nvSpPr>
        <p:spPr>
          <a:xfrm>
            <a:off x="5719400" y="877225"/>
            <a:ext cx="2485500" cy="5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Roboto Light"/>
                <a:ea typeface="Roboto Light"/>
                <a:cs typeface="Roboto Light"/>
                <a:sym typeface="Roboto Light"/>
              </a:rPr>
              <a:t>Desired type of join</a:t>
            </a:r>
            <a:endParaRPr sz="1600">
              <a:latin typeface="Roboto Light"/>
              <a:ea typeface="Roboto Light"/>
              <a:cs typeface="Roboto Light"/>
              <a:sym typeface="Roboto Light"/>
            </a:endParaRPr>
          </a:p>
        </p:txBody>
      </p:sp>
      <p:sp>
        <p:nvSpPr>
          <p:cNvPr id="668" name="Google Shape;668;p73"/>
          <p:cNvSpPr txBox="1"/>
          <p:nvPr/>
        </p:nvSpPr>
        <p:spPr>
          <a:xfrm>
            <a:off x="5719400" y="2374875"/>
            <a:ext cx="2801100" cy="92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Roboto Light"/>
                <a:ea typeface="Roboto Light"/>
                <a:cs typeface="Roboto Light"/>
                <a:sym typeface="Roboto Light"/>
              </a:rPr>
              <a:t>What columns to use to determine matching entries</a:t>
            </a:r>
            <a:endParaRPr sz="1600">
              <a:latin typeface="Roboto Light"/>
              <a:ea typeface="Roboto Light"/>
              <a:cs typeface="Roboto Light"/>
              <a:sym typeface="Roboto Light"/>
            </a:endParaRPr>
          </a:p>
        </p:txBody>
      </p:sp>
      <p:cxnSp>
        <p:nvCxnSpPr>
          <p:cNvPr id="669" name="Google Shape;669;p73"/>
          <p:cNvCxnSpPr>
            <a:stCxn id="667" idx="1"/>
          </p:cNvCxnSpPr>
          <p:nvPr/>
        </p:nvCxnSpPr>
        <p:spPr>
          <a:xfrm flipH="1">
            <a:off x="3982400" y="1155925"/>
            <a:ext cx="1737000" cy="498600"/>
          </a:xfrm>
          <a:prstGeom prst="curvedConnector3">
            <a:avLst>
              <a:gd fmla="val 50000" name="adj1"/>
            </a:avLst>
          </a:prstGeom>
          <a:noFill/>
          <a:ln cap="flat" cmpd="sng" w="28575">
            <a:solidFill>
              <a:schemeClr val="dk2"/>
            </a:solidFill>
            <a:prstDash val="solid"/>
            <a:round/>
            <a:headEnd len="med" w="med" type="none"/>
            <a:tailEnd len="med" w="med" type="triangle"/>
          </a:ln>
        </p:spPr>
      </p:cxnSp>
      <p:cxnSp>
        <p:nvCxnSpPr>
          <p:cNvPr id="670" name="Google Shape;670;p73"/>
          <p:cNvCxnSpPr/>
          <p:nvPr/>
        </p:nvCxnSpPr>
        <p:spPr>
          <a:xfrm rot="10800000">
            <a:off x="4778750" y="1942400"/>
            <a:ext cx="950100" cy="700500"/>
          </a:xfrm>
          <a:prstGeom prst="curvedConnector3">
            <a:avLst>
              <a:gd fmla="val 50000" name="adj1"/>
            </a:avLst>
          </a:prstGeom>
          <a:noFill/>
          <a:ln cap="flat" cmpd="sng" w="28575">
            <a:solidFill>
              <a:schemeClr val="dk2"/>
            </a:solidFill>
            <a:prstDash val="solid"/>
            <a:round/>
            <a:headEnd len="med" w="med" type="none"/>
            <a:tailEnd len="med" w="med" type="triangle"/>
          </a:ln>
        </p:spPr>
      </p:cxnSp>
      <p:pic>
        <p:nvPicPr>
          <p:cNvPr id="671" name="Google Shape;671;p73"/>
          <p:cNvPicPr preferRelativeResize="0"/>
          <p:nvPr/>
        </p:nvPicPr>
        <p:blipFill>
          <a:blip r:embed="rId3">
            <a:alphaModFix/>
          </a:blip>
          <a:stretch>
            <a:fillRect/>
          </a:stretch>
        </p:blipFill>
        <p:spPr>
          <a:xfrm>
            <a:off x="49475" y="3040300"/>
            <a:ext cx="8839199" cy="19819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7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Cross Join</a:t>
            </a:r>
            <a:endParaRPr/>
          </a:p>
        </p:txBody>
      </p:sp>
      <p:sp>
        <p:nvSpPr>
          <p:cNvPr id="677" name="Google Shape;677;p74"/>
          <p:cNvSpPr txBox="1"/>
          <p:nvPr>
            <p:ph idx="1" type="body"/>
          </p:nvPr>
        </p:nvSpPr>
        <p:spPr>
          <a:xfrm>
            <a:off x="107050" y="402200"/>
            <a:ext cx="8520600" cy="787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latin typeface="Roboto"/>
                <a:ea typeface="Roboto"/>
                <a:cs typeface="Roboto"/>
                <a:sym typeface="Roboto"/>
              </a:rPr>
              <a:t>Cross join</a:t>
            </a:r>
            <a:r>
              <a:rPr lang="en"/>
              <a:t>: </a:t>
            </a:r>
            <a:r>
              <a:rPr i="1" lang="en"/>
              <a:t>Every</a:t>
            </a:r>
            <a:r>
              <a:rPr lang="en"/>
              <a:t> combination of possible rows. Also called a cartesian product.</a:t>
            </a:r>
            <a:endParaRPr/>
          </a:p>
        </p:txBody>
      </p:sp>
      <p:sp>
        <p:nvSpPr>
          <p:cNvPr id="678" name="Google Shape;678;p7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79" name="Google Shape;679;p74"/>
          <p:cNvPicPr preferRelativeResize="0"/>
          <p:nvPr/>
        </p:nvPicPr>
        <p:blipFill rotWithShape="1">
          <a:blip r:embed="rId3">
            <a:alphaModFix/>
          </a:blip>
          <a:srcRect b="0" l="0" r="55797" t="0"/>
          <a:stretch/>
        </p:blipFill>
        <p:spPr>
          <a:xfrm>
            <a:off x="1720975" y="1638225"/>
            <a:ext cx="1858350" cy="1867050"/>
          </a:xfrm>
          <a:prstGeom prst="rect">
            <a:avLst/>
          </a:prstGeom>
          <a:noFill/>
          <a:ln>
            <a:noFill/>
          </a:ln>
        </p:spPr>
      </p:pic>
      <p:cxnSp>
        <p:nvCxnSpPr>
          <p:cNvPr id="680" name="Google Shape;680;p74"/>
          <p:cNvCxnSpPr/>
          <p:nvPr/>
        </p:nvCxnSpPr>
        <p:spPr>
          <a:xfrm>
            <a:off x="3368800" y="2283875"/>
            <a:ext cx="2168100" cy="0"/>
          </a:xfrm>
          <a:prstGeom prst="straightConnector1">
            <a:avLst/>
          </a:prstGeom>
          <a:noFill/>
          <a:ln cap="flat" cmpd="sng" w="28575">
            <a:solidFill>
              <a:srgbClr val="E6ADBB"/>
            </a:solidFill>
            <a:prstDash val="solid"/>
            <a:round/>
            <a:headEnd len="med" w="med" type="none"/>
            <a:tailEnd len="med" w="med" type="none"/>
          </a:ln>
        </p:spPr>
      </p:cxnSp>
      <p:cxnSp>
        <p:nvCxnSpPr>
          <p:cNvPr id="681" name="Google Shape;681;p74"/>
          <p:cNvCxnSpPr/>
          <p:nvPr/>
        </p:nvCxnSpPr>
        <p:spPr>
          <a:xfrm>
            <a:off x="3445000" y="2283875"/>
            <a:ext cx="2149500" cy="355200"/>
          </a:xfrm>
          <a:prstGeom prst="straightConnector1">
            <a:avLst/>
          </a:prstGeom>
          <a:noFill/>
          <a:ln cap="flat" cmpd="sng" w="28575">
            <a:solidFill>
              <a:srgbClr val="E6ADBB"/>
            </a:solidFill>
            <a:prstDash val="solid"/>
            <a:round/>
            <a:headEnd len="med" w="med" type="none"/>
            <a:tailEnd len="med" w="med" type="none"/>
          </a:ln>
        </p:spPr>
      </p:cxnSp>
      <p:cxnSp>
        <p:nvCxnSpPr>
          <p:cNvPr id="682" name="Google Shape;682;p74"/>
          <p:cNvCxnSpPr/>
          <p:nvPr/>
        </p:nvCxnSpPr>
        <p:spPr>
          <a:xfrm>
            <a:off x="3445000" y="2283875"/>
            <a:ext cx="2091900" cy="614100"/>
          </a:xfrm>
          <a:prstGeom prst="straightConnector1">
            <a:avLst/>
          </a:prstGeom>
          <a:noFill/>
          <a:ln cap="flat" cmpd="sng" w="28575">
            <a:solidFill>
              <a:srgbClr val="E6ADBB"/>
            </a:solidFill>
            <a:prstDash val="solid"/>
            <a:round/>
            <a:headEnd len="med" w="med" type="none"/>
            <a:tailEnd len="med" w="med" type="none"/>
          </a:ln>
        </p:spPr>
      </p:cxnSp>
      <p:cxnSp>
        <p:nvCxnSpPr>
          <p:cNvPr id="683" name="Google Shape;683;p74"/>
          <p:cNvCxnSpPr/>
          <p:nvPr/>
        </p:nvCxnSpPr>
        <p:spPr>
          <a:xfrm>
            <a:off x="3445000" y="2283875"/>
            <a:ext cx="2082300" cy="921300"/>
          </a:xfrm>
          <a:prstGeom prst="straightConnector1">
            <a:avLst/>
          </a:prstGeom>
          <a:noFill/>
          <a:ln cap="flat" cmpd="sng" w="28575">
            <a:solidFill>
              <a:srgbClr val="E6ADBB"/>
            </a:solidFill>
            <a:prstDash val="solid"/>
            <a:round/>
            <a:headEnd len="med" w="med" type="none"/>
            <a:tailEnd len="med" w="med" type="none"/>
          </a:ln>
        </p:spPr>
      </p:cxnSp>
      <p:cxnSp>
        <p:nvCxnSpPr>
          <p:cNvPr id="684" name="Google Shape;684;p74"/>
          <p:cNvCxnSpPr/>
          <p:nvPr/>
        </p:nvCxnSpPr>
        <p:spPr>
          <a:xfrm flipH="1" rot="10800000">
            <a:off x="3445000" y="2293475"/>
            <a:ext cx="2091900" cy="345600"/>
          </a:xfrm>
          <a:prstGeom prst="straightConnector1">
            <a:avLst/>
          </a:prstGeom>
          <a:noFill/>
          <a:ln cap="flat" cmpd="sng" w="28575">
            <a:solidFill>
              <a:srgbClr val="9CDBBD"/>
            </a:solidFill>
            <a:prstDash val="solid"/>
            <a:round/>
            <a:headEnd len="med" w="med" type="none"/>
            <a:tailEnd len="med" w="med" type="none"/>
          </a:ln>
        </p:spPr>
      </p:cxnSp>
      <p:cxnSp>
        <p:nvCxnSpPr>
          <p:cNvPr id="685" name="Google Shape;685;p74"/>
          <p:cNvCxnSpPr/>
          <p:nvPr/>
        </p:nvCxnSpPr>
        <p:spPr>
          <a:xfrm>
            <a:off x="3440325" y="2629350"/>
            <a:ext cx="2135100" cy="19200"/>
          </a:xfrm>
          <a:prstGeom prst="straightConnector1">
            <a:avLst/>
          </a:prstGeom>
          <a:noFill/>
          <a:ln cap="flat" cmpd="sng" w="28575">
            <a:solidFill>
              <a:srgbClr val="9CDBBD"/>
            </a:solidFill>
            <a:prstDash val="solid"/>
            <a:round/>
            <a:headEnd len="med" w="med" type="none"/>
            <a:tailEnd len="med" w="med" type="none"/>
          </a:ln>
        </p:spPr>
      </p:cxnSp>
      <p:cxnSp>
        <p:nvCxnSpPr>
          <p:cNvPr id="686" name="Google Shape;686;p74"/>
          <p:cNvCxnSpPr/>
          <p:nvPr/>
        </p:nvCxnSpPr>
        <p:spPr>
          <a:xfrm>
            <a:off x="3452200" y="2629350"/>
            <a:ext cx="2103900" cy="288000"/>
          </a:xfrm>
          <a:prstGeom prst="straightConnector1">
            <a:avLst/>
          </a:prstGeom>
          <a:noFill/>
          <a:ln cap="flat" cmpd="sng" w="28575">
            <a:solidFill>
              <a:srgbClr val="9CDBBD"/>
            </a:solidFill>
            <a:prstDash val="solid"/>
            <a:round/>
            <a:headEnd len="med" w="med" type="none"/>
            <a:tailEnd len="med" w="med" type="none"/>
          </a:ln>
        </p:spPr>
      </p:cxnSp>
      <p:cxnSp>
        <p:nvCxnSpPr>
          <p:cNvPr id="687" name="Google Shape;687;p74"/>
          <p:cNvCxnSpPr/>
          <p:nvPr/>
        </p:nvCxnSpPr>
        <p:spPr>
          <a:xfrm>
            <a:off x="3452200" y="2629350"/>
            <a:ext cx="2113500" cy="585300"/>
          </a:xfrm>
          <a:prstGeom prst="straightConnector1">
            <a:avLst/>
          </a:prstGeom>
          <a:noFill/>
          <a:ln cap="flat" cmpd="sng" w="28575">
            <a:solidFill>
              <a:srgbClr val="9CDBBD"/>
            </a:solidFill>
            <a:prstDash val="solid"/>
            <a:round/>
            <a:headEnd len="med" w="med" type="none"/>
            <a:tailEnd len="med" w="med" type="none"/>
          </a:ln>
        </p:spPr>
      </p:cxnSp>
      <p:cxnSp>
        <p:nvCxnSpPr>
          <p:cNvPr id="688" name="Google Shape;688;p74"/>
          <p:cNvCxnSpPr/>
          <p:nvPr/>
        </p:nvCxnSpPr>
        <p:spPr>
          <a:xfrm flipH="1" rot="10800000">
            <a:off x="3423400" y="2303100"/>
            <a:ext cx="2103900" cy="609300"/>
          </a:xfrm>
          <a:prstGeom prst="straightConnector1">
            <a:avLst/>
          </a:prstGeom>
          <a:noFill/>
          <a:ln cap="flat" cmpd="sng" w="28575">
            <a:solidFill>
              <a:srgbClr val="8BD3F8"/>
            </a:solidFill>
            <a:prstDash val="solid"/>
            <a:round/>
            <a:headEnd len="med" w="med" type="none"/>
            <a:tailEnd len="med" w="med" type="none"/>
          </a:ln>
        </p:spPr>
      </p:cxnSp>
      <p:cxnSp>
        <p:nvCxnSpPr>
          <p:cNvPr id="689" name="Google Shape;689;p74"/>
          <p:cNvCxnSpPr/>
          <p:nvPr/>
        </p:nvCxnSpPr>
        <p:spPr>
          <a:xfrm flipH="1" rot="10800000">
            <a:off x="3423400" y="2658275"/>
            <a:ext cx="2142300" cy="234900"/>
          </a:xfrm>
          <a:prstGeom prst="straightConnector1">
            <a:avLst/>
          </a:prstGeom>
          <a:noFill/>
          <a:ln cap="flat" cmpd="sng" w="28575">
            <a:solidFill>
              <a:srgbClr val="8BD3F8"/>
            </a:solidFill>
            <a:prstDash val="solid"/>
            <a:round/>
            <a:headEnd len="med" w="med" type="none"/>
            <a:tailEnd len="med" w="med" type="none"/>
          </a:ln>
        </p:spPr>
      </p:cxnSp>
      <p:cxnSp>
        <p:nvCxnSpPr>
          <p:cNvPr id="690" name="Google Shape;690;p74"/>
          <p:cNvCxnSpPr/>
          <p:nvPr/>
        </p:nvCxnSpPr>
        <p:spPr>
          <a:xfrm>
            <a:off x="3415000" y="2917350"/>
            <a:ext cx="2150700" cy="9600"/>
          </a:xfrm>
          <a:prstGeom prst="straightConnector1">
            <a:avLst/>
          </a:prstGeom>
          <a:noFill/>
          <a:ln cap="flat" cmpd="sng" w="28575">
            <a:solidFill>
              <a:srgbClr val="8BD3F8"/>
            </a:solidFill>
            <a:prstDash val="solid"/>
            <a:round/>
            <a:headEnd len="med" w="med" type="none"/>
            <a:tailEnd len="med" w="med" type="none"/>
          </a:ln>
        </p:spPr>
      </p:cxnSp>
      <p:cxnSp>
        <p:nvCxnSpPr>
          <p:cNvPr id="691" name="Google Shape;691;p74"/>
          <p:cNvCxnSpPr/>
          <p:nvPr/>
        </p:nvCxnSpPr>
        <p:spPr>
          <a:xfrm>
            <a:off x="3432525" y="2931625"/>
            <a:ext cx="2123700" cy="292800"/>
          </a:xfrm>
          <a:prstGeom prst="straightConnector1">
            <a:avLst/>
          </a:prstGeom>
          <a:noFill/>
          <a:ln cap="flat" cmpd="sng" w="28575">
            <a:solidFill>
              <a:srgbClr val="8BD3F8"/>
            </a:solidFill>
            <a:prstDash val="solid"/>
            <a:round/>
            <a:headEnd len="med" w="med" type="none"/>
            <a:tailEnd len="med" w="med" type="none"/>
          </a:ln>
        </p:spPr>
      </p:cxnSp>
      <p:cxnSp>
        <p:nvCxnSpPr>
          <p:cNvPr id="692" name="Google Shape;692;p74"/>
          <p:cNvCxnSpPr/>
          <p:nvPr/>
        </p:nvCxnSpPr>
        <p:spPr>
          <a:xfrm flipH="1" rot="10800000">
            <a:off x="3419200" y="2302950"/>
            <a:ext cx="2108100" cy="892800"/>
          </a:xfrm>
          <a:prstGeom prst="straightConnector1">
            <a:avLst/>
          </a:prstGeom>
          <a:noFill/>
          <a:ln cap="flat" cmpd="sng" w="28575">
            <a:solidFill>
              <a:srgbClr val="DDBEEF"/>
            </a:solidFill>
            <a:prstDash val="solid"/>
            <a:round/>
            <a:headEnd len="med" w="med" type="none"/>
            <a:tailEnd len="med" w="med" type="none"/>
          </a:ln>
        </p:spPr>
      </p:cxnSp>
      <p:cxnSp>
        <p:nvCxnSpPr>
          <p:cNvPr id="693" name="Google Shape;693;p74"/>
          <p:cNvCxnSpPr/>
          <p:nvPr/>
        </p:nvCxnSpPr>
        <p:spPr>
          <a:xfrm flipH="1" rot="10800000">
            <a:off x="3432100" y="2686925"/>
            <a:ext cx="2114400" cy="535200"/>
          </a:xfrm>
          <a:prstGeom prst="straightConnector1">
            <a:avLst/>
          </a:prstGeom>
          <a:noFill/>
          <a:ln cap="flat" cmpd="sng" w="28575">
            <a:solidFill>
              <a:srgbClr val="DDBEEF"/>
            </a:solidFill>
            <a:prstDash val="solid"/>
            <a:round/>
            <a:headEnd len="med" w="med" type="none"/>
            <a:tailEnd len="med" w="med" type="none"/>
          </a:ln>
        </p:spPr>
      </p:cxnSp>
      <p:cxnSp>
        <p:nvCxnSpPr>
          <p:cNvPr id="694" name="Google Shape;694;p74"/>
          <p:cNvCxnSpPr/>
          <p:nvPr/>
        </p:nvCxnSpPr>
        <p:spPr>
          <a:xfrm flipH="1" rot="10800000">
            <a:off x="3418150" y="2917325"/>
            <a:ext cx="2118900" cy="304800"/>
          </a:xfrm>
          <a:prstGeom prst="straightConnector1">
            <a:avLst/>
          </a:prstGeom>
          <a:noFill/>
          <a:ln cap="flat" cmpd="sng" w="28575">
            <a:solidFill>
              <a:srgbClr val="DDBEEF"/>
            </a:solidFill>
            <a:prstDash val="solid"/>
            <a:round/>
            <a:headEnd len="med" w="med" type="none"/>
            <a:tailEnd len="med" w="med" type="none"/>
          </a:ln>
        </p:spPr>
      </p:cxnSp>
      <p:cxnSp>
        <p:nvCxnSpPr>
          <p:cNvPr id="695" name="Google Shape;695;p74"/>
          <p:cNvCxnSpPr/>
          <p:nvPr/>
        </p:nvCxnSpPr>
        <p:spPr>
          <a:xfrm>
            <a:off x="3415900" y="3222125"/>
            <a:ext cx="2101800" cy="2100"/>
          </a:xfrm>
          <a:prstGeom prst="straightConnector1">
            <a:avLst/>
          </a:prstGeom>
          <a:noFill/>
          <a:ln cap="flat" cmpd="sng" w="28575">
            <a:solidFill>
              <a:srgbClr val="DDBEEF"/>
            </a:solidFill>
            <a:prstDash val="solid"/>
            <a:round/>
            <a:headEnd len="med" w="med" type="none"/>
            <a:tailEnd len="med" w="med" type="none"/>
          </a:ln>
        </p:spPr>
      </p:cxnSp>
      <p:pic>
        <p:nvPicPr>
          <p:cNvPr id="696" name="Google Shape;696;p74"/>
          <p:cNvPicPr preferRelativeResize="0"/>
          <p:nvPr/>
        </p:nvPicPr>
        <p:blipFill rotWithShape="1">
          <a:blip r:embed="rId3">
            <a:alphaModFix/>
          </a:blip>
          <a:srcRect b="0" l="60003" r="0" t="0"/>
          <a:stretch/>
        </p:blipFill>
        <p:spPr>
          <a:xfrm>
            <a:off x="5517700" y="1619900"/>
            <a:ext cx="1714476" cy="1903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7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Cross Join</a:t>
            </a:r>
            <a:endParaRPr/>
          </a:p>
        </p:txBody>
      </p:sp>
      <p:sp>
        <p:nvSpPr>
          <p:cNvPr id="702" name="Google Shape;702;p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03" name="Google Shape;703;p75"/>
          <p:cNvPicPr preferRelativeResize="0"/>
          <p:nvPr/>
        </p:nvPicPr>
        <p:blipFill>
          <a:blip r:embed="rId3">
            <a:alphaModFix/>
          </a:blip>
          <a:stretch>
            <a:fillRect/>
          </a:stretch>
        </p:blipFill>
        <p:spPr>
          <a:xfrm>
            <a:off x="221625" y="1781150"/>
            <a:ext cx="5507674" cy="1705200"/>
          </a:xfrm>
          <a:prstGeom prst="rect">
            <a:avLst/>
          </a:prstGeom>
          <a:noFill/>
          <a:ln>
            <a:noFill/>
          </a:ln>
        </p:spPr>
      </p:pic>
      <p:pic>
        <p:nvPicPr>
          <p:cNvPr id="704" name="Google Shape;704;p75"/>
          <p:cNvPicPr preferRelativeResize="0"/>
          <p:nvPr/>
        </p:nvPicPr>
        <p:blipFill>
          <a:blip r:embed="rId4">
            <a:alphaModFix/>
          </a:blip>
          <a:stretch>
            <a:fillRect/>
          </a:stretch>
        </p:blipFill>
        <p:spPr>
          <a:xfrm>
            <a:off x="6134325" y="1190000"/>
            <a:ext cx="1953416" cy="3648702"/>
          </a:xfrm>
          <a:prstGeom prst="rect">
            <a:avLst/>
          </a:prstGeom>
          <a:noFill/>
          <a:ln>
            <a:noFill/>
          </a:ln>
        </p:spPr>
      </p:pic>
      <p:sp>
        <p:nvSpPr>
          <p:cNvPr id="705" name="Google Shape;705;p75"/>
          <p:cNvSpPr txBox="1"/>
          <p:nvPr/>
        </p:nvSpPr>
        <p:spPr>
          <a:xfrm>
            <a:off x="355200" y="3861575"/>
            <a:ext cx="5053200" cy="90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Roboto Light"/>
                <a:ea typeface="Roboto Light"/>
                <a:cs typeface="Roboto Light"/>
                <a:sym typeface="Roboto Light"/>
              </a:rPr>
              <a:t>Notice that there is no need to specify a matching key (i.e., the columns to use for merging)</a:t>
            </a:r>
            <a:endParaRPr sz="1600">
              <a:latin typeface="Roboto Light"/>
              <a:ea typeface="Roboto Light"/>
              <a:cs typeface="Roboto Light"/>
              <a:sym typeface="Roboto Light"/>
            </a:endParaRPr>
          </a:p>
        </p:txBody>
      </p:sp>
      <p:sp>
        <p:nvSpPr>
          <p:cNvPr id="706" name="Google Shape;706;p75"/>
          <p:cNvSpPr txBox="1"/>
          <p:nvPr>
            <p:ph idx="1" type="body"/>
          </p:nvPr>
        </p:nvSpPr>
        <p:spPr>
          <a:xfrm>
            <a:off x="107050" y="402200"/>
            <a:ext cx="8520600" cy="787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latin typeface="Roboto"/>
                <a:ea typeface="Roboto"/>
                <a:cs typeface="Roboto"/>
                <a:sym typeface="Roboto"/>
              </a:rPr>
              <a:t>Cross join</a:t>
            </a:r>
            <a:r>
              <a:rPr lang="en"/>
              <a:t>: </a:t>
            </a:r>
            <a:r>
              <a:rPr i="1" lang="en"/>
              <a:t>Every</a:t>
            </a:r>
            <a:r>
              <a:rPr lang="en"/>
              <a:t> combination of possible rows. Also called a cartesian product.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7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Inner Join: Cross Join With Filtering</a:t>
            </a:r>
            <a:endParaRPr/>
          </a:p>
        </p:txBody>
      </p:sp>
      <p:sp>
        <p:nvSpPr>
          <p:cNvPr id="712" name="Google Shape;712;p76"/>
          <p:cNvSpPr txBox="1"/>
          <p:nvPr>
            <p:ph idx="1" type="body"/>
          </p:nvPr>
        </p:nvSpPr>
        <p:spPr>
          <a:xfrm>
            <a:off x="0" y="440050"/>
            <a:ext cx="8914200" cy="704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Conceptually, you can imagine an inner join as a cross join filtered to include only matching rows.</a:t>
            </a:r>
            <a:endParaRPr/>
          </a:p>
        </p:txBody>
      </p:sp>
      <p:sp>
        <p:nvSpPr>
          <p:cNvPr id="713" name="Google Shape;713;p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14" name="Google Shape;714;p76"/>
          <p:cNvPicPr preferRelativeResize="0"/>
          <p:nvPr/>
        </p:nvPicPr>
        <p:blipFill>
          <a:blip r:embed="rId3">
            <a:alphaModFix/>
          </a:blip>
          <a:stretch>
            <a:fillRect/>
          </a:stretch>
        </p:blipFill>
        <p:spPr>
          <a:xfrm>
            <a:off x="2549825" y="1144150"/>
            <a:ext cx="1953416" cy="3648702"/>
          </a:xfrm>
          <a:prstGeom prst="rect">
            <a:avLst/>
          </a:prstGeom>
          <a:noFill/>
          <a:ln>
            <a:noFill/>
          </a:ln>
        </p:spPr>
      </p:pic>
      <p:sp>
        <p:nvSpPr>
          <p:cNvPr id="715" name="Google Shape;715;p76"/>
          <p:cNvSpPr txBox="1"/>
          <p:nvPr/>
        </p:nvSpPr>
        <p:spPr>
          <a:xfrm>
            <a:off x="114600" y="2074025"/>
            <a:ext cx="2624100" cy="8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SELECT *</a:t>
            </a:r>
            <a:endParaRPr sz="1600">
              <a:latin typeface="Consolas"/>
              <a:ea typeface="Consolas"/>
              <a:cs typeface="Consolas"/>
              <a:sym typeface="Consolas"/>
            </a:endParaRPr>
          </a:p>
          <a:p>
            <a:pPr indent="0" lvl="0" marL="0" rtl="0" algn="l">
              <a:spcBef>
                <a:spcPts val="0"/>
              </a:spcBef>
              <a:spcAft>
                <a:spcPts val="0"/>
              </a:spcAft>
              <a:buNone/>
            </a:pPr>
            <a:r>
              <a:rPr lang="en" sz="1600">
                <a:latin typeface="Consolas"/>
                <a:ea typeface="Consolas"/>
                <a:cs typeface="Consolas"/>
                <a:sym typeface="Consolas"/>
              </a:rPr>
              <a:t>FROM s CROSS JOIN t</a:t>
            </a:r>
            <a:endParaRPr sz="1600">
              <a:latin typeface="Consolas"/>
              <a:ea typeface="Consolas"/>
              <a:cs typeface="Consolas"/>
              <a:sym typeface="Consolas"/>
            </a:endParaRPr>
          </a:p>
          <a:p>
            <a:pPr indent="0" lvl="0" marL="0" rtl="0" algn="l">
              <a:spcBef>
                <a:spcPts val="0"/>
              </a:spcBef>
              <a:spcAft>
                <a:spcPts val="0"/>
              </a:spcAft>
              <a:buNone/>
            </a:pPr>
            <a:r>
              <a:rPr lang="en" sz="1600">
                <a:latin typeface="Consolas"/>
                <a:ea typeface="Consolas"/>
                <a:cs typeface="Consolas"/>
                <a:sym typeface="Consolas"/>
              </a:rPr>
              <a:t>WHERE s.id = t.id;</a:t>
            </a:r>
            <a:endParaRPr sz="1600">
              <a:latin typeface="Consolas"/>
              <a:ea typeface="Consolas"/>
              <a:cs typeface="Consolas"/>
              <a:sym typeface="Consolas"/>
            </a:endParaRPr>
          </a:p>
        </p:txBody>
      </p:sp>
      <p:pic>
        <p:nvPicPr>
          <p:cNvPr id="716" name="Google Shape;716;p76"/>
          <p:cNvPicPr preferRelativeResize="0"/>
          <p:nvPr/>
        </p:nvPicPr>
        <p:blipFill>
          <a:blip r:embed="rId4">
            <a:alphaModFix/>
          </a:blip>
          <a:stretch>
            <a:fillRect/>
          </a:stretch>
        </p:blipFill>
        <p:spPr>
          <a:xfrm>
            <a:off x="6052000" y="2074025"/>
            <a:ext cx="2468600" cy="1096400"/>
          </a:xfrm>
          <a:prstGeom prst="rect">
            <a:avLst/>
          </a:prstGeom>
          <a:noFill/>
          <a:ln>
            <a:noFill/>
          </a:ln>
        </p:spPr>
      </p:pic>
      <p:sp>
        <p:nvSpPr>
          <p:cNvPr id="717" name="Google Shape;717;p76"/>
          <p:cNvSpPr txBox="1"/>
          <p:nvPr/>
        </p:nvSpPr>
        <p:spPr>
          <a:xfrm>
            <a:off x="6110900" y="3337900"/>
            <a:ext cx="2624100" cy="8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SELECT *</a:t>
            </a:r>
            <a:endParaRPr sz="1600">
              <a:latin typeface="Consolas"/>
              <a:ea typeface="Consolas"/>
              <a:cs typeface="Consolas"/>
              <a:sym typeface="Consolas"/>
            </a:endParaRPr>
          </a:p>
          <a:p>
            <a:pPr indent="0" lvl="0" marL="0" rtl="0" algn="l">
              <a:spcBef>
                <a:spcPts val="0"/>
              </a:spcBef>
              <a:spcAft>
                <a:spcPts val="0"/>
              </a:spcAft>
              <a:buNone/>
            </a:pPr>
            <a:r>
              <a:rPr lang="en" sz="1600">
                <a:latin typeface="Consolas"/>
                <a:ea typeface="Consolas"/>
                <a:cs typeface="Consolas"/>
                <a:sym typeface="Consolas"/>
              </a:rPr>
              <a:t>FROM s INNER JOIN t</a:t>
            </a:r>
            <a:endParaRPr sz="1600">
              <a:latin typeface="Consolas"/>
              <a:ea typeface="Consolas"/>
              <a:cs typeface="Consolas"/>
              <a:sym typeface="Consolas"/>
            </a:endParaRPr>
          </a:p>
          <a:p>
            <a:pPr indent="0" lvl="0" marL="0" rtl="0" algn="l">
              <a:spcBef>
                <a:spcPts val="0"/>
              </a:spcBef>
              <a:spcAft>
                <a:spcPts val="0"/>
              </a:spcAft>
              <a:buNone/>
            </a:pPr>
            <a:r>
              <a:rPr lang="en" sz="1600">
                <a:latin typeface="Consolas"/>
                <a:ea typeface="Consolas"/>
                <a:cs typeface="Consolas"/>
                <a:sym typeface="Consolas"/>
              </a:rPr>
              <a:t>ON s.id = t.id;</a:t>
            </a:r>
            <a:endParaRPr sz="1600">
              <a:latin typeface="Consolas"/>
              <a:ea typeface="Consolas"/>
              <a:cs typeface="Consolas"/>
              <a:sym typeface="Consolas"/>
            </a:endParaRPr>
          </a:p>
        </p:txBody>
      </p:sp>
      <p:sp>
        <p:nvSpPr>
          <p:cNvPr id="718" name="Google Shape;718;p76"/>
          <p:cNvSpPr txBox="1"/>
          <p:nvPr/>
        </p:nvSpPr>
        <p:spPr>
          <a:xfrm>
            <a:off x="4781575" y="2154100"/>
            <a:ext cx="992100" cy="5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Light"/>
                <a:ea typeface="Roboto Light"/>
                <a:cs typeface="Roboto Light"/>
                <a:sym typeface="Roboto Light"/>
              </a:rPr>
              <a:t>Equivalent</a:t>
            </a:r>
            <a:endParaRPr>
              <a:latin typeface="Roboto Light"/>
              <a:ea typeface="Roboto Light"/>
              <a:cs typeface="Roboto Light"/>
              <a:sym typeface="Roboto Light"/>
            </a:endParaRPr>
          </a:p>
        </p:txBody>
      </p:sp>
      <p:cxnSp>
        <p:nvCxnSpPr>
          <p:cNvPr id="719" name="Google Shape;719;p76"/>
          <p:cNvCxnSpPr/>
          <p:nvPr/>
        </p:nvCxnSpPr>
        <p:spPr>
          <a:xfrm>
            <a:off x="4686575" y="2715700"/>
            <a:ext cx="1146000" cy="0"/>
          </a:xfrm>
          <a:prstGeom prst="straightConnector1">
            <a:avLst/>
          </a:prstGeom>
          <a:noFill/>
          <a:ln cap="flat" cmpd="sng" w="38100">
            <a:solidFill>
              <a:schemeClr val="dk2"/>
            </a:solidFill>
            <a:prstDash val="solid"/>
            <a:round/>
            <a:headEnd len="med" w="med" type="triangle"/>
            <a:tailEnd len="med" w="med" type="triangle"/>
          </a:ln>
        </p:spPr>
      </p:cxnSp>
      <p:cxnSp>
        <p:nvCxnSpPr>
          <p:cNvPr id="720" name="Google Shape;720;p76"/>
          <p:cNvCxnSpPr/>
          <p:nvPr/>
        </p:nvCxnSpPr>
        <p:spPr>
          <a:xfrm>
            <a:off x="2624025" y="1455250"/>
            <a:ext cx="1787700" cy="0"/>
          </a:xfrm>
          <a:prstGeom prst="straightConnector1">
            <a:avLst/>
          </a:prstGeom>
          <a:noFill/>
          <a:ln cap="flat" cmpd="sng" w="38100">
            <a:solidFill>
              <a:schemeClr val="dk1"/>
            </a:solidFill>
            <a:prstDash val="solid"/>
            <a:round/>
            <a:headEnd len="med" w="med" type="none"/>
            <a:tailEnd len="med" w="med" type="none"/>
          </a:ln>
        </p:spPr>
      </p:cxnSp>
      <p:cxnSp>
        <p:nvCxnSpPr>
          <p:cNvPr id="721" name="Google Shape;721;p76"/>
          <p:cNvCxnSpPr/>
          <p:nvPr/>
        </p:nvCxnSpPr>
        <p:spPr>
          <a:xfrm>
            <a:off x="2624025" y="1653475"/>
            <a:ext cx="1787700" cy="0"/>
          </a:xfrm>
          <a:prstGeom prst="straightConnector1">
            <a:avLst/>
          </a:prstGeom>
          <a:noFill/>
          <a:ln cap="flat" cmpd="sng" w="38100">
            <a:solidFill>
              <a:schemeClr val="dk1"/>
            </a:solidFill>
            <a:prstDash val="solid"/>
            <a:round/>
            <a:headEnd len="med" w="med" type="none"/>
            <a:tailEnd len="med" w="med" type="none"/>
          </a:ln>
        </p:spPr>
      </p:cxnSp>
      <p:cxnSp>
        <p:nvCxnSpPr>
          <p:cNvPr id="722" name="Google Shape;722;p76"/>
          <p:cNvCxnSpPr/>
          <p:nvPr/>
        </p:nvCxnSpPr>
        <p:spPr>
          <a:xfrm>
            <a:off x="2624025" y="1886075"/>
            <a:ext cx="1787700" cy="0"/>
          </a:xfrm>
          <a:prstGeom prst="straightConnector1">
            <a:avLst/>
          </a:prstGeom>
          <a:noFill/>
          <a:ln cap="flat" cmpd="sng" w="38100">
            <a:solidFill>
              <a:schemeClr val="dk1"/>
            </a:solidFill>
            <a:prstDash val="solid"/>
            <a:round/>
            <a:headEnd len="med" w="med" type="none"/>
            <a:tailEnd len="med" w="med" type="none"/>
          </a:ln>
        </p:spPr>
      </p:cxnSp>
      <p:cxnSp>
        <p:nvCxnSpPr>
          <p:cNvPr id="723" name="Google Shape;723;p76"/>
          <p:cNvCxnSpPr/>
          <p:nvPr/>
        </p:nvCxnSpPr>
        <p:spPr>
          <a:xfrm>
            <a:off x="2624025" y="2074025"/>
            <a:ext cx="1787700" cy="0"/>
          </a:xfrm>
          <a:prstGeom prst="straightConnector1">
            <a:avLst/>
          </a:prstGeom>
          <a:noFill/>
          <a:ln cap="flat" cmpd="sng" w="38100">
            <a:solidFill>
              <a:schemeClr val="dk1"/>
            </a:solidFill>
            <a:prstDash val="solid"/>
            <a:round/>
            <a:headEnd len="med" w="med" type="none"/>
            <a:tailEnd len="med" w="med" type="none"/>
          </a:ln>
        </p:spPr>
      </p:cxnSp>
      <p:cxnSp>
        <p:nvCxnSpPr>
          <p:cNvPr id="724" name="Google Shape;724;p76"/>
          <p:cNvCxnSpPr/>
          <p:nvPr/>
        </p:nvCxnSpPr>
        <p:spPr>
          <a:xfrm>
            <a:off x="2624025" y="2515175"/>
            <a:ext cx="1787700" cy="0"/>
          </a:xfrm>
          <a:prstGeom prst="straightConnector1">
            <a:avLst/>
          </a:prstGeom>
          <a:noFill/>
          <a:ln cap="flat" cmpd="sng" w="38100">
            <a:solidFill>
              <a:schemeClr val="dk1"/>
            </a:solidFill>
            <a:prstDash val="solid"/>
            <a:round/>
            <a:headEnd len="med" w="med" type="none"/>
            <a:tailEnd len="med" w="med" type="none"/>
          </a:ln>
        </p:spPr>
      </p:cxnSp>
      <p:cxnSp>
        <p:nvCxnSpPr>
          <p:cNvPr id="725" name="Google Shape;725;p76"/>
          <p:cNvCxnSpPr/>
          <p:nvPr/>
        </p:nvCxnSpPr>
        <p:spPr>
          <a:xfrm>
            <a:off x="2624025" y="2715700"/>
            <a:ext cx="1787700" cy="0"/>
          </a:xfrm>
          <a:prstGeom prst="straightConnector1">
            <a:avLst/>
          </a:prstGeom>
          <a:noFill/>
          <a:ln cap="flat" cmpd="sng" w="38100">
            <a:solidFill>
              <a:schemeClr val="dk1"/>
            </a:solidFill>
            <a:prstDash val="solid"/>
            <a:round/>
            <a:headEnd len="med" w="med" type="none"/>
            <a:tailEnd len="med" w="med" type="none"/>
          </a:ln>
        </p:spPr>
      </p:cxnSp>
      <p:cxnSp>
        <p:nvCxnSpPr>
          <p:cNvPr id="726" name="Google Shape;726;p76"/>
          <p:cNvCxnSpPr/>
          <p:nvPr/>
        </p:nvCxnSpPr>
        <p:spPr>
          <a:xfrm>
            <a:off x="2632688" y="2896750"/>
            <a:ext cx="1787700" cy="0"/>
          </a:xfrm>
          <a:prstGeom prst="straightConnector1">
            <a:avLst/>
          </a:prstGeom>
          <a:noFill/>
          <a:ln cap="flat" cmpd="sng" w="38100">
            <a:solidFill>
              <a:schemeClr val="dk1"/>
            </a:solidFill>
            <a:prstDash val="solid"/>
            <a:round/>
            <a:headEnd len="med" w="med" type="none"/>
            <a:tailEnd len="med" w="med" type="none"/>
          </a:ln>
        </p:spPr>
      </p:cxnSp>
      <p:cxnSp>
        <p:nvCxnSpPr>
          <p:cNvPr id="727" name="Google Shape;727;p76"/>
          <p:cNvCxnSpPr/>
          <p:nvPr/>
        </p:nvCxnSpPr>
        <p:spPr>
          <a:xfrm>
            <a:off x="2624025" y="3106450"/>
            <a:ext cx="1787700" cy="0"/>
          </a:xfrm>
          <a:prstGeom prst="straightConnector1">
            <a:avLst/>
          </a:prstGeom>
          <a:noFill/>
          <a:ln cap="flat" cmpd="sng" w="38100">
            <a:solidFill>
              <a:schemeClr val="dk1"/>
            </a:solidFill>
            <a:prstDash val="solid"/>
            <a:round/>
            <a:headEnd len="med" w="med" type="none"/>
            <a:tailEnd len="med" w="med" type="none"/>
          </a:ln>
        </p:spPr>
      </p:cxnSp>
      <p:cxnSp>
        <p:nvCxnSpPr>
          <p:cNvPr id="728" name="Google Shape;728;p76"/>
          <p:cNvCxnSpPr/>
          <p:nvPr/>
        </p:nvCxnSpPr>
        <p:spPr>
          <a:xfrm>
            <a:off x="2632688" y="3533850"/>
            <a:ext cx="1787700" cy="0"/>
          </a:xfrm>
          <a:prstGeom prst="straightConnector1">
            <a:avLst/>
          </a:prstGeom>
          <a:noFill/>
          <a:ln cap="flat" cmpd="sng" w="38100">
            <a:solidFill>
              <a:schemeClr val="dk1"/>
            </a:solidFill>
            <a:prstDash val="solid"/>
            <a:round/>
            <a:headEnd len="med" w="med" type="none"/>
            <a:tailEnd len="med" w="med" type="none"/>
          </a:ln>
        </p:spPr>
      </p:cxnSp>
      <p:cxnSp>
        <p:nvCxnSpPr>
          <p:cNvPr id="729" name="Google Shape;729;p76"/>
          <p:cNvCxnSpPr/>
          <p:nvPr/>
        </p:nvCxnSpPr>
        <p:spPr>
          <a:xfrm>
            <a:off x="2632700" y="3725775"/>
            <a:ext cx="1787700" cy="0"/>
          </a:xfrm>
          <a:prstGeom prst="straightConnector1">
            <a:avLst/>
          </a:prstGeom>
          <a:noFill/>
          <a:ln cap="flat" cmpd="sng" w="38100">
            <a:solidFill>
              <a:schemeClr val="dk1"/>
            </a:solidFill>
            <a:prstDash val="solid"/>
            <a:round/>
            <a:headEnd len="med" w="med" type="none"/>
            <a:tailEnd len="med" w="med" type="none"/>
          </a:ln>
        </p:spPr>
      </p:cxnSp>
      <p:cxnSp>
        <p:nvCxnSpPr>
          <p:cNvPr id="730" name="Google Shape;730;p76"/>
          <p:cNvCxnSpPr/>
          <p:nvPr/>
        </p:nvCxnSpPr>
        <p:spPr>
          <a:xfrm>
            <a:off x="2624025" y="3918850"/>
            <a:ext cx="1787700" cy="0"/>
          </a:xfrm>
          <a:prstGeom prst="straightConnector1">
            <a:avLst/>
          </a:prstGeom>
          <a:noFill/>
          <a:ln cap="flat" cmpd="sng" w="38100">
            <a:solidFill>
              <a:schemeClr val="dk1"/>
            </a:solidFill>
            <a:prstDash val="solid"/>
            <a:round/>
            <a:headEnd len="med" w="med" type="none"/>
            <a:tailEnd len="med" w="med" type="none"/>
          </a:ln>
        </p:spPr>
      </p:cxnSp>
      <p:cxnSp>
        <p:nvCxnSpPr>
          <p:cNvPr id="731" name="Google Shape;731;p76"/>
          <p:cNvCxnSpPr/>
          <p:nvPr/>
        </p:nvCxnSpPr>
        <p:spPr>
          <a:xfrm>
            <a:off x="2624025" y="4151475"/>
            <a:ext cx="1787700" cy="0"/>
          </a:xfrm>
          <a:prstGeom prst="straightConnector1">
            <a:avLst/>
          </a:prstGeom>
          <a:noFill/>
          <a:ln cap="flat" cmpd="sng" w="38100">
            <a:solidFill>
              <a:schemeClr val="dk1"/>
            </a:solidFill>
            <a:prstDash val="solid"/>
            <a:round/>
            <a:headEnd len="med" w="med" type="none"/>
            <a:tailEnd len="med" w="med" type="none"/>
          </a:ln>
        </p:spPr>
      </p:cxnSp>
      <p:cxnSp>
        <p:nvCxnSpPr>
          <p:cNvPr id="732" name="Google Shape;732;p76"/>
          <p:cNvCxnSpPr/>
          <p:nvPr/>
        </p:nvCxnSpPr>
        <p:spPr>
          <a:xfrm>
            <a:off x="2632700" y="4555975"/>
            <a:ext cx="1787700" cy="0"/>
          </a:xfrm>
          <a:prstGeom prst="straightConnector1">
            <a:avLst/>
          </a:prstGeom>
          <a:noFill/>
          <a:ln cap="flat" cmpd="sng" w="38100">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7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Left Outer Join</a:t>
            </a:r>
            <a:endParaRPr/>
          </a:p>
        </p:txBody>
      </p:sp>
      <p:sp>
        <p:nvSpPr>
          <p:cNvPr id="738" name="Google Shape;738;p77"/>
          <p:cNvSpPr txBox="1"/>
          <p:nvPr>
            <p:ph idx="1" type="body"/>
          </p:nvPr>
        </p:nvSpPr>
        <p:spPr>
          <a:xfrm>
            <a:off x="107050" y="402200"/>
            <a:ext cx="8520600" cy="869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a </a:t>
            </a:r>
            <a:r>
              <a:rPr b="1" lang="en">
                <a:latin typeface="Roboto"/>
                <a:ea typeface="Roboto"/>
                <a:cs typeface="Roboto"/>
                <a:sym typeface="Roboto"/>
              </a:rPr>
              <a:t>left outer join </a:t>
            </a:r>
            <a:r>
              <a:rPr lang="en"/>
              <a:t>(or just </a:t>
            </a:r>
            <a:r>
              <a:rPr b="1" lang="en">
                <a:latin typeface="Roboto"/>
                <a:ea typeface="Roboto"/>
                <a:cs typeface="Roboto"/>
                <a:sym typeface="Roboto"/>
              </a:rPr>
              <a:t>left join</a:t>
            </a:r>
            <a:r>
              <a:rPr lang="en"/>
              <a:t>), keep all rows from the left table and </a:t>
            </a:r>
            <a:r>
              <a:rPr i="1" lang="en"/>
              <a:t>only matching</a:t>
            </a:r>
            <a:r>
              <a:rPr lang="en"/>
              <a:t> rows from the right table. Fill NULL for any missing values. </a:t>
            </a:r>
            <a:endParaRPr/>
          </a:p>
        </p:txBody>
      </p:sp>
      <p:sp>
        <p:nvSpPr>
          <p:cNvPr id="739" name="Google Shape;739;p7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40" name="Google Shape;740;p77"/>
          <p:cNvPicPr preferRelativeResize="0"/>
          <p:nvPr/>
        </p:nvPicPr>
        <p:blipFill rotWithShape="1">
          <a:blip r:embed="rId3">
            <a:alphaModFix/>
          </a:blip>
          <a:srcRect b="0" l="0" r="55797" t="0"/>
          <a:stretch/>
        </p:blipFill>
        <p:spPr>
          <a:xfrm>
            <a:off x="0" y="1482375"/>
            <a:ext cx="1858350" cy="1867050"/>
          </a:xfrm>
          <a:prstGeom prst="rect">
            <a:avLst/>
          </a:prstGeom>
          <a:noFill/>
          <a:ln>
            <a:noFill/>
          </a:ln>
        </p:spPr>
      </p:pic>
      <p:cxnSp>
        <p:nvCxnSpPr>
          <p:cNvPr id="741" name="Google Shape;741;p77"/>
          <p:cNvCxnSpPr/>
          <p:nvPr/>
        </p:nvCxnSpPr>
        <p:spPr>
          <a:xfrm flipH="1" rot="10800000">
            <a:off x="1662625" y="1994825"/>
            <a:ext cx="712800" cy="186900"/>
          </a:xfrm>
          <a:prstGeom prst="straightConnector1">
            <a:avLst/>
          </a:prstGeom>
          <a:noFill/>
          <a:ln cap="flat" cmpd="sng" w="28575">
            <a:solidFill>
              <a:srgbClr val="E6ADBB"/>
            </a:solidFill>
            <a:prstDash val="solid"/>
            <a:round/>
            <a:headEnd len="med" w="med" type="none"/>
            <a:tailEnd len="med" w="med" type="none"/>
          </a:ln>
        </p:spPr>
      </p:cxnSp>
      <p:cxnSp>
        <p:nvCxnSpPr>
          <p:cNvPr id="742" name="Google Shape;742;p77"/>
          <p:cNvCxnSpPr/>
          <p:nvPr/>
        </p:nvCxnSpPr>
        <p:spPr>
          <a:xfrm flipH="1" rot="10800000">
            <a:off x="1604200" y="2181800"/>
            <a:ext cx="1122900" cy="309300"/>
          </a:xfrm>
          <a:prstGeom prst="straightConnector1">
            <a:avLst/>
          </a:prstGeom>
          <a:noFill/>
          <a:ln cap="flat" cmpd="sng" w="28575">
            <a:solidFill>
              <a:srgbClr val="9CDBBD"/>
            </a:solidFill>
            <a:prstDash val="solid"/>
            <a:round/>
            <a:headEnd len="med" w="med" type="none"/>
            <a:tailEnd len="med" w="med" type="none"/>
          </a:ln>
        </p:spPr>
      </p:cxnSp>
      <p:cxnSp>
        <p:nvCxnSpPr>
          <p:cNvPr id="743" name="Google Shape;743;p77"/>
          <p:cNvCxnSpPr/>
          <p:nvPr/>
        </p:nvCxnSpPr>
        <p:spPr>
          <a:xfrm flipH="1" rot="10800000">
            <a:off x="1707350" y="2483100"/>
            <a:ext cx="973800" cy="260100"/>
          </a:xfrm>
          <a:prstGeom prst="straightConnector1">
            <a:avLst/>
          </a:prstGeom>
          <a:noFill/>
          <a:ln cap="flat" cmpd="sng" w="28575">
            <a:solidFill>
              <a:srgbClr val="8BD3F8"/>
            </a:solidFill>
            <a:prstDash val="solid"/>
            <a:round/>
            <a:headEnd len="med" w="med" type="none"/>
            <a:tailEnd len="med" w="med" type="none"/>
          </a:ln>
        </p:spPr>
      </p:cxnSp>
      <p:cxnSp>
        <p:nvCxnSpPr>
          <p:cNvPr id="744" name="Google Shape;744;p77"/>
          <p:cNvCxnSpPr/>
          <p:nvPr/>
        </p:nvCxnSpPr>
        <p:spPr>
          <a:xfrm flipH="1" rot="10800000">
            <a:off x="1647825" y="2743350"/>
            <a:ext cx="1113600" cy="300000"/>
          </a:xfrm>
          <a:prstGeom prst="straightConnector1">
            <a:avLst/>
          </a:prstGeom>
          <a:noFill/>
          <a:ln cap="flat" cmpd="sng" w="28575">
            <a:solidFill>
              <a:srgbClr val="DDBEEF"/>
            </a:solidFill>
            <a:prstDash val="solid"/>
            <a:round/>
            <a:headEnd len="med" w="med" type="none"/>
            <a:tailEnd len="med" w="med" type="none"/>
          </a:ln>
        </p:spPr>
      </p:cxnSp>
      <p:pic>
        <p:nvPicPr>
          <p:cNvPr id="745" name="Google Shape;745;p77"/>
          <p:cNvPicPr preferRelativeResize="0"/>
          <p:nvPr/>
        </p:nvPicPr>
        <p:blipFill rotWithShape="1">
          <a:blip r:embed="rId3">
            <a:alphaModFix/>
          </a:blip>
          <a:srcRect b="0" l="60003" r="0" t="0"/>
          <a:stretch/>
        </p:blipFill>
        <p:spPr>
          <a:xfrm>
            <a:off x="2681137" y="1464050"/>
            <a:ext cx="1714476" cy="1903700"/>
          </a:xfrm>
          <a:prstGeom prst="rect">
            <a:avLst/>
          </a:prstGeom>
          <a:noFill/>
          <a:ln>
            <a:noFill/>
          </a:ln>
        </p:spPr>
      </p:pic>
      <p:pic>
        <p:nvPicPr>
          <p:cNvPr id="746" name="Google Shape;746;p77"/>
          <p:cNvPicPr preferRelativeResize="0"/>
          <p:nvPr/>
        </p:nvPicPr>
        <p:blipFill>
          <a:blip r:embed="rId4">
            <a:alphaModFix/>
          </a:blip>
          <a:stretch>
            <a:fillRect/>
          </a:stretch>
        </p:blipFill>
        <p:spPr>
          <a:xfrm>
            <a:off x="6210575" y="1773799"/>
            <a:ext cx="2661574" cy="1459250"/>
          </a:xfrm>
          <a:prstGeom prst="rect">
            <a:avLst/>
          </a:prstGeom>
          <a:noFill/>
          <a:ln>
            <a:noFill/>
          </a:ln>
        </p:spPr>
      </p:pic>
      <p:sp>
        <p:nvSpPr>
          <p:cNvPr id="747" name="Google Shape;747;p77"/>
          <p:cNvSpPr txBox="1"/>
          <p:nvPr/>
        </p:nvSpPr>
        <p:spPr>
          <a:xfrm>
            <a:off x="4311875" y="1895300"/>
            <a:ext cx="2311200" cy="8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Consolas"/>
                <a:ea typeface="Consolas"/>
                <a:cs typeface="Consolas"/>
                <a:sym typeface="Consolas"/>
              </a:rPr>
              <a:t>SELECT *</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FROM s LEFT JOIN t</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ON s.id = t.id;</a:t>
            </a:r>
            <a:endParaRPr sz="1300">
              <a:latin typeface="Consolas"/>
              <a:ea typeface="Consolas"/>
              <a:cs typeface="Consolas"/>
              <a:sym typeface="Consolas"/>
            </a:endParaRPr>
          </a:p>
        </p:txBody>
      </p:sp>
      <p:pic>
        <p:nvPicPr>
          <p:cNvPr id="748" name="Google Shape;748;p77"/>
          <p:cNvPicPr preferRelativeResize="0"/>
          <p:nvPr/>
        </p:nvPicPr>
        <p:blipFill>
          <a:blip r:embed="rId5">
            <a:alphaModFix/>
          </a:blip>
          <a:stretch>
            <a:fillRect/>
          </a:stretch>
        </p:blipFill>
        <p:spPr>
          <a:xfrm>
            <a:off x="4624797" y="2743208"/>
            <a:ext cx="1113600" cy="222720"/>
          </a:xfrm>
          <a:prstGeom prst="rect">
            <a:avLst/>
          </a:prstGeom>
          <a:noFill/>
          <a:ln>
            <a:noFill/>
          </a:ln>
        </p:spPr>
      </p:pic>
      <p:sp>
        <p:nvSpPr>
          <p:cNvPr id="749" name="Google Shape;749;p77"/>
          <p:cNvSpPr txBox="1"/>
          <p:nvPr/>
        </p:nvSpPr>
        <p:spPr>
          <a:xfrm>
            <a:off x="878850" y="3980750"/>
            <a:ext cx="3879900" cy="7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Roboto Light"/>
                <a:ea typeface="Roboto Light"/>
                <a:cs typeface="Roboto Light"/>
                <a:sym typeface="Roboto Light"/>
              </a:rPr>
              <a:t>The “left table” is whichever table is referenced first in the JOIN statement.</a:t>
            </a:r>
            <a:endParaRPr sz="1600">
              <a:latin typeface="Roboto Light"/>
              <a:ea typeface="Roboto Light"/>
              <a:cs typeface="Roboto Light"/>
              <a:sym typeface="Roboto Light"/>
            </a:endParaRPr>
          </a:p>
        </p:txBody>
      </p:sp>
      <p:cxnSp>
        <p:nvCxnSpPr>
          <p:cNvPr id="750" name="Google Shape;750;p77"/>
          <p:cNvCxnSpPr/>
          <p:nvPr/>
        </p:nvCxnSpPr>
        <p:spPr>
          <a:xfrm flipH="1" rot="5400000">
            <a:off x="773400" y="3436400"/>
            <a:ext cx="699000" cy="389700"/>
          </a:xfrm>
          <a:prstGeom prst="curvedConnector3">
            <a:avLst>
              <a:gd fmla="val 50000" name="adj1"/>
            </a:avLst>
          </a:prstGeom>
          <a:noFill/>
          <a:ln cap="flat" cmpd="sng" w="28575">
            <a:solidFill>
              <a:schemeClr val="dk2"/>
            </a:solidFill>
            <a:prstDash val="solid"/>
            <a:round/>
            <a:headEnd len="med" w="med" type="none"/>
            <a:tailEnd len="med" w="med" type="triangle"/>
          </a:ln>
        </p:spPr>
      </p:cxnSp>
      <p:sp>
        <p:nvSpPr>
          <p:cNvPr id="751" name="Google Shape;751;p77"/>
          <p:cNvSpPr txBox="1"/>
          <p:nvPr/>
        </p:nvSpPr>
        <p:spPr>
          <a:xfrm>
            <a:off x="6210563" y="3370038"/>
            <a:ext cx="2661600" cy="69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Roboto Light"/>
                <a:ea typeface="Roboto Light"/>
                <a:cs typeface="Roboto Light"/>
                <a:sym typeface="Roboto Light"/>
              </a:rPr>
              <a:t>Fill values without matching entries in the right table with NULL</a:t>
            </a:r>
            <a:endParaRPr sz="1600">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7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Right Outer Join</a:t>
            </a:r>
            <a:endParaRPr/>
          </a:p>
        </p:txBody>
      </p:sp>
      <p:sp>
        <p:nvSpPr>
          <p:cNvPr id="757" name="Google Shape;757;p78"/>
          <p:cNvSpPr txBox="1"/>
          <p:nvPr>
            <p:ph idx="1" type="body"/>
          </p:nvPr>
        </p:nvSpPr>
        <p:spPr>
          <a:xfrm>
            <a:off x="107050" y="402200"/>
            <a:ext cx="8520600" cy="7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In a </a:t>
            </a:r>
            <a:r>
              <a:rPr b="1" lang="en">
                <a:latin typeface="Roboto"/>
                <a:ea typeface="Roboto"/>
                <a:cs typeface="Roboto"/>
                <a:sym typeface="Roboto"/>
              </a:rPr>
              <a:t>right outer join </a:t>
            </a:r>
            <a:r>
              <a:rPr lang="en"/>
              <a:t>(or just </a:t>
            </a:r>
            <a:r>
              <a:rPr b="1" lang="en">
                <a:latin typeface="Roboto"/>
                <a:ea typeface="Roboto"/>
                <a:cs typeface="Roboto"/>
                <a:sym typeface="Roboto"/>
              </a:rPr>
              <a:t>right join</a:t>
            </a:r>
            <a:r>
              <a:rPr lang="en"/>
              <a:t>), keep all rows from the right table and </a:t>
            </a:r>
            <a:r>
              <a:rPr i="1" lang="en"/>
              <a:t>only matching</a:t>
            </a:r>
            <a:r>
              <a:rPr lang="en"/>
              <a:t> rows from the left table. Fill NULL for any missing values. </a:t>
            </a:r>
            <a:endParaRPr/>
          </a:p>
        </p:txBody>
      </p:sp>
      <p:sp>
        <p:nvSpPr>
          <p:cNvPr id="758" name="Google Shape;758;p7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59" name="Google Shape;759;p78"/>
          <p:cNvPicPr preferRelativeResize="0"/>
          <p:nvPr/>
        </p:nvPicPr>
        <p:blipFill rotWithShape="1">
          <a:blip r:embed="rId3">
            <a:alphaModFix/>
          </a:blip>
          <a:srcRect b="0" l="0" r="55797" t="0"/>
          <a:stretch/>
        </p:blipFill>
        <p:spPr>
          <a:xfrm>
            <a:off x="0" y="1482375"/>
            <a:ext cx="1858350" cy="1867050"/>
          </a:xfrm>
          <a:prstGeom prst="rect">
            <a:avLst/>
          </a:prstGeom>
          <a:noFill/>
          <a:ln>
            <a:noFill/>
          </a:ln>
        </p:spPr>
      </p:pic>
      <p:cxnSp>
        <p:nvCxnSpPr>
          <p:cNvPr id="760" name="Google Shape;760;p78"/>
          <p:cNvCxnSpPr/>
          <p:nvPr/>
        </p:nvCxnSpPr>
        <p:spPr>
          <a:xfrm flipH="1" rot="10800000">
            <a:off x="1968325" y="3043350"/>
            <a:ext cx="712800" cy="186900"/>
          </a:xfrm>
          <a:prstGeom prst="straightConnector1">
            <a:avLst/>
          </a:prstGeom>
          <a:noFill/>
          <a:ln cap="flat" cmpd="sng" w="28575">
            <a:solidFill>
              <a:srgbClr val="F1D696"/>
            </a:solidFill>
            <a:prstDash val="solid"/>
            <a:round/>
            <a:headEnd len="med" w="med" type="none"/>
            <a:tailEnd len="med" w="med" type="none"/>
          </a:ln>
        </p:spPr>
      </p:cxnSp>
      <p:cxnSp>
        <p:nvCxnSpPr>
          <p:cNvPr id="761" name="Google Shape;761;p78"/>
          <p:cNvCxnSpPr/>
          <p:nvPr/>
        </p:nvCxnSpPr>
        <p:spPr>
          <a:xfrm flipH="1" rot="10800000">
            <a:off x="1604200" y="2181800"/>
            <a:ext cx="1122900" cy="309300"/>
          </a:xfrm>
          <a:prstGeom prst="straightConnector1">
            <a:avLst/>
          </a:prstGeom>
          <a:noFill/>
          <a:ln cap="flat" cmpd="sng" w="28575">
            <a:solidFill>
              <a:srgbClr val="9CDBBD"/>
            </a:solidFill>
            <a:prstDash val="solid"/>
            <a:round/>
            <a:headEnd len="med" w="med" type="none"/>
            <a:tailEnd len="med" w="med" type="none"/>
          </a:ln>
        </p:spPr>
      </p:cxnSp>
      <p:cxnSp>
        <p:nvCxnSpPr>
          <p:cNvPr id="762" name="Google Shape;762;p78"/>
          <p:cNvCxnSpPr/>
          <p:nvPr/>
        </p:nvCxnSpPr>
        <p:spPr>
          <a:xfrm flipH="1" rot="10800000">
            <a:off x="1707350" y="2483100"/>
            <a:ext cx="973800" cy="260100"/>
          </a:xfrm>
          <a:prstGeom prst="straightConnector1">
            <a:avLst/>
          </a:prstGeom>
          <a:noFill/>
          <a:ln cap="flat" cmpd="sng" w="28575">
            <a:solidFill>
              <a:srgbClr val="8BD3F8"/>
            </a:solidFill>
            <a:prstDash val="solid"/>
            <a:round/>
            <a:headEnd len="med" w="med" type="none"/>
            <a:tailEnd len="med" w="med" type="none"/>
          </a:ln>
        </p:spPr>
      </p:cxnSp>
      <p:cxnSp>
        <p:nvCxnSpPr>
          <p:cNvPr id="763" name="Google Shape;763;p78"/>
          <p:cNvCxnSpPr/>
          <p:nvPr/>
        </p:nvCxnSpPr>
        <p:spPr>
          <a:xfrm flipH="1" rot="10800000">
            <a:off x="1647825" y="2743350"/>
            <a:ext cx="1113600" cy="300000"/>
          </a:xfrm>
          <a:prstGeom prst="straightConnector1">
            <a:avLst/>
          </a:prstGeom>
          <a:noFill/>
          <a:ln cap="flat" cmpd="sng" w="28575">
            <a:solidFill>
              <a:srgbClr val="DDBEEF"/>
            </a:solidFill>
            <a:prstDash val="solid"/>
            <a:round/>
            <a:headEnd len="med" w="med" type="none"/>
            <a:tailEnd len="med" w="med" type="none"/>
          </a:ln>
        </p:spPr>
      </p:cxnSp>
      <p:pic>
        <p:nvPicPr>
          <p:cNvPr id="764" name="Google Shape;764;p78"/>
          <p:cNvPicPr preferRelativeResize="0"/>
          <p:nvPr/>
        </p:nvPicPr>
        <p:blipFill rotWithShape="1">
          <a:blip r:embed="rId3">
            <a:alphaModFix/>
          </a:blip>
          <a:srcRect b="0" l="60003" r="0" t="0"/>
          <a:stretch/>
        </p:blipFill>
        <p:spPr>
          <a:xfrm>
            <a:off x="2681137" y="1464050"/>
            <a:ext cx="1714476" cy="1903700"/>
          </a:xfrm>
          <a:prstGeom prst="rect">
            <a:avLst/>
          </a:prstGeom>
          <a:noFill/>
          <a:ln>
            <a:noFill/>
          </a:ln>
        </p:spPr>
      </p:pic>
      <p:sp>
        <p:nvSpPr>
          <p:cNvPr id="765" name="Google Shape;765;p78"/>
          <p:cNvSpPr txBox="1"/>
          <p:nvPr/>
        </p:nvSpPr>
        <p:spPr>
          <a:xfrm>
            <a:off x="4311875" y="1895300"/>
            <a:ext cx="2311200" cy="8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Consolas"/>
                <a:ea typeface="Consolas"/>
                <a:cs typeface="Consolas"/>
                <a:sym typeface="Consolas"/>
              </a:rPr>
              <a:t>SELECT *</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FROM s RIGHT JOIN t</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ON s.id = t.id;</a:t>
            </a:r>
            <a:endParaRPr sz="1300">
              <a:latin typeface="Consolas"/>
              <a:ea typeface="Consolas"/>
              <a:cs typeface="Consolas"/>
              <a:sym typeface="Consolas"/>
            </a:endParaRPr>
          </a:p>
        </p:txBody>
      </p:sp>
      <p:pic>
        <p:nvPicPr>
          <p:cNvPr id="766" name="Google Shape;766;p78"/>
          <p:cNvPicPr preferRelativeResize="0"/>
          <p:nvPr/>
        </p:nvPicPr>
        <p:blipFill>
          <a:blip r:embed="rId4">
            <a:alphaModFix/>
          </a:blip>
          <a:stretch>
            <a:fillRect/>
          </a:stretch>
        </p:blipFill>
        <p:spPr>
          <a:xfrm>
            <a:off x="4624797" y="2743208"/>
            <a:ext cx="1113600" cy="222720"/>
          </a:xfrm>
          <a:prstGeom prst="rect">
            <a:avLst/>
          </a:prstGeom>
          <a:noFill/>
          <a:ln>
            <a:noFill/>
          </a:ln>
        </p:spPr>
      </p:pic>
      <p:sp>
        <p:nvSpPr>
          <p:cNvPr id="767" name="Google Shape;767;p78"/>
          <p:cNvSpPr txBox="1"/>
          <p:nvPr/>
        </p:nvSpPr>
        <p:spPr>
          <a:xfrm>
            <a:off x="878850" y="3980750"/>
            <a:ext cx="3879900" cy="7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Roboto Light"/>
                <a:ea typeface="Roboto Light"/>
                <a:cs typeface="Roboto Light"/>
                <a:sym typeface="Roboto Light"/>
              </a:rPr>
              <a:t>The “right table” is whichever table is referenced second in the JOIN statement.</a:t>
            </a:r>
            <a:endParaRPr sz="1600">
              <a:latin typeface="Roboto Light"/>
              <a:ea typeface="Roboto Light"/>
              <a:cs typeface="Roboto Light"/>
              <a:sym typeface="Roboto Light"/>
            </a:endParaRPr>
          </a:p>
        </p:txBody>
      </p:sp>
      <p:cxnSp>
        <p:nvCxnSpPr>
          <p:cNvPr id="768" name="Google Shape;768;p78"/>
          <p:cNvCxnSpPr/>
          <p:nvPr/>
        </p:nvCxnSpPr>
        <p:spPr>
          <a:xfrm rot="-5400000">
            <a:off x="2962000" y="3448050"/>
            <a:ext cx="721800" cy="389400"/>
          </a:xfrm>
          <a:prstGeom prst="curvedConnector3">
            <a:avLst>
              <a:gd fmla="val 50000" name="adj1"/>
            </a:avLst>
          </a:prstGeom>
          <a:noFill/>
          <a:ln cap="flat" cmpd="sng" w="28575">
            <a:solidFill>
              <a:schemeClr val="dk2"/>
            </a:solidFill>
            <a:prstDash val="solid"/>
            <a:round/>
            <a:headEnd len="med" w="med" type="none"/>
            <a:tailEnd len="med" w="med" type="triangle"/>
          </a:ln>
        </p:spPr>
      </p:cxnSp>
      <p:pic>
        <p:nvPicPr>
          <p:cNvPr id="769" name="Google Shape;769;p78"/>
          <p:cNvPicPr preferRelativeResize="0"/>
          <p:nvPr/>
        </p:nvPicPr>
        <p:blipFill>
          <a:blip r:embed="rId5">
            <a:alphaModFix/>
          </a:blip>
          <a:stretch>
            <a:fillRect/>
          </a:stretch>
        </p:blipFill>
        <p:spPr>
          <a:xfrm>
            <a:off x="6335650" y="1810300"/>
            <a:ext cx="2685499" cy="14765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7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Outer Join</a:t>
            </a:r>
            <a:endParaRPr/>
          </a:p>
        </p:txBody>
      </p:sp>
      <p:sp>
        <p:nvSpPr>
          <p:cNvPr id="775" name="Google Shape;775;p79"/>
          <p:cNvSpPr txBox="1"/>
          <p:nvPr>
            <p:ph idx="1" type="body"/>
          </p:nvPr>
        </p:nvSpPr>
        <p:spPr>
          <a:xfrm>
            <a:off x="107050" y="402200"/>
            <a:ext cx="8520600" cy="720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a </a:t>
            </a:r>
            <a:r>
              <a:rPr b="1" lang="en">
                <a:latin typeface="Roboto"/>
                <a:ea typeface="Roboto"/>
                <a:cs typeface="Roboto"/>
                <a:sym typeface="Roboto"/>
              </a:rPr>
              <a:t>full outer join</a:t>
            </a:r>
            <a:r>
              <a:rPr lang="en"/>
              <a:t>, keep </a:t>
            </a:r>
            <a:r>
              <a:rPr i="1" lang="en"/>
              <a:t>all rows</a:t>
            </a:r>
            <a:r>
              <a:rPr lang="en"/>
              <a:t> from both the left and right tables. Pair any matching rows, then fill missing values with NULL. Conceptually similar to performing both left and right joins.</a:t>
            </a:r>
            <a:endParaRPr/>
          </a:p>
        </p:txBody>
      </p:sp>
      <p:sp>
        <p:nvSpPr>
          <p:cNvPr id="776" name="Google Shape;776;p7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77" name="Google Shape;777;p79"/>
          <p:cNvPicPr preferRelativeResize="0"/>
          <p:nvPr/>
        </p:nvPicPr>
        <p:blipFill rotWithShape="1">
          <a:blip r:embed="rId3">
            <a:alphaModFix/>
          </a:blip>
          <a:srcRect b="0" l="0" r="55797" t="0"/>
          <a:stretch/>
        </p:blipFill>
        <p:spPr>
          <a:xfrm>
            <a:off x="0" y="1482375"/>
            <a:ext cx="1858350" cy="1867050"/>
          </a:xfrm>
          <a:prstGeom prst="rect">
            <a:avLst/>
          </a:prstGeom>
          <a:noFill/>
          <a:ln>
            <a:noFill/>
          </a:ln>
        </p:spPr>
      </p:pic>
      <p:cxnSp>
        <p:nvCxnSpPr>
          <p:cNvPr id="778" name="Google Shape;778;p79"/>
          <p:cNvCxnSpPr/>
          <p:nvPr/>
        </p:nvCxnSpPr>
        <p:spPr>
          <a:xfrm flipH="1" rot="10800000">
            <a:off x="1968325" y="3043350"/>
            <a:ext cx="712800" cy="186900"/>
          </a:xfrm>
          <a:prstGeom prst="straightConnector1">
            <a:avLst/>
          </a:prstGeom>
          <a:noFill/>
          <a:ln cap="flat" cmpd="sng" w="28575">
            <a:solidFill>
              <a:srgbClr val="F1D696"/>
            </a:solidFill>
            <a:prstDash val="solid"/>
            <a:round/>
            <a:headEnd len="med" w="med" type="none"/>
            <a:tailEnd len="med" w="med" type="none"/>
          </a:ln>
        </p:spPr>
      </p:cxnSp>
      <p:cxnSp>
        <p:nvCxnSpPr>
          <p:cNvPr id="779" name="Google Shape;779;p79"/>
          <p:cNvCxnSpPr/>
          <p:nvPr/>
        </p:nvCxnSpPr>
        <p:spPr>
          <a:xfrm flipH="1" rot="10800000">
            <a:off x="1604200" y="2181800"/>
            <a:ext cx="1122900" cy="309300"/>
          </a:xfrm>
          <a:prstGeom prst="straightConnector1">
            <a:avLst/>
          </a:prstGeom>
          <a:noFill/>
          <a:ln cap="flat" cmpd="sng" w="28575">
            <a:solidFill>
              <a:srgbClr val="9CDBBD"/>
            </a:solidFill>
            <a:prstDash val="solid"/>
            <a:round/>
            <a:headEnd len="med" w="med" type="none"/>
            <a:tailEnd len="med" w="med" type="none"/>
          </a:ln>
        </p:spPr>
      </p:cxnSp>
      <p:cxnSp>
        <p:nvCxnSpPr>
          <p:cNvPr id="780" name="Google Shape;780;p79"/>
          <p:cNvCxnSpPr/>
          <p:nvPr/>
        </p:nvCxnSpPr>
        <p:spPr>
          <a:xfrm flipH="1" rot="10800000">
            <a:off x="1707350" y="2483100"/>
            <a:ext cx="973800" cy="260100"/>
          </a:xfrm>
          <a:prstGeom prst="straightConnector1">
            <a:avLst/>
          </a:prstGeom>
          <a:noFill/>
          <a:ln cap="flat" cmpd="sng" w="28575">
            <a:solidFill>
              <a:srgbClr val="8BD3F8"/>
            </a:solidFill>
            <a:prstDash val="solid"/>
            <a:round/>
            <a:headEnd len="med" w="med" type="none"/>
            <a:tailEnd len="med" w="med" type="none"/>
          </a:ln>
        </p:spPr>
      </p:cxnSp>
      <p:cxnSp>
        <p:nvCxnSpPr>
          <p:cNvPr id="781" name="Google Shape;781;p79"/>
          <p:cNvCxnSpPr/>
          <p:nvPr/>
        </p:nvCxnSpPr>
        <p:spPr>
          <a:xfrm flipH="1" rot="10800000">
            <a:off x="1647825" y="2743350"/>
            <a:ext cx="1113600" cy="300000"/>
          </a:xfrm>
          <a:prstGeom prst="straightConnector1">
            <a:avLst/>
          </a:prstGeom>
          <a:noFill/>
          <a:ln cap="flat" cmpd="sng" w="28575">
            <a:solidFill>
              <a:srgbClr val="DDBEEF"/>
            </a:solidFill>
            <a:prstDash val="solid"/>
            <a:round/>
            <a:headEnd len="med" w="med" type="none"/>
            <a:tailEnd len="med" w="med" type="none"/>
          </a:ln>
        </p:spPr>
      </p:cxnSp>
      <p:pic>
        <p:nvPicPr>
          <p:cNvPr id="782" name="Google Shape;782;p79"/>
          <p:cNvPicPr preferRelativeResize="0"/>
          <p:nvPr/>
        </p:nvPicPr>
        <p:blipFill rotWithShape="1">
          <a:blip r:embed="rId3">
            <a:alphaModFix/>
          </a:blip>
          <a:srcRect b="0" l="60003" r="0" t="0"/>
          <a:stretch/>
        </p:blipFill>
        <p:spPr>
          <a:xfrm>
            <a:off x="2681137" y="1464050"/>
            <a:ext cx="1714476" cy="1903700"/>
          </a:xfrm>
          <a:prstGeom prst="rect">
            <a:avLst/>
          </a:prstGeom>
          <a:noFill/>
          <a:ln>
            <a:noFill/>
          </a:ln>
        </p:spPr>
      </p:pic>
      <p:sp>
        <p:nvSpPr>
          <p:cNvPr id="783" name="Google Shape;783;p79"/>
          <p:cNvSpPr txBox="1"/>
          <p:nvPr/>
        </p:nvSpPr>
        <p:spPr>
          <a:xfrm>
            <a:off x="4388075" y="1895300"/>
            <a:ext cx="2311200" cy="8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Consolas"/>
                <a:ea typeface="Consolas"/>
                <a:cs typeface="Consolas"/>
                <a:sym typeface="Consolas"/>
              </a:rPr>
              <a:t>SELECT *</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FROM s FULL JOIN t</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ON s.id = t.id;</a:t>
            </a:r>
            <a:endParaRPr sz="1300">
              <a:latin typeface="Consolas"/>
              <a:ea typeface="Consolas"/>
              <a:cs typeface="Consolas"/>
              <a:sym typeface="Consolas"/>
            </a:endParaRPr>
          </a:p>
        </p:txBody>
      </p:sp>
      <p:pic>
        <p:nvPicPr>
          <p:cNvPr id="784" name="Google Shape;784;p79"/>
          <p:cNvPicPr preferRelativeResize="0"/>
          <p:nvPr/>
        </p:nvPicPr>
        <p:blipFill>
          <a:blip r:embed="rId4">
            <a:alphaModFix/>
          </a:blip>
          <a:stretch>
            <a:fillRect/>
          </a:stretch>
        </p:blipFill>
        <p:spPr>
          <a:xfrm>
            <a:off x="4700997" y="2743208"/>
            <a:ext cx="1113600" cy="222720"/>
          </a:xfrm>
          <a:prstGeom prst="rect">
            <a:avLst/>
          </a:prstGeom>
          <a:noFill/>
          <a:ln>
            <a:noFill/>
          </a:ln>
        </p:spPr>
      </p:pic>
      <p:cxnSp>
        <p:nvCxnSpPr>
          <p:cNvPr id="785" name="Google Shape;785;p79"/>
          <p:cNvCxnSpPr/>
          <p:nvPr/>
        </p:nvCxnSpPr>
        <p:spPr>
          <a:xfrm flipH="1" rot="10800000">
            <a:off x="1662625" y="1994825"/>
            <a:ext cx="712800" cy="186900"/>
          </a:xfrm>
          <a:prstGeom prst="straightConnector1">
            <a:avLst/>
          </a:prstGeom>
          <a:noFill/>
          <a:ln cap="flat" cmpd="sng" w="28575">
            <a:solidFill>
              <a:srgbClr val="E6ADBB"/>
            </a:solidFill>
            <a:prstDash val="solid"/>
            <a:round/>
            <a:headEnd len="med" w="med" type="none"/>
            <a:tailEnd len="med" w="med" type="none"/>
          </a:ln>
        </p:spPr>
      </p:cxnSp>
      <p:pic>
        <p:nvPicPr>
          <p:cNvPr id="786" name="Google Shape;786;p79"/>
          <p:cNvPicPr preferRelativeResize="0"/>
          <p:nvPr/>
        </p:nvPicPr>
        <p:blipFill>
          <a:blip r:embed="rId5">
            <a:alphaModFix/>
          </a:blip>
          <a:stretch>
            <a:fillRect/>
          </a:stretch>
        </p:blipFill>
        <p:spPr>
          <a:xfrm>
            <a:off x="6405373" y="1808111"/>
            <a:ext cx="2464600" cy="161008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0" name="Shape 790"/>
        <p:cNvGrpSpPr/>
        <p:nvPr/>
      </p:nvGrpSpPr>
      <p:grpSpPr>
        <a:xfrm>
          <a:off x="0" y="0"/>
          <a:ext cx="0" cy="0"/>
          <a:chOff x="0" y="0"/>
          <a:chExt cx="0" cy="0"/>
        </a:xfrm>
      </p:grpSpPr>
      <p:sp>
        <p:nvSpPr>
          <p:cNvPr id="791" name="Google Shape;791;p80"/>
          <p:cNvSpPr/>
          <p:nvPr/>
        </p:nvSpPr>
        <p:spPr>
          <a:xfrm rot="5400000">
            <a:off x="7365228" y="0"/>
            <a:ext cx="1778700" cy="1778700"/>
          </a:xfrm>
          <a:prstGeom prst="diagStripe">
            <a:avLst>
              <a:gd fmla="val 50000" name="adj"/>
            </a:avLst>
          </a:prstGeom>
          <a:solidFill>
            <a:srgbClr val="EDFA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792" name="Google Shape;792;p80"/>
          <p:cNvSpPr txBox="1"/>
          <p:nvPr/>
        </p:nvSpPr>
        <p:spPr>
          <a:xfrm rot="2700000">
            <a:off x="7215273" y="386217"/>
            <a:ext cx="2501461" cy="583787"/>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98038"/>
                </a:solidFill>
                <a:latin typeface="Inter"/>
                <a:ea typeface="Inter"/>
                <a:cs typeface="Inter"/>
                <a:sym typeface="Inter"/>
              </a:rPr>
              <a:t>Do not edit</a:t>
            </a:r>
            <a:endParaRPr b="1" sz="1200">
              <a:solidFill>
                <a:srgbClr val="198038"/>
              </a:solidFill>
              <a:latin typeface="Inter"/>
              <a:ea typeface="Inter"/>
              <a:cs typeface="Inter"/>
              <a:sym typeface="Inter"/>
            </a:endParaRPr>
          </a:p>
          <a:p>
            <a:pPr indent="0" lvl="0" marL="0" rtl="0" algn="ctr">
              <a:spcBef>
                <a:spcPts val="0"/>
              </a:spcBef>
              <a:spcAft>
                <a:spcPts val="0"/>
              </a:spcAft>
              <a:buNone/>
            </a:pPr>
            <a:r>
              <a:rPr lang="en" sz="1200" u="sng">
                <a:solidFill>
                  <a:srgbClr val="198038"/>
                </a:solidFill>
                <a:latin typeface="Inter Light"/>
                <a:ea typeface="Inter Light"/>
                <a:cs typeface="Inter Light"/>
                <a:sym typeface="Inter Light"/>
                <a:hlinkClick r:id="rId3">
                  <a:extLst>
                    <a:ext uri="{A12FA001-AC4F-418D-AE19-62706E023703}">
                      <ahyp:hlinkClr val="tx"/>
                    </a:ext>
                  </a:extLst>
                </a:hlinkClick>
              </a:rPr>
              <a:t>How to change the design</a:t>
            </a:r>
            <a:endParaRPr sz="1200">
              <a:solidFill>
                <a:srgbClr val="198038"/>
              </a:solidFill>
              <a:latin typeface="Inter Light"/>
              <a:ea typeface="Inter Light"/>
              <a:cs typeface="Inter Light"/>
              <a:sym typeface="Inter Light"/>
            </a:endParaRPr>
          </a:p>
        </p:txBody>
      </p:sp>
      <p:sp>
        <p:nvSpPr>
          <p:cNvPr descr="title-id" id="793" name="Google Shape;793;p80"/>
          <p:cNvSpPr txBox="1"/>
          <p:nvPr/>
        </p:nvSpPr>
        <p:spPr>
          <a:xfrm>
            <a:off x="2334638" y="1320628"/>
            <a:ext cx="6364800" cy="175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rgbClr val="5B5B5B"/>
                </a:solidFill>
                <a:latin typeface="Inter"/>
                <a:ea typeface="Inter"/>
                <a:cs typeface="Inter"/>
                <a:sym typeface="Inter"/>
              </a:rPr>
              <a:t>Which of the following returns the same information as the SQL query at the top? Note: Column order does not matter.</a:t>
            </a:r>
            <a:endParaRPr b="1" sz="2400">
              <a:solidFill>
                <a:srgbClr val="5B5B5B"/>
              </a:solidFill>
              <a:latin typeface="Inter"/>
              <a:ea typeface="Inter"/>
              <a:cs typeface="Inter"/>
              <a:sym typeface="Inter"/>
            </a:endParaRPr>
          </a:p>
        </p:txBody>
      </p:sp>
      <p:sp>
        <p:nvSpPr>
          <p:cNvPr id="794" name="Google Shape;794;p80"/>
          <p:cNvSpPr/>
          <p:nvPr/>
        </p:nvSpPr>
        <p:spPr>
          <a:xfrm>
            <a:off x="0" y="4365024"/>
            <a:ext cx="9144000" cy="778500"/>
          </a:xfrm>
          <a:prstGeom prst="rect">
            <a:avLst/>
          </a:prstGeom>
          <a:solidFill>
            <a:srgbClr val="19803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795" name="Google Shape;795;p80"/>
          <p:cNvSpPr txBox="1"/>
          <p:nvPr/>
        </p:nvSpPr>
        <p:spPr>
          <a:xfrm>
            <a:off x="555866" y="4365024"/>
            <a:ext cx="6948300" cy="77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FFFFFF"/>
                </a:solidFill>
                <a:latin typeface="Inter Light"/>
                <a:ea typeface="Inter Light"/>
                <a:cs typeface="Inter Light"/>
                <a:sym typeface="Inter Light"/>
              </a:rPr>
              <a:t>Presenting with animations, GIFs or speaker notes? Enable our </a:t>
            </a:r>
            <a:r>
              <a:rPr lang="en" sz="1200" u="sng">
                <a:solidFill>
                  <a:srgbClr val="FFFFFF"/>
                </a:solidFill>
                <a:latin typeface="Inter Light"/>
                <a:ea typeface="Inter Light"/>
                <a:cs typeface="Inter Light"/>
                <a:sym typeface="Inter Light"/>
                <a:hlinkClick r:id="rId4">
                  <a:extLst>
                    <a:ext uri="{A12FA001-AC4F-418D-AE19-62706E023703}">
                      <ahyp:hlinkClr val="tx"/>
                    </a:ext>
                  </a:extLst>
                </a:hlinkClick>
              </a:rPr>
              <a:t>Chrome extension</a:t>
            </a:r>
            <a:endParaRPr sz="1200">
              <a:solidFill>
                <a:srgbClr val="FFFFFF"/>
              </a:solidFill>
              <a:latin typeface="Inter Light"/>
              <a:ea typeface="Inter Light"/>
              <a:cs typeface="Inter Light"/>
              <a:sym typeface="Inter Light"/>
            </a:endParaRPr>
          </a:p>
        </p:txBody>
      </p:sp>
      <p:pic>
        <p:nvPicPr>
          <p:cNvPr id="796" name="Google Shape;796;p80"/>
          <p:cNvPicPr preferRelativeResize="0"/>
          <p:nvPr/>
        </p:nvPicPr>
        <p:blipFill>
          <a:blip r:embed="rId5">
            <a:alphaModFix/>
          </a:blip>
          <a:stretch>
            <a:fillRect/>
          </a:stretch>
        </p:blipFill>
        <p:spPr>
          <a:xfrm>
            <a:off x="222347" y="4643089"/>
            <a:ext cx="222347" cy="222347"/>
          </a:xfrm>
          <a:prstGeom prst="rect">
            <a:avLst/>
          </a:prstGeom>
          <a:noFill/>
          <a:ln>
            <a:noFill/>
          </a:ln>
        </p:spPr>
      </p:pic>
      <p:pic>
        <p:nvPicPr>
          <p:cNvPr descr="logo-id" id="797" name="Google Shape;797;p80">
            <a:hlinkClick r:id="rId6"/>
          </p:cNvPr>
          <p:cNvPicPr preferRelativeResize="0"/>
          <p:nvPr/>
        </p:nvPicPr>
        <p:blipFill>
          <a:blip r:embed="rId7">
            <a:alphaModFix/>
          </a:blip>
          <a:stretch>
            <a:fillRect/>
          </a:stretch>
        </p:blipFill>
        <p:spPr>
          <a:xfrm>
            <a:off x="7921094" y="4476329"/>
            <a:ext cx="1111733" cy="555866"/>
          </a:xfrm>
          <a:prstGeom prst="rect">
            <a:avLst/>
          </a:prstGeom>
          <a:noFill/>
          <a:ln>
            <a:noFill/>
          </a:ln>
        </p:spPr>
      </p:pic>
      <p:pic>
        <p:nvPicPr>
          <p:cNvPr descr="poll-type-id" id="798" name="Google Shape;798;p80">
            <a:hlinkClick r:id="rId8"/>
          </p:cNvPr>
          <p:cNvPicPr preferRelativeResize="0"/>
          <p:nvPr/>
        </p:nvPicPr>
        <p:blipFill>
          <a:blip r:embed="rId9">
            <a:alphaModFix/>
          </a:blip>
          <a:stretch>
            <a:fillRect/>
          </a:stretch>
        </p:blipFill>
        <p:spPr>
          <a:xfrm>
            <a:off x="333520" y="1307027"/>
            <a:ext cx="1778772" cy="177877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8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Equivalent Joins Slido</a:t>
            </a:r>
            <a:endParaRPr/>
          </a:p>
        </p:txBody>
      </p:sp>
      <p:sp>
        <p:nvSpPr>
          <p:cNvPr id="804" name="Google Shape;804;p8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5" name="Google Shape;805;p81"/>
          <p:cNvSpPr txBox="1"/>
          <p:nvPr/>
        </p:nvSpPr>
        <p:spPr>
          <a:xfrm>
            <a:off x="169225" y="676875"/>
            <a:ext cx="2311200" cy="8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Consolas"/>
                <a:ea typeface="Consolas"/>
                <a:cs typeface="Consolas"/>
                <a:sym typeface="Consolas"/>
              </a:rPr>
              <a:t>SELECT *</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FROM s LEFT JOIN t</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ON s.id = t.id;</a:t>
            </a:r>
            <a:endParaRPr sz="1300">
              <a:latin typeface="Consolas"/>
              <a:ea typeface="Consolas"/>
              <a:cs typeface="Consolas"/>
              <a:sym typeface="Consolas"/>
            </a:endParaRPr>
          </a:p>
        </p:txBody>
      </p:sp>
      <p:sp>
        <p:nvSpPr>
          <p:cNvPr id="806" name="Google Shape;806;p81"/>
          <p:cNvSpPr txBox="1"/>
          <p:nvPr/>
        </p:nvSpPr>
        <p:spPr>
          <a:xfrm>
            <a:off x="656600" y="1689450"/>
            <a:ext cx="2311200" cy="8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Consolas"/>
                <a:ea typeface="Consolas"/>
                <a:cs typeface="Consolas"/>
                <a:sym typeface="Consolas"/>
              </a:rPr>
              <a:t>SELECT *</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FROM s LEFT JOIN t</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ON t.id = </a:t>
            </a:r>
            <a:r>
              <a:rPr lang="en" sz="1300">
                <a:solidFill>
                  <a:schemeClr val="dk1"/>
                </a:solidFill>
                <a:latin typeface="Consolas"/>
                <a:ea typeface="Consolas"/>
                <a:cs typeface="Consolas"/>
                <a:sym typeface="Consolas"/>
              </a:rPr>
              <a:t>s.id</a:t>
            </a:r>
            <a:r>
              <a:rPr lang="en" sz="1300">
                <a:latin typeface="Consolas"/>
                <a:ea typeface="Consolas"/>
                <a:cs typeface="Consolas"/>
                <a:sym typeface="Consolas"/>
              </a:rPr>
              <a:t>;</a:t>
            </a:r>
            <a:endParaRPr sz="1300">
              <a:latin typeface="Consolas"/>
              <a:ea typeface="Consolas"/>
              <a:cs typeface="Consolas"/>
              <a:sym typeface="Consolas"/>
            </a:endParaRPr>
          </a:p>
        </p:txBody>
      </p:sp>
      <p:sp>
        <p:nvSpPr>
          <p:cNvPr id="807" name="Google Shape;807;p81"/>
          <p:cNvSpPr txBox="1"/>
          <p:nvPr/>
        </p:nvSpPr>
        <p:spPr>
          <a:xfrm>
            <a:off x="656600" y="2838325"/>
            <a:ext cx="2311200" cy="8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Consolas"/>
                <a:ea typeface="Consolas"/>
                <a:cs typeface="Consolas"/>
                <a:sym typeface="Consolas"/>
              </a:rPr>
              <a:t>SELECT *</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FROM t RIGHT JOIN s</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ON s.id = </a:t>
            </a:r>
            <a:r>
              <a:rPr lang="en" sz="1300">
                <a:solidFill>
                  <a:schemeClr val="dk1"/>
                </a:solidFill>
                <a:latin typeface="Consolas"/>
                <a:ea typeface="Consolas"/>
                <a:cs typeface="Consolas"/>
                <a:sym typeface="Consolas"/>
              </a:rPr>
              <a:t>t.id</a:t>
            </a:r>
            <a:r>
              <a:rPr lang="en" sz="1300">
                <a:latin typeface="Consolas"/>
                <a:ea typeface="Consolas"/>
                <a:cs typeface="Consolas"/>
                <a:sym typeface="Consolas"/>
              </a:rPr>
              <a:t>;</a:t>
            </a:r>
            <a:endParaRPr sz="1300">
              <a:latin typeface="Consolas"/>
              <a:ea typeface="Consolas"/>
              <a:cs typeface="Consolas"/>
              <a:sym typeface="Consolas"/>
            </a:endParaRPr>
          </a:p>
        </p:txBody>
      </p:sp>
      <p:sp>
        <p:nvSpPr>
          <p:cNvPr id="808" name="Google Shape;808;p81"/>
          <p:cNvSpPr txBox="1"/>
          <p:nvPr/>
        </p:nvSpPr>
        <p:spPr>
          <a:xfrm>
            <a:off x="714600" y="3867600"/>
            <a:ext cx="2311200" cy="8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Consolas"/>
                <a:ea typeface="Consolas"/>
                <a:cs typeface="Consolas"/>
                <a:sym typeface="Consolas"/>
              </a:rPr>
              <a:t>SELECT *</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FROM s FULL JOIN t</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ON s.id = t.id</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WHERE s.id IS NOT NULL;</a:t>
            </a:r>
            <a:endParaRPr sz="1300">
              <a:latin typeface="Consolas"/>
              <a:ea typeface="Consolas"/>
              <a:cs typeface="Consolas"/>
              <a:sym typeface="Consolas"/>
            </a:endParaRPr>
          </a:p>
        </p:txBody>
      </p:sp>
      <p:sp>
        <p:nvSpPr>
          <p:cNvPr id="809" name="Google Shape;809;p81"/>
          <p:cNvSpPr txBox="1"/>
          <p:nvPr/>
        </p:nvSpPr>
        <p:spPr>
          <a:xfrm>
            <a:off x="127650" y="1891450"/>
            <a:ext cx="3828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dk1"/>
                </a:solidFill>
                <a:latin typeface="Roboto Light"/>
                <a:ea typeface="Roboto Light"/>
                <a:cs typeface="Roboto Light"/>
                <a:sym typeface="Roboto Light"/>
              </a:rPr>
              <a:t>A</a:t>
            </a:r>
            <a:endParaRPr sz="1600">
              <a:solidFill>
                <a:schemeClr val="dk1"/>
              </a:solidFill>
              <a:latin typeface="Roboto Light"/>
              <a:ea typeface="Roboto Light"/>
              <a:cs typeface="Roboto Light"/>
              <a:sym typeface="Roboto Light"/>
            </a:endParaRPr>
          </a:p>
        </p:txBody>
      </p:sp>
      <p:sp>
        <p:nvSpPr>
          <p:cNvPr id="810" name="Google Shape;810;p81"/>
          <p:cNvSpPr txBox="1"/>
          <p:nvPr/>
        </p:nvSpPr>
        <p:spPr>
          <a:xfrm>
            <a:off x="127650" y="2983775"/>
            <a:ext cx="3828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dk1"/>
                </a:solidFill>
                <a:latin typeface="Roboto Light"/>
                <a:ea typeface="Roboto Light"/>
                <a:cs typeface="Roboto Light"/>
                <a:sym typeface="Roboto Light"/>
              </a:rPr>
              <a:t>B</a:t>
            </a:r>
            <a:endParaRPr sz="1600">
              <a:solidFill>
                <a:schemeClr val="dk1"/>
              </a:solidFill>
              <a:latin typeface="Roboto Light"/>
              <a:ea typeface="Roboto Light"/>
              <a:cs typeface="Roboto Light"/>
              <a:sym typeface="Roboto Light"/>
            </a:endParaRPr>
          </a:p>
        </p:txBody>
      </p:sp>
      <p:sp>
        <p:nvSpPr>
          <p:cNvPr id="811" name="Google Shape;811;p81"/>
          <p:cNvSpPr txBox="1"/>
          <p:nvPr/>
        </p:nvSpPr>
        <p:spPr>
          <a:xfrm>
            <a:off x="127650" y="4076100"/>
            <a:ext cx="3828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dk1"/>
                </a:solidFill>
                <a:latin typeface="Roboto Light"/>
                <a:ea typeface="Roboto Light"/>
                <a:cs typeface="Roboto Light"/>
                <a:sym typeface="Roboto Light"/>
              </a:rPr>
              <a:t>C</a:t>
            </a:r>
            <a:endParaRPr sz="1600">
              <a:solidFill>
                <a:schemeClr val="dk1"/>
              </a:solidFill>
              <a:latin typeface="Roboto Light"/>
              <a:ea typeface="Roboto Light"/>
              <a:cs typeface="Roboto Light"/>
              <a:sym typeface="Roboto Light"/>
            </a:endParaRPr>
          </a:p>
        </p:txBody>
      </p:sp>
      <p:sp>
        <p:nvSpPr>
          <p:cNvPr id="812" name="Google Shape;812;p81"/>
          <p:cNvSpPr txBox="1"/>
          <p:nvPr/>
        </p:nvSpPr>
        <p:spPr>
          <a:xfrm>
            <a:off x="2889450" y="1891450"/>
            <a:ext cx="3365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Roboto Light"/>
                <a:ea typeface="Roboto Light"/>
                <a:cs typeface="Roboto Light"/>
                <a:sym typeface="Roboto Light"/>
              </a:rPr>
              <a:t>✅ Equality order does not matter.</a:t>
            </a:r>
            <a:endParaRPr sz="1600">
              <a:solidFill>
                <a:schemeClr val="dk1"/>
              </a:solidFill>
              <a:latin typeface="Roboto Light"/>
              <a:ea typeface="Roboto Light"/>
              <a:cs typeface="Roboto Light"/>
              <a:sym typeface="Roboto Light"/>
            </a:endParaRPr>
          </a:p>
        </p:txBody>
      </p:sp>
      <p:sp>
        <p:nvSpPr>
          <p:cNvPr id="813" name="Google Shape;813;p81"/>
          <p:cNvSpPr txBox="1"/>
          <p:nvPr/>
        </p:nvSpPr>
        <p:spPr>
          <a:xfrm>
            <a:off x="2889400" y="3004125"/>
            <a:ext cx="5583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Roboto Light"/>
                <a:ea typeface="Roboto Light"/>
                <a:cs typeface="Roboto Light"/>
                <a:sym typeface="Roboto Light"/>
              </a:rPr>
              <a:t>✅ A right join is just a left join with the table order reversed. t.id and breed will now be the first two columns.</a:t>
            </a:r>
            <a:endParaRPr sz="1600">
              <a:solidFill>
                <a:schemeClr val="dk1"/>
              </a:solidFill>
              <a:latin typeface="Roboto Light"/>
              <a:ea typeface="Roboto Light"/>
              <a:cs typeface="Roboto Light"/>
              <a:sym typeface="Roboto Light"/>
            </a:endParaRPr>
          </a:p>
        </p:txBody>
      </p:sp>
      <p:pic>
        <p:nvPicPr>
          <p:cNvPr id="814" name="Google Shape;814;p81"/>
          <p:cNvPicPr preferRelativeResize="0"/>
          <p:nvPr/>
        </p:nvPicPr>
        <p:blipFill>
          <a:blip r:embed="rId3">
            <a:alphaModFix/>
          </a:blip>
          <a:stretch>
            <a:fillRect/>
          </a:stretch>
        </p:blipFill>
        <p:spPr>
          <a:xfrm>
            <a:off x="2151525" y="499100"/>
            <a:ext cx="2171119" cy="1190350"/>
          </a:xfrm>
          <a:prstGeom prst="rect">
            <a:avLst/>
          </a:prstGeom>
          <a:noFill/>
          <a:ln>
            <a:noFill/>
          </a:ln>
        </p:spPr>
      </p:pic>
      <p:grpSp>
        <p:nvGrpSpPr>
          <p:cNvPr id="815" name="Google Shape;815;p81"/>
          <p:cNvGrpSpPr/>
          <p:nvPr/>
        </p:nvGrpSpPr>
        <p:grpSpPr>
          <a:xfrm>
            <a:off x="3025800" y="3714663"/>
            <a:ext cx="2683325" cy="1304224"/>
            <a:chOff x="3025800" y="3714663"/>
            <a:chExt cx="2683325" cy="1304224"/>
          </a:xfrm>
        </p:grpSpPr>
        <p:sp>
          <p:nvSpPr>
            <p:cNvPr id="816" name="Google Shape;816;p81"/>
            <p:cNvSpPr txBox="1"/>
            <p:nvPr/>
          </p:nvSpPr>
          <p:spPr>
            <a:xfrm>
              <a:off x="3025800" y="4151225"/>
              <a:ext cx="453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Roboto Light"/>
                  <a:ea typeface="Roboto Light"/>
                  <a:cs typeface="Roboto Light"/>
                  <a:sym typeface="Roboto Light"/>
                </a:rPr>
                <a:t>✅ </a:t>
              </a:r>
              <a:endParaRPr sz="1600">
                <a:solidFill>
                  <a:schemeClr val="dk1"/>
                </a:solidFill>
                <a:latin typeface="Roboto Light"/>
                <a:ea typeface="Roboto Light"/>
                <a:cs typeface="Roboto Light"/>
                <a:sym typeface="Roboto Light"/>
              </a:endParaRPr>
            </a:p>
          </p:txBody>
        </p:sp>
        <p:grpSp>
          <p:nvGrpSpPr>
            <p:cNvPr id="817" name="Google Shape;817;p81"/>
            <p:cNvGrpSpPr/>
            <p:nvPr/>
          </p:nvGrpSpPr>
          <p:grpSpPr>
            <a:xfrm>
              <a:off x="3504425" y="3714663"/>
              <a:ext cx="2204700" cy="1304224"/>
              <a:chOff x="3504425" y="3714663"/>
              <a:chExt cx="2204700" cy="1304224"/>
            </a:xfrm>
          </p:grpSpPr>
          <p:pic>
            <p:nvPicPr>
              <p:cNvPr id="818" name="Google Shape;818;p81"/>
              <p:cNvPicPr preferRelativeResize="0"/>
              <p:nvPr/>
            </p:nvPicPr>
            <p:blipFill>
              <a:blip r:embed="rId4">
                <a:alphaModFix/>
              </a:blip>
              <a:stretch>
                <a:fillRect/>
              </a:stretch>
            </p:blipFill>
            <p:spPr>
              <a:xfrm>
                <a:off x="3573806" y="3714663"/>
                <a:ext cx="1996394" cy="1304224"/>
              </a:xfrm>
              <a:prstGeom prst="rect">
                <a:avLst/>
              </a:prstGeom>
              <a:noFill/>
              <a:ln>
                <a:noFill/>
              </a:ln>
            </p:spPr>
          </p:pic>
          <p:cxnSp>
            <p:nvCxnSpPr>
              <p:cNvPr id="819" name="Google Shape;819;p81"/>
              <p:cNvCxnSpPr/>
              <p:nvPr/>
            </p:nvCxnSpPr>
            <p:spPr>
              <a:xfrm flipH="1" rot="10800000">
                <a:off x="3504425" y="4873600"/>
                <a:ext cx="2204700" cy="11700"/>
              </a:xfrm>
              <a:prstGeom prst="straightConnector1">
                <a:avLst/>
              </a:prstGeom>
              <a:noFill/>
              <a:ln cap="flat" cmpd="sng" w="28575">
                <a:solidFill>
                  <a:srgbClr val="FF0000"/>
                </a:solidFill>
                <a:prstDash val="solid"/>
                <a:round/>
                <a:headEnd len="med" w="med" type="none"/>
                <a:tailEnd len="med" w="med" type="none"/>
              </a:ln>
            </p:spPr>
          </p:cxn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8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25" name="Google Shape;825;p82"/>
          <p:cNvSpPr txBox="1"/>
          <p:nvPr>
            <p:ph idx="1" type="body"/>
          </p:nvPr>
        </p:nvSpPr>
        <p:spPr>
          <a:xfrm>
            <a:off x="4882900" y="448050"/>
            <a:ext cx="3950100" cy="4124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latin typeface="Roboto"/>
                <a:ea typeface="Roboto"/>
                <a:cs typeface="Roboto"/>
                <a:sym typeface="Roboto"/>
              </a:rPr>
              <a:t>Structure </a:t>
            </a:r>
            <a:r>
              <a:rPr lang="en"/>
              <a:t>-- the "shape" of a data file</a:t>
            </a:r>
            <a:endParaRPr/>
          </a:p>
          <a:p>
            <a:pPr indent="0" lvl="0" marL="0" rtl="0" algn="l">
              <a:spcBef>
                <a:spcPts val="600"/>
              </a:spcBef>
              <a:spcAft>
                <a:spcPts val="0"/>
              </a:spcAft>
              <a:buNone/>
            </a:pPr>
            <a:r>
              <a:t/>
            </a:r>
            <a:endParaRPr/>
          </a:p>
          <a:p>
            <a:pPr indent="0" lvl="0" marL="0" rtl="0" algn="l">
              <a:spcBef>
                <a:spcPts val="600"/>
              </a:spcBef>
              <a:spcAft>
                <a:spcPts val="0"/>
              </a:spcAft>
              <a:buNone/>
            </a:pPr>
            <a:r>
              <a:rPr b="1" lang="en">
                <a:solidFill>
                  <a:schemeClr val="dk2"/>
                </a:solidFill>
                <a:latin typeface="Roboto"/>
                <a:ea typeface="Roboto"/>
                <a:cs typeface="Roboto"/>
                <a:sym typeface="Roboto"/>
              </a:rPr>
              <a:t>Granularity</a:t>
            </a:r>
            <a:r>
              <a:rPr lang="en">
                <a:solidFill>
                  <a:schemeClr val="dk2"/>
                </a:solidFill>
              </a:rPr>
              <a:t> -- how fine/coarse is each datum</a:t>
            </a:r>
            <a:endParaRPr>
              <a:solidFill>
                <a:schemeClr val="dk2"/>
              </a:solidFill>
            </a:endParaRPr>
          </a:p>
          <a:p>
            <a:pPr indent="0" lvl="0" marL="0" rtl="0" algn="l">
              <a:spcBef>
                <a:spcPts val="600"/>
              </a:spcBef>
              <a:spcAft>
                <a:spcPts val="0"/>
              </a:spcAft>
              <a:buNone/>
            </a:pPr>
            <a:r>
              <a:t/>
            </a:r>
            <a:endParaRPr>
              <a:solidFill>
                <a:schemeClr val="dk2"/>
              </a:solidFill>
            </a:endParaRPr>
          </a:p>
          <a:p>
            <a:pPr indent="0" lvl="0" marL="0" rtl="0" algn="l">
              <a:spcBef>
                <a:spcPts val="600"/>
              </a:spcBef>
              <a:spcAft>
                <a:spcPts val="0"/>
              </a:spcAft>
              <a:buNone/>
            </a:pPr>
            <a:r>
              <a:rPr b="1" lang="en">
                <a:solidFill>
                  <a:schemeClr val="dk2"/>
                </a:solidFill>
                <a:latin typeface="Roboto"/>
                <a:ea typeface="Roboto"/>
                <a:cs typeface="Roboto"/>
                <a:sym typeface="Roboto"/>
              </a:rPr>
              <a:t>Temporality</a:t>
            </a:r>
            <a:r>
              <a:rPr lang="en">
                <a:solidFill>
                  <a:schemeClr val="dk2"/>
                </a:solidFill>
              </a:rPr>
              <a:t> -- how is the data situated in time</a:t>
            </a:r>
            <a:endParaRPr>
              <a:solidFill>
                <a:schemeClr val="dk2"/>
              </a:solidFill>
            </a:endParaRPr>
          </a:p>
          <a:p>
            <a:pPr indent="0" lvl="0" marL="0" rtl="0" algn="l">
              <a:spcBef>
                <a:spcPts val="600"/>
              </a:spcBef>
              <a:spcAft>
                <a:spcPts val="0"/>
              </a:spcAft>
              <a:buNone/>
            </a:pPr>
            <a:r>
              <a:t/>
            </a:r>
            <a:endParaRPr>
              <a:solidFill>
                <a:schemeClr val="dk2"/>
              </a:solidFill>
            </a:endParaRPr>
          </a:p>
          <a:p>
            <a:pPr indent="0" lvl="0" marL="0" rtl="0" algn="l">
              <a:spcBef>
                <a:spcPts val="600"/>
              </a:spcBef>
              <a:spcAft>
                <a:spcPts val="0"/>
              </a:spcAft>
              <a:buNone/>
            </a:pPr>
            <a:r>
              <a:rPr b="1" lang="en">
                <a:solidFill>
                  <a:schemeClr val="dk2"/>
                </a:solidFill>
                <a:latin typeface="Roboto"/>
                <a:ea typeface="Roboto"/>
                <a:cs typeface="Roboto"/>
                <a:sym typeface="Roboto"/>
              </a:rPr>
              <a:t>Faithfulness</a:t>
            </a:r>
            <a:r>
              <a:rPr lang="en">
                <a:solidFill>
                  <a:schemeClr val="dk2"/>
                </a:solidFill>
              </a:rPr>
              <a:t> -- how well does the data capture "reality"</a:t>
            </a:r>
            <a:endParaRPr>
              <a:solidFill>
                <a:schemeClr val="dk2"/>
              </a:solidFill>
            </a:endParaRPr>
          </a:p>
        </p:txBody>
      </p:sp>
      <p:sp>
        <p:nvSpPr>
          <p:cNvPr id="826" name="Google Shape;826;p82"/>
          <p:cNvSpPr/>
          <p:nvPr/>
        </p:nvSpPr>
        <p:spPr>
          <a:xfrm flipH="1">
            <a:off x="3995325" y="398875"/>
            <a:ext cx="801300" cy="728700"/>
          </a:xfrm>
          <a:prstGeom prst="lef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82"/>
          <p:cNvSpPr txBox="1"/>
          <p:nvPr/>
        </p:nvSpPr>
        <p:spPr>
          <a:xfrm>
            <a:off x="177925" y="2313850"/>
            <a:ext cx="4038000" cy="2037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rgbClr val="0B5394"/>
                </a:solidFill>
                <a:latin typeface="Roboto Medium"/>
                <a:ea typeface="Roboto Medium"/>
                <a:cs typeface="Roboto Medium"/>
                <a:sym typeface="Roboto Medium"/>
              </a:rPr>
              <a:t>Key Data Properties to Consider in EDA</a:t>
            </a:r>
            <a:endParaRPr sz="3600">
              <a:solidFill>
                <a:srgbClr val="0B5394"/>
              </a:solidFill>
              <a:latin typeface="Roboto Medium"/>
              <a:ea typeface="Roboto Medium"/>
              <a:cs typeface="Roboto Medium"/>
              <a:sym typeface="Roboto Medium"/>
            </a:endParaRPr>
          </a:p>
        </p:txBody>
      </p:sp>
      <p:sp>
        <p:nvSpPr>
          <p:cNvPr id="828" name="Google Shape;828;p82"/>
          <p:cNvSpPr txBox="1"/>
          <p:nvPr>
            <p:ph idx="2" type="body"/>
          </p:nvPr>
        </p:nvSpPr>
        <p:spPr>
          <a:xfrm>
            <a:off x="2307375" y="448050"/>
            <a:ext cx="2264700" cy="10518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 sz="1800"/>
              <a:t>Variable Type</a:t>
            </a:r>
            <a:endParaRPr b="1" sz="1800">
              <a:solidFill>
                <a:schemeClr val="accent3"/>
              </a:solidFill>
              <a:latin typeface="Roboto"/>
              <a:ea typeface="Roboto"/>
              <a:cs typeface="Roboto"/>
              <a:sym typeface="Roboto"/>
            </a:endParaRPr>
          </a:p>
          <a:p>
            <a:pPr indent="0" lvl="0" marL="0" marR="0" rtl="0" algn="l">
              <a:lnSpc>
                <a:spcPct val="100000"/>
              </a:lnSpc>
              <a:spcBef>
                <a:spcPts val="400"/>
              </a:spcBef>
              <a:spcAft>
                <a:spcPts val="0"/>
              </a:spcAft>
              <a:buNone/>
            </a:pPr>
            <a:r>
              <a:rPr lang="en" sz="1800"/>
              <a:t>Multiple Files</a:t>
            </a:r>
            <a:endParaRPr b="1" sz="1800">
              <a:solidFill>
                <a:schemeClr val="accent3"/>
              </a:solidFill>
              <a:latin typeface="Roboto"/>
              <a:ea typeface="Roboto"/>
              <a:cs typeface="Roboto"/>
              <a:sym typeface="Roboto"/>
            </a:endParaRPr>
          </a:p>
          <a:p>
            <a:pPr indent="0" lvl="0" marL="0" rtl="0" algn="l">
              <a:spcBef>
                <a:spcPts val="400"/>
              </a:spcBef>
              <a:spcAft>
                <a:spcPts val="0"/>
              </a:spcAft>
              <a:buNone/>
            </a:pPr>
            <a:r>
              <a:rPr b="1" lang="en" sz="1800">
                <a:solidFill>
                  <a:schemeClr val="accent3"/>
                </a:solidFill>
                <a:latin typeface="Roboto"/>
                <a:ea typeface="Roboto"/>
                <a:cs typeface="Roboto"/>
                <a:sym typeface="Roboto"/>
              </a:rPr>
              <a:t>File Format</a:t>
            </a:r>
            <a:endParaRPr sz="1800"/>
          </a:p>
          <a:p>
            <a:pPr indent="0" lvl="0" marL="0" rtl="0" algn="l">
              <a:spcBef>
                <a:spcPts val="400"/>
              </a:spcBef>
              <a:spcAft>
                <a:spcPts val="0"/>
              </a:spcAft>
              <a:buNone/>
            </a:pPr>
            <a:r>
              <a:t/>
            </a:r>
            <a:endParaRPr>
              <a:solidFill>
                <a:schemeClr val="accent3"/>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83"/>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CSV: Comma-Separated Values</a:t>
            </a:r>
            <a:endParaRPr/>
          </a:p>
        </p:txBody>
      </p:sp>
      <p:sp>
        <p:nvSpPr>
          <p:cNvPr id="834" name="Google Shape;834;p83"/>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Flu</a:t>
            </a:r>
            <a:r>
              <a:rPr lang="en"/>
              <a:t> data from CDC (</a:t>
            </a:r>
            <a:r>
              <a:rPr b="1" lang="en" u="sng">
                <a:solidFill>
                  <a:schemeClr val="hlink"/>
                </a:solidFill>
                <a:latin typeface="Roboto"/>
                <a:ea typeface="Roboto"/>
                <a:cs typeface="Roboto"/>
                <a:sym typeface="Roboto"/>
                <a:hlinkClick r:id="rId3"/>
              </a:rPr>
              <a:t>source</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Clr>
                <a:schemeClr val="dk1"/>
              </a:buClr>
              <a:buSzPts val="1100"/>
              <a:buFont typeface="Arial"/>
              <a:buNone/>
            </a:pPr>
            <a:r>
              <a:rPr lang="en"/>
              <a:t>CSV is a very common </a:t>
            </a:r>
            <a:r>
              <a:rPr b="1" lang="en">
                <a:latin typeface="Roboto"/>
                <a:ea typeface="Roboto"/>
                <a:cs typeface="Roboto"/>
                <a:sym typeface="Roboto"/>
              </a:rPr>
              <a:t>tabular file format</a:t>
            </a:r>
            <a:r>
              <a:rPr lang="en"/>
              <a:t>.</a:t>
            </a:r>
            <a:endParaRPr/>
          </a:p>
          <a:p>
            <a:pPr indent="-330200" lvl="0" marL="457200" rtl="0" algn="l">
              <a:spcBef>
                <a:spcPts val="600"/>
              </a:spcBef>
              <a:spcAft>
                <a:spcPts val="0"/>
              </a:spcAft>
              <a:buSzPts val="1600"/>
              <a:buChar char="●"/>
            </a:pPr>
            <a:r>
              <a:rPr b="1" lang="en">
                <a:solidFill>
                  <a:schemeClr val="accent4"/>
                </a:solidFill>
                <a:latin typeface="Roboto"/>
                <a:ea typeface="Roboto"/>
                <a:cs typeface="Roboto"/>
                <a:sym typeface="Roboto"/>
              </a:rPr>
              <a:t>Records</a:t>
            </a:r>
            <a:r>
              <a:rPr lang="en"/>
              <a:t> (rows) are delimited by a newline: </a:t>
            </a:r>
            <a:r>
              <a:rPr lang="en">
                <a:latin typeface="Roboto Mono"/>
                <a:ea typeface="Roboto Mono"/>
                <a:cs typeface="Roboto Mono"/>
                <a:sym typeface="Roboto Mono"/>
              </a:rPr>
              <a:t>'\n'</a:t>
            </a:r>
            <a:endParaRPr>
              <a:latin typeface="Roboto Mono"/>
              <a:ea typeface="Roboto Mono"/>
              <a:cs typeface="Roboto Mono"/>
              <a:sym typeface="Roboto Mono"/>
            </a:endParaRPr>
          </a:p>
          <a:p>
            <a:pPr indent="-330200" lvl="0" marL="457200" rtl="0" algn="l">
              <a:spcBef>
                <a:spcPts val="0"/>
              </a:spcBef>
              <a:spcAft>
                <a:spcPts val="0"/>
              </a:spcAft>
              <a:buSzPts val="1600"/>
              <a:buChar char="●"/>
            </a:pPr>
            <a:r>
              <a:rPr b="1" lang="en">
                <a:solidFill>
                  <a:schemeClr val="accent5"/>
                </a:solidFill>
                <a:latin typeface="Roboto"/>
                <a:ea typeface="Roboto"/>
                <a:cs typeface="Roboto"/>
                <a:sym typeface="Roboto"/>
              </a:rPr>
              <a:t>Fields</a:t>
            </a:r>
            <a:r>
              <a:rPr lang="en"/>
              <a:t> (columns) are delimited by commas: </a:t>
            </a:r>
            <a:r>
              <a:rPr lang="en">
                <a:latin typeface="Roboto Mono"/>
                <a:ea typeface="Roboto Mono"/>
                <a:cs typeface="Roboto Mono"/>
                <a:sym typeface="Roboto Mono"/>
              </a:rPr>
              <a:t>','</a:t>
            </a:r>
            <a:endParaRPr>
              <a:latin typeface="Roboto Mono Light"/>
              <a:ea typeface="Roboto Mono Light"/>
              <a:cs typeface="Roboto Mono Light"/>
              <a:sym typeface="Roboto Mono Light"/>
            </a:endParaRPr>
          </a:p>
          <a:p>
            <a:pPr indent="0" lvl="0" marL="0" rtl="0" algn="l">
              <a:spcBef>
                <a:spcPts val="600"/>
              </a:spcBef>
              <a:spcAft>
                <a:spcPts val="0"/>
              </a:spcAft>
              <a:buNone/>
            </a:pPr>
            <a:r>
              <a:rPr lang="en"/>
              <a:t>Pandas: </a:t>
            </a:r>
            <a:r>
              <a:rPr b="1" lang="en" u="sng">
                <a:solidFill>
                  <a:schemeClr val="hlink"/>
                </a:solidFill>
                <a:latin typeface="Roboto Mono"/>
                <a:ea typeface="Roboto Mono"/>
                <a:cs typeface="Roboto Mono"/>
                <a:sym typeface="Roboto Mono"/>
                <a:hlinkClick r:id="rId4"/>
              </a:rPr>
              <a:t>pd.read_csv</a:t>
            </a:r>
            <a:r>
              <a:rPr lang="en">
                <a:latin typeface="Roboto Mono Medium"/>
                <a:ea typeface="Roboto Mono Medium"/>
                <a:cs typeface="Roboto Mono Medium"/>
                <a:sym typeface="Roboto Mono Medium"/>
              </a:rPr>
              <a:t>(header=...)</a:t>
            </a:r>
            <a:endParaRPr>
              <a:latin typeface="Roboto Mono Medium"/>
              <a:ea typeface="Roboto Mono Medium"/>
              <a:cs typeface="Roboto Mono Medium"/>
              <a:sym typeface="Roboto Mono Medium"/>
            </a:endParaRPr>
          </a:p>
        </p:txBody>
      </p:sp>
      <p:sp>
        <p:nvSpPr>
          <p:cNvPr id="835" name="Google Shape;835;p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36" name="Google Shape;836;p83"/>
          <p:cNvSpPr txBox="1"/>
          <p:nvPr/>
        </p:nvSpPr>
        <p:spPr>
          <a:xfrm rot="-5400000">
            <a:off x="4123054" y="3962904"/>
            <a:ext cx="1724100" cy="3462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en" sz="1300">
                <a:solidFill>
                  <a:schemeClr val="accent4"/>
                </a:solidFill>
                <a:latin typeface="Roboto"/>
                <a:ea typeface="Roboto"/>
                <a:cs typeface="Roboto"/>
                <a:sym typeface="Roboto"/>
              </a:rPr>
              <a:t>Records</a:t>
            </a:r>
            <a:r>
              <a:rPr lang="en" sz="1300">
                <a:solidFill>
                  <a:schemeClr val="dk1"/>
                </a:solidFill>
                <a:latin typeface="Roboto Light"/>
                <a:ea typeface="Roboto Light"/>
                <a:cs typeface="Roboto Light"/>
                <a:sym typeface="Roboto Light"/>
              </a:rPr>
              <a:t>/Rows</a:t>
            </a:r>
            <a:endParaRPr sz="1300">
              <a:latin typeface="Roboto Light"/>
              <a:ea typeface="Roboto Light"/>
              <a:cs typeface="Roboto Light"/>
              <a:sym typeface="Roboto Light"/>
            </a:endParaRPr>
          </a:p>
        </p:txBody>
      </p:sp>
      <p:sp>
        <p:nvSpPr>
          <p:cNvPr id="837" name="Google Shape;837;p83"/>
          <p:cNvSpPr txBox="1"/>
          <p:nvPr/>
        </p:nvSpPr>
        <p:spPr>
          <a:xfrm>
            <a:off x="5138850" y="3273950"/>
            <a:ext cx="3257400" cy="2742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en" sz="1300">
                <a:solidFill>
                  <a:schemeClr val="accent5"/>
                </a:solidFill>
                <a:latin typeface="Roboto"/>
                <a:ea typeface="Roboto"/>
                <a:cs typeface="Roboto"/>
                <a:sym typeface="Roboto"/>
              </a:rPr>
              <a:t>Fields</a:t>
            </a:r>
            <a:r>
              <a:rPr lang="en" sz="1300">
                <a:solidFill>
                  <a:schemeClr val="dk1"/>
                </a:solidFill>
                <a:latin typeface="Roboto Light"/>
                <a:ea typeface="Roboto Light"/>
                <a:cs typeface="Roboto Light"/>
                <a:sym typeface="Roboto Light"/>
              </a:rPr>
              <a:t>/Attributes/Features/Columns</a:t>
            </a:r>
            <a:endParaRPr sz="1300">
              <a:latin typeface="Roboto Light"/>
              <a:ea typeface="Roboto Light"/>
              <a:cs typeface="Roboto Light"/>
              <a:sym typeface="Roboto Light"/>
            </a:endParaRPr>
          </a:p>
        </p:txBody>
      </p:sp>
      <p:graphicFrame>
        <p:nvGraphicFramePr>
          <p:cNvPr id="838" name="Google Shape;838;p83"/>
          <p:cNvGraphicFramePr/>
          <p:nvPr/>
        </p:nvGraphicFramePr>
        <p:xfrm>
          <a:off x="5138850" y="3602300"/>
          <a:ext cx="3000000" cy="3000000"/>
        </p:xfrm>
        <a:graphic>
          <a:graphicData uri="http://schemas.openxmlformats.org/drawingml/2006/table">
            <a:tbl>
              <a:tblPr>
                <a:noFill/>
                <a:tableStyleId>{A18C7BDA-818C-4EB6-94C1-2E421272494B}</a:tableStyleId>
              </a:tblPr>
              <a:tblGrid>
                <a:gridCol w="382850"/>
                <a:gridCol w="1569725"/>
                <a:gridCol w="1333800"/>
                <a:gridCol w="456875"/>
              </a:tblGrid>
              <a:tr h="385250">
                <a:tc>
                  <a:txBody>
                    <a:bodyPr/>
                    <a:lstStyle/>
                    <a:p>
                      <a:pPr indent="0" lvl="0" marL="0" rtl="0" algn="l">
                        <a:spcBef>
                          <a:spcPts val="0"/>
                        </a:spcBef>
                        <a:spcAft>
                          <a:spcPts val="0"/>
                        </a:spcAft>
                        <a:buNone/>
                      </a:pPr>
                      <a:r>
                        <a:t/>
                      </a:r>
                      <a:endParaRPr sz="1300">
                        <a:latin typeface="Roboto Light"/>
                        <a:ea typeface="Roboto Light"/>
                        <a:cs typeface="Roboto Light"/>
                        <a:sym typeface="Roboto Light"/>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300">
                          <a:latin typeface="Roboto Light"/>
                          <a:ea typeface="Roboto Light"/>
                          <a:cs typeface="Roboto Light"/>
                          <a:sym typeface="Roboto Light"/>
                        </a:rPr>
                        <a:t>U.S. jurisdiction</a:t>
                      </a:r>
                      <a:endParaRPr sz="1300">
                        <a:latin typeface="Roboto Light"/>
                        <a:ea typeface="Roboto Light"/>
                        <a:cs typeface="Roboto Light"/>
                        <a:sym typeface="Roboto Light"/>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300">
                          <a:latin typeface="Roboto Light"/>
                          <a:ea typeface="Roboto Light"/>
                          <a:cs typeface="Roboto Light"/>
                          <a:sym typeface="Roboto Light"/>
                        </a:rPr>
                        <a:t>TB cases 2019</a:t>
                      </a:r>
                      <a:endParaRPr sz="1300">
                        <a:latin typeface="Roboto Light"/>
                        <a:ea typeface="Roboto Light"/>
                        <a:cs typeface="Roboto Light"/>
                        <a:sym typeface="Roboto Light"/>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300">
                          <a:latin typeface="Roboto Light"/>
                          <a:ea typeface="Roboto Light"/>
                          <a:cs typeface="Roboto Light"/>
                          <a:sym typeface="Roboto Light"/>
                        </a:rPr>
                        <a:t>…</a:t>
                      </a:r>
                      <a:endParaRPr sz="1300">
                        <a:latin typeface="Roboto Light"/>
                        <a:ea typeface="Roboto Light"/>
                        <a:cs typeface="Roboto Light"/>
                        <a:sym typeface="Roboto Light"/>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r>
              <a:tr h="263575">
                <a:tc>
                  <a:txBody>
                    <a:bodyPr/>
                    <a:lstStyle/>
                    <a:p>
                      <a:pPr indent="0" lvl="0" marL="0" rtl="0" algn="l">
                        <a:spcBef>
                          <a:spcPts val="0"/>
                        </a:spcBef>
                        <a:spcAft>
                          <a:spcPts val="0"/>
                        </a:spcAft>
                        <a:buNone/>
                      </a:pPr>
                      <a:r>
                        <a:rPr lang="en" sz="1300">
                          <a:latin typeface="Roboto Light"/>
                          <a:ea typeface="Roboto Light"/>
                          <a:cs typeface="Roboto Light"/>
                          <a:sym typeface="Roboto Light"/>
                        </a:rPr>
                        <a:t>0</a:t>
                      </a:r>
                      <a:endParaRPr sz="1300">
                        <a:latin typeface="Roboto Light"/>
                        <a:ea typeface="Roboto Light"/>
                        <a:cs typeface="Roboto Light"/>
                        <a:sym typeface="Roboto Light"/>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300">
                          <a:latin typeface="Roboto Light"/>
                          <a:ea typeface="Roboto Light"/>
                          <a:cs typeface="Roboto Light"/>
                          <a:sym typeface="Roboto Light"/>
                        </a:rPr>
                        <a:t>Total</a:t>
                      </a:r>
                      <a:endParaRPr sz="1300">
                        <a:latin typeface="Roboto Light"/>
                        <a:ea typeface="Roboto Light"/>
                        <a:cs typeface="Roboto Light"/>
                        <a:sym typeface="Roboto Light"/>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300">
                          <a:latin typeface="Roboto Light"/>
                          <a:ea typeface="Roboto Light"/>
                          <a:cs typeface="Roboto Light"/>
                          <a:sym typeface="Roboto Light"/>
                        </a:rPr>
                        <a:t>8,900</a:t>
                      </a:r>
                      <a:endParaRPr sz="1300">
                        <a:latin typeface="Roboto Light"/>
                        <a:ea typeface="Roboto Light"/>
                        <a:cs typeface="Roboto Light"/>
                        <a:sym typeface="Roboto Light"/>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300">
                          <a:latin typeface="Roboto Light"/>
                          <a:ea typeface="Roboto Light"/>
                          <a:cs typeface="Roboto Light"/>
                          <a:sym typeface="Roboto Light"/>
                        </a:rPr>
                        <a:t>…</a:t>
                      </a:r>
                      <a:endParaRPr sz="1300">
                        <a:latin typeface="Roboto Light"/>
                        <a:ea typeface="Roboto Light"/>
                        <a:cs typeface="Roboto Light"/>
                        <a:sym typeface="Roboto Light"/>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263575">
                <a:tc>
                  <a:txBody>
                    <a:bodyPr/>
                    <a:lstStyle/>
                    <a:p>
                      <a:pPr indent="0" lvl="0" marL="0" rtl="0" algn="l">
                        <a:spcBef>
                          <a:spcPts val="0"/>
                        </a:spcBef>
                        <a:spcAft>
                          <a:spcPts val="0"/>
                        </a:spcAft>
                        <a:buNone/>
                      </a:pPr>
                      <a:r>
                        <a:rPr lang="en" sz="1300">
                          <a:latin typeface="Roboto Light"/>
                          <a:ea typeface="Roboto Light"/>
                          <a:cs typeface="Roboto Light"/>
                          <a:sym typeface="Roboto Light"/>
                        </a:rPr>
                        <a:t>1</a:t>
                      </a:r>
                      <a:endParaRPr sz="1300">
                        <a:latin typeface="Roboto Light"/>
                        <a:ea typeface="Roboto Light"/>
                        <a:cs typeface="Roboto Light"/>
                        <a:sym typeface="Roboto Light"/>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300">
                          <a:latin typeface="Roboto Light"/>
                          <a:ea typeface="Roboto Light"/>
                          <a:cs typeface="Roboto Light"/>
                          <a:sym typeface="Roboto Light"/>
                        </a:rPr>
                        <a:t>Alabama</a:t>
                      </a:r>
                      <a:endParaRPr sz="1300">
                        <a:latin typeface="Roboto Light"/>
                        <a:ea typeface="Roboto Light"/>
                        <a:cs typeface="Roboto Light"/>
                        <a:sym typeface="Roboto Light"/>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300">
                          <a:latin typeface="Roboto Light"/>
                          <a:ea typeface="Roboto Light"/>
                          <a:cs typeface="Roboto Light"/>
                          <a:sym typeface="Roboto Light"/>
                        </a:rPr>
                        <a:t>87</a:t>
                      </a:r>
                      <a:endParaRPr sz="1300">
                        <a:latin typeface="Roboto Light"/>
                        <a:ea typeface="Roboto Light"/>
                        <a:cs typeface="Roboto Light"/>
                        <a:sym typeface="Roboto Light"/>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sz="1300">
                          <a:latin typeface="Roboto Light"/>
                          <a:ea typeface="Roboto Light"/>
                          <a:cs typeface="Roboto Light"/>
                          <a:sym typeface="Roboto Light"/>
                        </a:rPr>
                        <a:t>…</a:t>
                      </a:r>
                      <a:endParaRPr sz="1300">
                        <a:latin typeface="Roboto Light"/>
                        <a:ea typeface="Roboto Light"/>
                        <a:cs typeface="Roboto Light"/>
                        <a:sym typeface="Roboto Light"/>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84"/>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Another common table file format.</a:t>
            </a:r>
            <a:endParaRPr>
              <a:latin typeface="Roboto Mono"/>
              <a:ea typeface="Roboto Mono"/>
              <a:cs typeface="Roboto Mono"/>
              <a:sym typeface="Roboto Mono"/>
            </a:endParaRPr>
          </a:p>
          <a:p>
            <a:pPr indent="-330200" lvl="0" marL="457200" rtl="0" algn="l">
              <a:spcBef>
                <a:spcPts val="600"/>
              </a:spcBef>
              <a:spcAft>
                <a:spcPts val="0"/>
              </a:spcAft>
              <a:buSzPts val="1600"/>
              <a:buChar char="●"/>
            </a:pPr>
            <a:r>
              <a:rPr b="1" lang="en">
                <a:latin typeface="Roboto"/>
                <a:ea typeface="Roboto"/>
                <a:cs typeface="Roboto"/>
                <a:sym typeface="Roboto"/>
              </a:rPr>
              <a:t>Fields</a:t>
            </a:r>
            <a:r>
              <a:rPr lang="en"/>
              <a:t> are delimited by </a:t>
            </a:r>
            <a:r>
              <a:rPr lang="en">
                <a:latin typeface="Roboto Mono"/>
                <a:ea typeface="Roboto Mono"/>
                <a:cs typeface="Roboto Mono"/>
                <a:sym typeface="Roboto Mono"/>
              </a:rPr>
              <a:t>'\t'</a:t>
            </a:r>
            <a:r>
              <a:rPr lang="en"/>
              <a:t> (tab)</a:t>
            </a:r>
            <a:endParaRPr/>
          </a:p>
          <a:p>
            <a:pPr indent="-330200" lvl="0" marL="457200" rtl="0" algn="l">
              <a:spcBef>
                <a:spcPts val="0"/>
              </a:spcBef>
              <a:spcAft>
                <a:spcPts val="0"/>
              </a:spcAft>
              <a:buSzPts val="1600"/>
              <a:buChar char="●"/>
            </a:pPr>
            <a:r>
              <a:rPr lang="en"/>
              <a:t>Like a CSV with tabs instead of commas</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b="1" lang="en" u="sng">
                <a:solidFill>
                  <a:schemeClr val="hlink"/>
                </a:solidFill>
                <a:latin typeface="Roboto Mono"/>
                <a:ea typeface="Roboto Mono"/>
                <a:cs typeface="Roboto Mono"/>
                <a:sym typeface="Roboto Mono"/>
                <a:hlinkClick r:id="rId3"/>
              </a:rPr>
              <a:t>pd.read_csv</a:t>
            </a:r>
            <a:r>
              <a:rPr lang="en"/>
              <a:t>: Need to specify</a:t>
            </a:r>
            <a:br>
              <a:rPr lang="en"/>
            </a:br>
            <a:r>
              <a:rPr lang="en"/>
              <a:t>	</a:t>
            </a:r>
            <a:r>
              <a:rPr lang="en">
                <a:latin typeface="Roboto Mono"/>
                <a:ea typeface="Roboto Mono"/>
                <a:cs typeface="Roboto Mono"/>
                <a:sym typeface="Roboto Mono"/>
              </a:rPr>
              <a:t>delimiter=</a:t>
            </a:r>
            <a:r>
              <a:rPr lang="en">
                <a:solidFill>
                  <a:schemeClr val="accent2"/>
                </a:solidFill>
                <a:latin typeface="Roboto Mono"/>
                <a:ea typeface="Roboto Mono"/>
                <a:cs typeface="Roboto Mono"/>
                <a:sym typeface="Roboto Mono"/>
              </a:rPr>
              <a:t>'\t'</a:t>
            </a:r>
            <a:endParaRPr>
              <a:solidFill>
                <a:schemeClr val="accent2"/>
              </a:solidFill>
              <a:latin typeface="Roboto Mono"/>
              <a:ea typeface="Roboto Mono"/>
              <a:cs typeface="Roboto Mono"/>
              <a:sym typeface="Roboto Mono"/>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latin typeface="Roboto Mono Light"/>
              <a:ea typeface="Roboto Mono Light"/>
              <a:cs typeface="Roboto Mono Light"/>
              <a:sym typeface="Roboto Mono Light"/>
            </a:endParaRPr>
          </a:p>
        </p:txBody>
      </p:sp>
      <p:sp>
        <p:nvSpPr>
          <p:cNvPr id="844" name="Google Shape;844;p84"/>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TSV: Tab Separated Values</a:t>
            </a:r>
            <a:endParaRPr/>
          </a:p>
        </p:txBody>
      </p:sp>
      <p:sp>
        <p:nvSpPr>
          <p:cNvPr id="845" name="Google Shape;845;p8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46" name="Google Shape;846;p84"/>
          <p:cNvPicPr preferRelativeResize="0"/>
          <p:nvPr/>
        </p:nvPicPr>
        <p:blipFill>
          <a:blip r:embed="rId4">
            <a:alphaModFix/>
          </a:blip>
          <a:stretch>
            <a:fillRect/>
          </a:stretch>
        </p:blipFill>
        <p:spPr>
          <a:xfrm>
            <a:off x="5765975" y="3174626"/>
            <a:ext cx="2647975" cy="1488774"/>
          </a:xfrm>
          <a:prstGeom prst="rect">
            <a:avLst/>
          </a:prstGeom>
          <a:noFill/>
          <a:ln>
            <a:noFill/>
          </a:ln>
        </p:spPr>
      </p:pic>
      <p:sp>
        <p:nvSpPr>
          <p:cNvPr id="847" name="Google Shape;847;p84"/>
          <p:cNvSpPr txBox="1"/>
          <p:nvPr/>
        </p:nvSpPr>
        <p:spPr>
          <a:xfrm>
            <a:off x="4695150" y="4672000"/>
            <a:ext cx="37773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solidFill>
                  <a:schemeClr val="dk1"/>
                </a:solidFill>
                <a:latin typeface="Roboto Light"/>
                <a:ea typeface="Roboto Light"/>
                <a:cs typeface="Roboto Light"/>
                <a:sym typeface="Roboto Light"/>
              </a:rPr>
              <a:t>TaB soda: Precursor to Diet Coke</a:t>
            </a:r>
            <a:endParaRPr sz="1200">
              <a:solidFill>
                <a:schemeClr val="dk1"/>
              </a:solidFill>
              <a:latin typeface="Roboto Light"/>
              <a:ea typeface="Roboto Light"/>
              <a:cs typeface="Roboto Light"/>
              <a:sym typeface="Roboto Light"/>
            </a:endParaRPr>
          </a:p>
        </p:txBody>
      </p:sp>
      <p:cxnSp>
        <p:nvCxnSpPr>
          <p:cNvPr id="848" name="Google Shape;848;p84"/>
          <p:cNvCxnSpPr/>
          <p:nvPr/>
        </p:nvCxnSpPr>
        <p:spPr>
          <a:xfrm flipH="1">
            <a:off x="5801525" y="1766950"/>
            <a:ext cx="32700" cy="3723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85"/>
          <p:cNvSpPr txBox="1"/>
          <p:nvPr>
            <p:ph idx="2" type="body"/>
          </p:nvPr>
        </p:nvSpPr>
        <p:spPr>
          <a:xfrm>
            <a:off x="4667425" y="402200"/>
            <a:ext cx="4302300" cy="2169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CA Senators+Reps data</a:t>
            </a:r>
            <a:r>
              <a:rPr lang="en"/>
              <a:t> (</a:t>
            </a:r>
            <a:r>
              <a:rPr lang="en" u="sng">
                <a:solidFill>
                  <a:schemeClr val="hlink"/>
                </a:solidFill>
                <a:hlinkClick r:id="rId3"/>
              </a:rPr>
              <a:t>congress.gov API</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Very similar to Python dictionaries</a:t>
            </a:r>
            <a:endParaRPr/>
          </a:p>
          <a:p>
            <a:pPr indent="-330200" lvl="0" marL="457200" rtl="0" algn="l">
              <a:spcBef>
                <a:spcPts val="600"/>
              </a:spcBef>
              <a:spcAft>
                <a:spcPts val="0"/>
              </a:spcAft>
              <a:buSzPts val="1600"/>
              <a:buChar char="●"/>
            </a:pPr>
            <a:r>
              <a:rPr b="1" lang="en">
                <a:latin typeface="Roboto"/>
                <a:ea typeface="Roboto"/>
                <a:cs typeface="Roboto"/>
                <a:sym typeface="Roboto"/>
              </a:rPr>
              <a:t>Self-documenting</a:t>
            </a:r>
            <a:r>
              <a:rPr lang="en"/>
              <a:t>: M</a:t>
            </a:r>
            <a:r>
              <a:rPr lang="en"/>
              <a:t>etadata (data about the data) + records in the same file</a:t>
            </a:r>
            <a:endParaRPr>
              <a:latin typeface="Roboto Mono Light"/>
              <a:ea typeface="Roboto Mono Light"/>
              <a:cs typeface="Roboto Mono Light"/>
              <a:sym typeface="Roboto Mono Light"/>
            </a:endParaRPr>
          </a:p>
        </p:txBody>
      </p:sp>
      <p:sp>
        <p:nvSpPr>
          <p:cNvPr id="854" name="Google Shape;854;p85"/>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JSON: JavaScript Object Notation</a:t>
            </a:r>
            <a:endParaRPr>
              <a:solidFill>
                <a:schemeClr val="accent3"/>
              </a:solidFill>
            </a:endParaRPr>
          </a:p>
        </p:txBody>
      </p:sp>
      <p:sp>
        <p:nvSpPr>
          <p:cNvPr id="855" name="Google Shape;855;p8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56" name="Google Shape;856;p85"/>
          <p:cNvSpPr txBox="1"/>
          <p:nvPr/>
        </p:nvSpPr>
        <p:spPr>
          <a:xfrm>
            <a:off x="4667425" y="2278550"/>
            <a:ext cx="3729900" cy="24780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b="1" lang="en" sz="1600" u="sng">
                <a:solidFill>
                  <a:schemeClr val="hlink"/>
                </a:solidFill>
                <a:latin typeface="Roboto Mono"/>
                <a:ea typeface="Roboto Mono"/>
                <a:cs typeface="Roboto Mono"/>
                <a:sym typeface="Roboto Mono"/>
                <a:hlinkClick r:id="rId4"/>
              </a:rPr>
              <a:t>pd.read_json</a:t>
            </a:r>
            <a:r>
              <a:rPr b="1" lang="en" sz="1600" u="sng">
                <a:solidFill>
                  <a:schemeClr val="hlink"/>
                </a:solidFill>
                <a:latin typeface="Roboto Mono"/>
                <a:ea typeface="Roboto Mono"/>
                <a:cs typeface="Roboto Mono"/>
                <a:sym typeface="Roboto Mono"/>
              </a:rPr>
              <a:t>()</a:t>
            </a:r>
            <a:br>
              <a:rPr lang="en" sz="1600">
                <a:solidFill>
                  <a:schemeClr val="dk1"/>
                </a:solidFill>
                <a:latin typeface="Roboto Light"/>
                <a:ea typeface="Roboto Light"/>
                <a:cs typeface="Roboto Light"/>
                <a:sym typeface="Roboto Light"/>
              </a:rPr>
            </a:br>
            <a:br>
              <a:rPr lang="en" sz="1600">
                <a:solidFill>
                  <a:schemeClr val="dk1"/>
                </a:solidFill>
                <a:latin typeface="Roboto Light"/>
                <a:ea typeface="Roboto Light"/>
                <a:cs typeface="Roboto Light"/>
                <a:sym typeface="Roboto Light"/>
              </a:rPr>
            </a:br>
            <a:r>
              <a:rPr b="1" lang="en" sz="1600" u="sng">
                <a:solidFill>
                  <a:schemeClr val="hlink"/>
                </a:solidFill>
                <a:latin typeface="Roboto Mono"/>
                <a:ea typeface="Roboto Mono"/>
                <a:cs typeface="Roboto Mono"/>
                <a:sym typeface="Roboto Mono"/>
                <a:hlinkClick r:id="rId5"/>
              </a:rPr>
              <a:t>pd.DataFrame(json_dict)</a:t>
            </a:r>
            <a:br>
              <a:rPr lang="en" sz="1600">
                <a:solidFill>
                  <a:schemeClr val="dk1"/>
                </a:solidFill>
                <a:latin typeface="Roboto Light"/>
                <a:ea typeface="Roboto Light"/>
                <a:cs typeface="Roboto Light"/>
                <a:sym typeface="Roboto Light"/>
              </a:rPr>
            </a:br>
            <a:br>
              <a:rPr lang="en" sz="1600">
                <a:solidFill>
                  <a:schemeClr val="dk1"/>
                </a:solidFill>
                <a:latin typeface="Roboto Light"/>
                <a:ea typeface="Roboto Light"/>
                <a:cs typeface="Roboto Light"/>
                <a:sym typeface="Roboto Light"/>
              </a:rPr>
            </a:br>
            <a:br>
              <a:rPr lang="en" sz="1600">
                <a:solidFill>
                  <a:schemeClr val="dk1"/>
                </a:solidFill>
                <a:latin typeface="Roboto Light"/>
                <a:ea typeface="Roboto Light"/>
                <a:cs typeface="Roboto Light"/>
                <a:sym typeface="Roboto Light"/>
              </a:rPr>
            </a:br>
            <a:r>
              <a:rPr lang="en" sz="1600">
                <a:solidFill>
                  <a:schemeClr val="dk1"/>
                </a:solidFill>
                <a:latin typeface="Roboto Light"/>
                <a:ea typeface="Roboto Light"/>
                <a:cs typeface="Roboto Light"/>
                <a:sym typeface="Roboto Light"/>
              </a:rPr>
              <a:t>JSON is </a:t>
            </a:r>
            <a:r>
              <a:rPr b="1" lang="en" sz="1600">
                <a:solidFill>
                  <a:schemeClr val="dk1"/>
                </a:solidFill>
                <a:latin typeface="Roboto"/>
                <a:ea typeface="Roboto"/>
                <a:cs typeface="Roboto"/>
                <a:sym typeface="Roboto"/>
              </a:rPr>
              <a:t>non-rectangular</a:t>
            </a:r>
            <a:r>
              <a:rPr lang="en" sz="1600">
                <a:solidFill>
                  <a:schemeClr val="dk1"/>
                </a:solidFill>
                <a:latin typeface="Roboto Light"/>
                <a:ea typeface="Roboto Light"/>
                <a:cs typeface="Roboto Light"/>
                <a:sym typeface="Roboto Light"/>
              </a:rPr>
              <a:t>, so good to inspect the file before importing.</a:t>
            </a:r>
            <a:endParaRPr sz="1600">
              <a:solidFill>
                <a:schemeClr val="dk1"/>
              </a:solidFill>
              <a:latin typeface="Roboto Light"/>
              <a:ea typeface="Roboto Light"/>
              <a:cs typeface="Roboto Light"/>
              <a:sym typeface="Roboto Light"/>
            </a:endParaRPr>
          </a:p>
          <a:p>
            <a:pPr indent="-330200" lvl="0" marL="457200" rtl="0" algn="l">
              <a:spcBef>
                <a:spcPts val="600"/>
              </a:spcBef>
              <a:spcAft>
                <a:spcPts val="0"/>
              </a:spcAft>
              <a:buClr>
                <a:schemeClr val="dk1"/>
              </a:buClr>
              <a:buSzPts val="1600"/>
              <a:buFont typeface="Roboto Light"/>
              <a:buChar char="●"/>
            </a:pPr>
            <a:r>
              <a:rPr lang="en" sz="1600">
                <a:solidFill>
                  <a:schemeClr val="dk1"/>
                </a:solidFill>
                <a:latin typeface="Roboto Light"/>
                <a:ea typeface="Roboto Light"/>
                <a:cs typeface="Roboto Light"/>
                <a:sym typeface="Roboto Light"/>
              </a:rPr>
              <a:t>Nested tables</a:t>
            </a:r>
            <a:endParaRPr sz="1600">
              <a:solidFill>
                <a:schemeClr val="dk1"/>
              </a:solidFill>
              <a:latin typeface="Roboto Light"/>
              <a:ea typeface="Roboto Light"/>
              <a:cs typeface="Roboto Light"/>
              <a:sym typeface="Roboto Light"/>
            </a:endParaRPr>
          </a:p>
          <a:p>
            <a:pPr indent="-330200" lvl="0" marL="457200" rtl="0" algn="l">
              <a:spcBef>
                <a:spcPts val="0"/>
              </a:spcBef>
              <a:spcAft>
                <a:spcPts val="0"/>
              </a:spcAft>
              <a:buClr>
                <a:schemeClr val="dk1"/>
              </a:buClr>
              <a:buSzPts val="1600"/>
              <a:buFont typeface="Roboto Light"/>
              <a:buChar char="●"/>
            </a:pPr>
            <a:r>
              <a:rPr lang="en" sz="1600">
                <a:solidFill>
                  <a:schemeClr val="dk1"/>
                </a:solidFill>
                <a:latin typeface="Roboto Light"/>
                <a:ea typeface="Roboto Light"/>
                <a:cs typeface="Roboto Light"/>
                <a:sym typeface="Roboto Light"/>
              </a:rPr>
              <a:t>Inconsistent fields across records</a:t>
            </a:r>
            <a:endParaRPr sz="1600">
              <a:solidFill>
                <a:schemeClr val="dk1"/>
              </a:solidFill>
              <a:latin typeface="Roboto Light"/>
              <a:ea typeface="Roboto Light"/>
              <a:cs typeface="Roboto Light"/>
              <a:sym typeface="Roboto Ligh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8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2" name="Google Shape;862;p86"/>
          <p:cNvSpPr txBox="1"/>
          <p:nvPr>
            <p:ph idx="1" type="body"/>
          </p:nvPr>
        </p:nvSpPr>
        <p:spPr>
          <a:xfrm>
            <a:off x="4882900" y="448050"/>
            <a:ext cx="3950100" cy="4124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solidFill>
                  <a:schemeClr val="dk2"/>
                </a:solidFill>
                <a:latin typeface="Roboto"/>
                <a:ea typeface="Roboto"/>
                <a:cs typeface="Roboto"/>
                <a:sym typeface="Roboto"/>
              </a:rPr>
              <a:t>Structure </a:t>
            </a:r>
            <a:r>
              <a:rPr lang="en">
                <a:solidFill>
                  <a:schemeClr val="dk2"/>
                </a:solidFill>
              </a:rPr>
              <a:t>-- the "shape" of a data file</a:t>
            </a:r>
            <a:endParaRPr>
              <a:solidFill>
                <a:schemeClr val="dk2"/>
              </a:solidFill>
            </a:endParaRPr>
          </a:p>
          <a:p>
            <a:pPr indent="0" lvl="0" marL="0" rtl="0" algn="l">
              <a:spcBef>
                <a:spcPts val="600"/>
              </a:spcBef>
              <a:spcAft>
                <a:spcPts val="0"/>
              </a:spcAft>
              <a:buNone/>
            </a:pPr>
            <a:r>
              <a:t/>
            </a:r>
            <a:endParaRPr>
              <a:solidFill>
                <a:schemeClr val="dk2"/>
              </a:solidFill>
            </a:endParaRPr>
          </a:p>
          <a:p>
            <a:pPr indent="0" lvl="0" marL="0" rtl="0" algn="l">
              <a:spcBef>
                <a:spcPts val="600"/>
              </a:spcBef>
              <a:spcAft>
                <a:spcPts val="0"/>
              </a:spcAft>
              <a:buNone/>
            </a:pPr>
            <a:r>
              <a:rPr b="1" lang="en">
                <a:solidFill>
                  <a:schemeClr val="dk2"/>
                </a:solidFill>
                <a:latin typeface="Roboto"/>
                <a:ea typeface="Roboto"/>
                <a:cs typeface="Roboto"/>
                <a:sym typeface="Roboto"/>
              </a:rPr>
              <a:t>Granularity</a:t>
            </a:r>
            <a:r>
              <a:rPr lang="en">
                <a:solidFill>
                  <a:schemeClr val="dk2"/>
                </a:solidFill>
              </a:rPr>
              <a:t> -- how fine/coarse is each datum</a:t>
            </a:r>
            <a:endParaRPr>
              <a:solidFill>
                <a:schemeClr val="dk2"/>
              </a:solidFill>
            </a:endParaRPr>
          </a:p>
          <a:p>
            <a:pPr indent="0" lvl="0" marL="0" rtl="0" algn="l">
              <a:spcBef>
                <a:spcPts val="600"/>
              </a:spcBef>
              <a:spcAft>
                <a:spcPts val="0"/>
              </a:spcAft>
              <a:buNone/>
            </a:pPr>
            <a:r>
              <a:t/>
            </a:r>
            <a:endParaRPr>
              <a:solidFill>
                <a:schemeClr val="dk2"/>
              </a:solidFill>
            </a:endParaRPr>
          </a:p>
          <a:p>
            <a:pPr indent="0" lvl="0" marL="0" rtl="0" algn="l">
              <a:spcBef>
                <a:spcPts val="600"/>
              </a:spcBef>
              <a:spcAft>
                <a:spcPts val="0"/>
              </a:spcAft>
              <a:buNone/>
            </a:pPr>
            <a:r>
              <a:rPr b="1" lang="en">
                <a:solidFill>
                  <a:schemeClr val="dk2"/>
                </a:solidFill>
                <a:latin typeface="Roboto"/>
                <a:ea typeface="Roboto"/>
                <a:cs typeface="Roboto"/>
                <a:sym typeface="Roboto"/>
              </a:rPr>
              <a:t>Temporality</a:t>
            </a:r>
            <a:r>
              <a:rPr lang="en">
                <a:solidFill>
                  <a:schemeClr val="dk2"/>
                </a:solidFill>
              </a:rPr>
              <a:t> -- how is the data situated in time</a:t>
            </a:r>
            <a:endParaRPr>
              <a:solidFill>
                <a:schemeClr val="dk2"/>
              </a:solidFill>
            </a:endParaRPr>
          </a:p>
          <a:p>
            <a:pPr indent="0" lvl="0" marL="0" rtl="0" algn="l">
              <a:spcBef>
                <a:spcPts val="600"/>
              </a:spcBef>
              <a:spcAft>
                <a:spcPts val="0"/>
              </a:spcAft>
              <a:buNone/>
            </a:pPr>
            <a:r>
              <a:t/>
            </a:r>
            <a:endParaRPr>
              <a:solidFill>
                <a:schemeClr val="dk2"/>
              </a:solidFill>
            </a:endParaRPr>
          </a:p>
          <a:p>
            <a:pPr indent="0" lvl="0" marL="0" rtl="0" algn="l">
              <a:spcBef>
                <a:spcPts val="600"/>
              </a:spcBef>
              <a:spcAft>
                <a:spcPts val="0"/>
              </a:spcAft>
              <a:buNone/>
            </a:pPr>
            <a:r>
              <a:rPr b="1" lang="en">
                <a:latin typeface="Roboto"/>
                <a:ea typeface="Roboto"/>
                <a:cs typeface="Roboto"/>
                <a:sym typeface="Roboto"/>
              </a:rPr>
              <a:t>Faithfulness</a:t>
            </a:r>
            <a:r>
              <a:rPr lang="en"/>
              <a:t> -- how well does the data capture "reality"</a:t>
            </a:r>
            <a:endParaRPr/>
          </a:p>
        </p:txBody>
      </p:sp>
      <p:sp>
        <p:nvSpPr>
          <p:cNvPr id="863" name="Google Shape;863;p86"/>
          <p:cNvSpPr txBox="1"/>
          <p:nvPr/>
        </p:nvSpPr>
        <p:spPr>
          <a:xfrm>
            <a:off x="177925" y="2313850"/>
            <a:ext cx="4038000" cy="2037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rgbClr val="0B5394"/>
                </a:solidFill>
                <a:latin typeface="Roboto Medium"/>
                <a:ea typeface="Roboto Medium"/>
                <a:cs typeface="Roboto Medium"/>
                <a:sym typeface="Roboto Medium"/>
              </a:rPr>
              <a:t>Key Data Properties to Consider in EDA</a:t>
            </a:r>
            <a:endParaRPr sz="3600">
              <a:solidFill>
                <a:srgbClr val="0B5394"/>
              </a:solidFill>
              <a:latin typeface="Roboto Medium"/>
              <a:ea typeface="Roboto Medium"/>
              <a:cs typeface="Roboto Medium"/>
              <a:sym typeface="Roboto Medium"/>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7" name="Shape 867"/>
        <p:cNvGrpSpPr/>
        <p:nvPr/>
      </p:nvGrpSpPr>
      <p:grpSpPr>
        <a:xfrm>
          <a:off x="0" y="0"/>
          <a:ext cx="0" cy="0"/>
          <a:chOff x="0" y="0"/>
          <a:chExt cx="0" cy="0"/>
        </a:xfrm>
      </p:grpSpPr>
      <p:sp>
        <p:nvSpPr>
          <p:cNvPr id="868" name="Google Shape;868;p87"/>
          <p:cNvSpPr txBox="1"/>
          <p:nvPr>
            <p:ph idx="1" type="body"/>
          </p:nvPr>
        </p:nvSpPr>
        <p:spPr>
          <a:xfrm>
            <a:off x="107050" y="402200"/>
            <a:ext cx="8520600" cy="3161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latin typeface="Roboto"/>
                <a:ea typeface="Roboto"/>
                <a:cs typeface="Roboto"/>
                <a:sym typeface="Roboto"/>
              </a:rPr>
              <a:t>Key Questions</a:t>
            </a:r>
            <a:r>
              <a:rPr lang="en"/>
              <a:t>: How well does our data reflect reality? Are there discrepancies between what the data says and reality?</a:t>
            </a:r>
            <a:endParaRPr/>
          </a:p>
          <a:p>
            <a:pPr indent="-330200" lvl="0" marL="457200" rtl="0" algn="l">
              <a:lnSpc>
                <a:spcPct val="150000"/>
              </a:lnSpc>
              <a:spcBef>
                <a:spcPts val="600"/>
              </a:spcBef>
              <a:spcAft>
                <a:spcPts val="0"/>
              </a:spcAft>
              <a:buSzPts val="1600"/>
              <a:buChar char="●"/>
            </a:pPr>
            <a:r>
              <a:rPr lang="en"/>
              <a:t>Some questions to help with the answers:</a:t>
            </a:r>
            <a:endParaRPr/>
          </a:p>
          <a:p>
            <a:pPr indent="-330200" lvl="1" marL="914400" rtl="0" algn="l">
              <a:lnSpc>
                <a:spcPct val="150000"/>
              </a:lnSpc>
              <a:spcBef>
                <a:spcPts val="0"/>
              </a:spcBef>
              <a:spcAft>
                <a:spcPts val="0"/>
              </a:spcAft>
              <a:buSzPts val="1600"/>
              <a:buChar char="○"/>
            </a:pPr>
            <a:r>
              <a:rPr lang="en"/>
              <a:t>Are there any biases in the data collection process?</a:t>
            </a:r>
            <a:endParaRPr/>
          </a:p>
          <a:p>
            <a:pPr indent="-330200" lvl="1" marL="914400" rtl="0" algn="l">
              <a:lnSpc>
                <a:spcPct val="150000"/>
              </a:lnSpc>
              <a:spcBef>
                <a:spcPts val="0"/>
              </a:spcBef>
              <a:spcAft>
                <a:spcPts val="0"/>
              </a:spcAft>
              <a:buSzPts val="1600"/>
              <a:buChar char="○"/>
            </a:pPr>
            <a:r>
              <a:rPr lang="en"/>
              <a:t>Who (or what) might not be represented in this data?</a:t>
            </a:r>
            <a:endParaRPr/>
          </a:p>
          <a:p>
            <a:pPr indent="-330200" lvl="1" marL="914400" rtl="0" algn="l">
              <a:lnSpc>
                <a:spcPct val="150000"/>
              </a:lnSpc>
              <a:spcBef>
                <a:spcPts val="0"/>
              </a:spcBef>
              <a:spcAft>
                <a:spcPts val="0"/>
              </a:spcAft>
              <a:buSzPts val="1600"/>
              <a:buChar char="○"/>
            </a:pPr>
            <a:r>
              <a:rPr lang="en"/>
              <a:t>Would the data look different if it were collected by someone else?</a:t>
            </a:r>
            <a:endParaRPr/>
          </a:p>
          <a:p>
            <a:pPr indent="-330200" lvl="1" marL="914400" rtl="0" algn="l">
              <a:lnSpc>
                <a:spcPct val="150000"/>
              </a:lnSpc>
              <a:spcBef>
                <a:spcPts val="0"/>
              </a:spcBef>
              <a:spcAft>
                <a:spcPts val="0"/>
              </a:spcAft>
              <a:buSzPts val="1600"/>
              <a:buChar char="○"/>
            </a:pPr>
            <a:r>
              <a:rPr lang="en"/>
              <a:t>Why is the data grouped/sliced the way it is?</a:t>
            </a:r>
            <a:endParaRPr/>
          </a:p>
          <a:p>
            <a:pPr indent="-330200" lvl="1" marL="914400" rtl="0" algn="l">
              <a:lnSpc>
                <a:spcPct val="150000"/>
              </a:lnSpc>
              <a:spcBef>
                <a:spcPts val="0"/>
              </a:spcBef>
              <a:spcAft>
                <a:spcPts val="0"/>
              </a:spcAft>
              <a:buSzPts val="1600"/>
              <a:buChar char="○"/>
            </a:pPr>
            <a:r>
              <a:rPr lang="en"/>
              <a:t>Were there relevant limitations in the data-gathering process?</a:t>
            </a:r>
            <a:endParaRPr/>
          </a:p>
        </p:txBody>
      </p:sp>
      <p:sp>
        <p:nvSpPr>
          <p:cNvPr id="869" name="Google Shape;869;p8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Faithfulness: Do I trust this data?</a:t>
            </a:r>
            <a:endParaRPr/>
          </a:p>
        </p:txBody>
      </p:sp>
      <p:sp>
        <p:nvSpPr>
          <p:cNvPr id="870" name="Google Shape;870;p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4" name="Shape 874"/>
        <p:cNvGrpSpPr/>
        <p:nvPr/>
      </p:nvGrpSpPr>
      <p:grpSpPr>
        <a:xfrm>
          <a:off x="0" y="0"/>
          <a:ext cx="0" cy="0"/>
          <a:chOff x="0" y="0"/>
          <a:chExt cx="0" cy="0"/>
        </a:xfrm>
      </p:grpSpPr>
      <p:sp>
        <p:nvSpPr>
          <p:cNvPr descr="title-id" id="875" name="Google Shape;875;p88"/>
          <p:cNvSpPr txBox="1"/>
          <p:nvPr/>
        </p:nvSpPr>
        <p:spPr>
          <a:xfrm>
            <a:off x="2334638" y="1320628"/>
            <a:ext cx="6364800" cy="175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200">
                <a:solidFill>
                  <a:srgbClr val="5B5B5B"/>
                </a:solidFill>
                <a:latin typeface="Inter"/>
                <a:ea typeface="Inter"/>
                <a:cs typeface="Inter"/>
                <a:sym typeface="Inter"/>
              </a:rPr>
              <a:t>What are some potential issues with this dataset? You can answer more than once.</a:t>
            </a:r>
            <a:endParaRPr b="1" sz="3200">
              <a:solidFill>
                <a:srgbClr val="5B5B5B"/>
              </a:solidFill>
              <a:latin typeface="Inter"/>
              <a:ea typeface="Inter"/>
              <a:cs typeface="Inter"/>
              <a:sym typeface="Inter"/>
            </a:endParaRPr>
          </a:p>
        </p:txBody>
      </p:sp>
      <p:pic>
        <p:nvPicPr>
          <p:cNvPr descr="logo-id" id="876" name="Google Shape;876;p88">
            <a:hlinkClick r:id="rId3"/>
          </p:cNvPr>
          <p:cNvPicPr preferRelativeResize="0"/>
          <p:nvPr/>
        </p:nvPicPr>
        <p:blipFill>
          <a:blip r:embed="rId4">
            <a:alphaModFix/>
          </a:blip>
          <a:stretch>
            <a:fillRect/>
          </a:stretch>
        </p:blipFill>
        <p:spPr>
          <a:xfrm>
            <a:off x="7921094" y="4476329"/>
            <a:ext cx="1111733" cy="555866"/>
          </a:xfrm>
          <a:prstGeom prst="rect">
            <a:avLst/>
          </a:prstGeom>
          <a:noFill/>
          <a:ln>
            <a:noFill/>
          </a:ln>
        </p:spPr>
      </p:pic>
      <p:sp>
        <p:nvSpPr>
          <p:cNvPr descr="footer-id" id="877" name="Google Shape;877;p88"/>
          <p:cNvSpPr txBox="1"/>
          <p:nvPr/>
        </p:nvSpPr>
        <p:spPr>
          <a:xfrm>
            <a:off x="2286000" y="4381500"/>
            <a:ext cx="304800" cy="38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rgbClr val="5B5B5B"/>
                </a:solidFill>
                <a:latin typeface="Roboto"/>
                <a:ea typeface="Roboto"/>
                <a:cs typeface="Roboto"/>
                <a:sym typeface="Roboto"/>
              </a:rPr>
              <a:t>ⓘ</a:t>
            </a:r>
            <a:endParaRPr b="1" sz="1300">
              <a:solidFill>
                <a:srgbClr val="5B5B5B"/>
              </a:solidFill>
              <a:latin typeface="Roboto"/>
              <a:ea typeface="Roboto"/>
              <a:cs typeface="Roboto"/>
              <a:sym typeface="Roboto"/>
            </a:endParaRPr>
          </a:p>
        </p:txBody>
      </p:sp>
      <p:sp>
        <p:nvSpPr>
          <p:cNvPr descr="footer-id" id="878" name="Google Shape;878;p88"/>
          <p:cNvSpPr txBox="1"/>
          <p:nvPr/>
        </p:nvSpPr>
        <p:spPr>
          <a:xfrm>
            <a:off x="2590800" y="4381500"/>
            <a:ext cx="6045300" cy="38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5B5B5B"/>
                </a:solidFill>
                <a:latin typeface="Roboto Light"/>
                <a:ea typeface="Roboto Light"/>
                <a:cs typeface="Roboto Light"/>
                <a:sym typeface="Roboto Light"/>
              </a:rPr>
              <a:t>Click </a:t>
            </a:r>
            <a:r>
              <a:rPr b="1" lang="en">
                <a:solidFill>
                  <a:srgbClr val="5B5B5B"/>
                </a:solidFill>
                <a:latin typeface="Roboto"/>
                <a:ea typeface="Roboto"/>
                <a:cs typeface="Roboto"/>
                <a:sym typeface="Roboto"/>
              </a:rPr>
              <a:t>Present with Slido</a:t>
            </a:r>
            <a:r>
              <a:rPr lang="en">
                <a:solidFill>
                  <a:srgbClr val="5B5B5B"/>
                </a:solidFill>
                <a:latin typeface="Roboto Light"/>
                <a:ea typeface="Roboto Light"/>
                <a:cs typeface="Roboto Light"/>
                <a:sym typeface="Roboto Light"/>
              </a:rPr>
              <a:t> or install our </a:t>
            </a:r>
            <a:r>
              <a:rPr lang="en" u="sng">
                <a:solidFill>
                  <a:schemeClr val="hlink"/>
                </a:solidFill>
                <a:latin typeface="Roboto Light"/>
                <a:ea typeface="Roboto Light"/>
                <a:cs typeface="Roboto Light"/>
                <a:sym typeface="Roboto Light"/>
                <a:hlinkClick r:id="rId5"/>
              </a:rPr>
              <a:t>Chrome extension</a:t>
            </a:r>
            <a:r>
              <a:rPr lang="en">
                <a:solidFill>
                  <a:srgbClr val="5B5B5B"/>
                </a:solidFill>
                <a:latin typeface="Roboto Light"/>
                <a:ea typeface="Roboto Light"/>
                <a:cs typeface="Roboto Light"/>
                <a:sym typeface="Roboto Light"/>
              </a:rPr>
              <a:t> to activate this poll while presenting.</a:t>
            </a:r>
            <a:endParaRPr>
              <a:solidFill>
                <a:srgbClr val="5B5B5B"/>
              </a:solidFill>
              <a:latin typeface="Roboto Light"/>
              <a:ea typeface="Roboto Light"/>
              <a:cs typeface="Roboto Light"/>
              <a:sym typeface="Roboto Light"/>
            </a:endParaRPr>
          </a:p>
        </p:txBody>
      </p:sp>
      <p:pic>
        <p:nvPicPr>
          <p:cNvPr descr="poll-type-id" id="879" name="Google Shape;879;p88">
            <a:hlinkClick r:id="rId6"/>
          </p:cNvPr>
          <p:cNvPicPr preferRelativeResize="0"/>
          <p:nvPr/>
        </p:nvPicPr>
        <p:blipFill>
          <a:blip r:embed="rId7">
            <a:alphaModFix/>
          </a:blip>
          <a:stretch>
            <a:fillRect/>
          </a:stretch>
        </p:blipFill>
        <p:spPr>
          <a:xfrm>
            <a:off x="333520" y="1307027"/>
            <a:ext cx="1778772" cy="177877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8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85" name="Google Shape;885;p8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are Some Potential Issues with this Dataset?</a:t>
            </a:r>
            <a:endParaRPr/>
          </a:p>
        </p:txBody>
      </p:sp>
      <p:graphicFrame>
        <p:nvGraphicFramePr>
          <p:cNvPr id="886" name="Google Shape;886;p89"/>
          <p:cNvGraphicFramePr/>
          <p:nvPr/>
        </p:nvGraphicFramePr>
        <p:xfrm>
          <a:off x="1033475" y="511300"/>
          <a:ext cx="3000000" cy="3000000"/>
        </p:xfrm>
        <a:graphic>
          <a:graphicData uri="http://schemas.openxmlformats.org/drawingml/2006/table">
            <a:tbl>
              <a:tblPr>
                <a:noFill/>
                <a:tableStyleId>{A18C7BDA-818C-4EB6-94C1-2E421272494B}</a:tableStyleId>
              </a:tblPr>
              <a:tblGrid>
                <a:gridCol w="528775"/>
                <a:gridCol w="1489800"/>
                <a:gridCol w="1018725"/>
                <a:gridCol w="960625"/>
                <a:gridCol w="698750"/>
                <a:gridCol w="1076500"/>
                <a:gridCol w="999050"/>
              </a:tblGrid>
              <a:tr h="696775">
                <a:tc>
                  <a:txBody>
                    <a:bodyPr/>
                    <a:lstStyle/>
                    <a:p>
                      <a:pPr indent="0" lvl="0" marL="0" rtl="0" algn="ctr">
                        <a:spcBef>
                          <a:spcPts val="0"/>
                        </a:spcBef>
                        <a:spcAft>
                          <a:spcPts val="0"/>
                        </a:spcAft>
                        <a:buNone/>
                      </a:pPr>
                      <a:r>
                        <a:rPr b="1" lang="en" sz="1300">
                          <a:latin typeface="Roboto"/>
                          <a:ea typeface="Roboto"/>
                          <a:cs typeface="Roboto"/>
                          <a:sym typeface="Roboto"/>
                        </a:rPr>
                        <a:t>ID</a:t>
                      </a:r>
                      <a:endParaRPr b="1" sz="1300">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Clr>
                          <a:schemeClr val="dk1"/>
                        </a:buClr>
                        <a:buSzPts val="1100"/>
                        <a:buFont typeface="Arial"/>
                        <a:buNone/>
                      </a:pPr>
                      <a:r>
                        <a:rPr b="1" lang="en" sz="1300">
                          <a:latin typeface="Roboto"/>
                          <a:ea typeface="Roboto"/>
                          <a:cs typeface="Roboto"/>
                          <a:sym typeface="Roboto"/>
                        </a:rPr>
                        <a:t>Category</a:t>
                      </a:r>
                      <a:endParaRPr b="1" sz="1300">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b="1" lang="en" sz="1300">
                          <a:latin typeface="Roboto"/>
                          <a:ea typeface="Roboto"/>
                          <a:cs typeface="Roboto"/>
                          <a:sym typeface="Roboto"/>
                        </a:rPr>
                        <a:t>State</a:t>
                      </a:r>
                      <a:endParaRPr b="1" sz="1300">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b="1" lang="en" sz="1300">
                          <a:latin typeface="Roboto"/>
                          <a:ea typeface="Roboto"/>
                          <a:cs typeface="Roboto"/>
                          <a:sym typeface="Roboto"/>
                        </a:rPr>
                        <a:t>Location</a:t>
                      </a:r>
                      <a:endParaRPr b="1" sz="1300">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b="1" lang="en" sz="1300">
                          <a:latin typeface="Roboto"/>
                          <a:ea typeface="Roboto"/>
                          <a:cs typeface="Roboto"/>
                          <a:sym typeface="Roboto"/>
                        </a:rPr>
                        <a:t>Device</a:t>
                      </a:r>
                      <a:endParaRPr b="1" sz="1300">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b="1" lang="en" sz="1300">
                          <a:solidFill>
                            <a:schemeClr val="dk1"/>
                          </a:solidFill>
                          <a:latin typeface="Roboto"/>
                          <a:ea typeface="Roboto"/>
                          <a:cs typeface="Roboto"/>
                          <a:sym typeface="Roboto"/>
                        </a:rPr>
                        <a:t>Purchased</a:t>
                      </a:r>
                      <a:endParaRPr b="1" sz="1300">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b="1" lang="en" sz="1300">
                          <a:latin typeface="Roboto"/>
                          <a:ea typeface="Roboto"/>
                          <a:cs typeface="Roboto"/>
                          <a:sym typeface="Roboto"/>
                        </a:rPr>
                        <a:t>…</a:t>
                      </a:r>
                      <a:endParaRPr b="1" sz="1300">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r>
              <a:tr h="341525">
                <a:tc>
                  <a:txBody>
                    <a:bodyPr/>
                    <a:lstStyle/>
                    <a:p>
                      <a:pPr indent="0" lvl="0" marL="0" rtl="0" algn="ctr">
                        <a:spcBef>
                          <a:spcPts val="0"/>
                        </a:spcBef>
                        <a:spcAft>
                          <a:spcPts val="0"/>
                        </a:spcAft>
                        <a:buNone/>
                      </a:pPr>
                      <a:r>
                        <a:rPr lang="en" sz="1300">
                          <a:latin typeface="Roboto Light"/>
                          <a:ea typeface="Roboto Light"/>
                          <a:cs typeface="Roboto Light"/>
                          <a:sym typeface="Roboto Light"/>
                        </a:rPr>
                        <a:t>0</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Shoes</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CA</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CA</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1</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1</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solidFill>
                            <a:schemeClr val="dk1"/>
                          </a:solidFill>
                          <a:latin typeface="Roboto Light"/>
                          <a:ea typeface="Roboto Light"/>
                          <a:cs typeface="Roboto Light"/>
                          <a:sym typeface="Roboto Light"/>
                        </a:rPr>
                        <a:t>…</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r>
              <a:tr h="341525">
                <a:tc>
                  <a:txBody>
                    <a:bodyPr/>
                    <a:lstStyle/>
                    <a:p>
                      <a:pPr indent="0" lvl="0" marL="0" rtl="0" algn="ctr">
                        <a:spcBef>
                          <a:spcPts val="0"/>
                        </a:spcBef>
                        <a:spcAft>
                          <a:spcPts val="0"/>
                        </a:spcAft>
                        <a:buNone/>
                      </a:pPr>
                      <a:r>
                        <a:rPr lang="en" sz="1300">
                          <a:latin typeface="Roboto Light"/>
                          <a:ea typeface="Roboto Light"/>
                          <a:cs typeface="Roboto Light"/>
                          <a:sym typeface="Roboto Light"/>
                        </a:rPr>
                        <a:t>1</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Socks</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NM</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NM</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1</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0</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solidFill>
                            <a:schemeClr val="dk1"/>
                          </a:solidFill>
                          <a:latin typeface="Roboto Light"/>
                          <a:ea typeface="Roboto Light"/>
                          <a:cs typeface="Roboto Light"/>
                          <a:sym typeface="Roboto Light"/>
                        </a:rPr>
                        <a:t>…</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r>
              <a:tr h="341525">
                <a:tc>
                  <a:txBody>
                    <a:bodyPr/>
                    <a:lstStyle/>
                    <a:p>
                      <a:pPr indent="0" lvl="0" marL="0" rtl="0" algn="ctr">
                        <a:spcBef>
                          <a:spcPts val="0"/>
                        </a:spcBef>
                        <a:spcAft>
                          <a:spcPts val="0"/>
                        </a:spcAft>
                        <a:buNone/>
                      </a:pPr>
                      <a:r>
                        <a:rPr lang="en" sz="1300">
                          <a:latin typeface="Roboto Light"/>
                          <a:ea typeface="Roboto Light"/>
                          <a:cs typeface="Roboto Light"/>
                          <a:sym typeface="Roboto Light"/>
                        </a:rPr>
                        <a:t>2</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Socks</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XY</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XY</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1</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0</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solidFill>
                            <a:schemeClr val="dk1"/>
                          </a:solidFill>
                          <a:latin typeface="Roboto Light"/>
                          <a:ea typeface="Roboto Light"/>
                          <a:cs typeface="Roboto Light"/>
                          <a:sym typeface="Roboto Light"/>
                        </a:rPr>
                        <a:t>…</a:t>
                      </a:r>
                      <a:endParaRPr sz="1300">
                        <a:solidFill>
                          <a:schemeClr val="dk1"/>
                        </a:solidFill>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r>
              <a:tr h="341525">
                <a:tc>
                  <a:txBody>
                    <a:bodyPr/>
                    <a:lstStyle/>
                    <a:p>
                      <a:pPr indent="0" lvl="0" marL="0" rtl="0" algn="ctr">
                        <a:spcBef>
                          <a:spcPts val="0"/>
                        </a:spcBef>
                        <a:spcAft>
                          <a:spcPts val="0"/>
                        </a:spcAft>
                        <a:buNone/>
                      </a:pPr>
                      <a:r>
                        <a:rPr lang="en" sz="1300">
                          <a:latin typeface="Roboto Light"/>
                          <a:ea typeface="Roboto Light"/>
                          <a:cs typeface="Roboto Light"/>
                          <a:sym typeface="Roboto Light"/>
                        </a:rPr>
                        <a:t>3</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Shirts</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NY</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NY</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1</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NA</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solidFill>
                            <a:schemeClr val="dk1"/>
                          </a:solidFill>
                          <a:latin typeface="Roboto Light"/>
                          <a:ea typeface="Roboto Light"/>
                          <a:cs typeface="Roboto Light"/>
                          <a:sym typeface="Roboto Light"/>
                        </a:rPr>
                        <a:t>…</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r>
              <a:tr h="341525">
                <a:tc>
                  <a:txBody>
                    <a:bodyPr/>
                    <a:lstStyle/>
                    <a:p>
                      <a:pPr indent="0" lvl="0" marL="0" rtl="0" algn="ctr">
                        <a:spcBef>
                          <a:spcPts val="0"/>
                        </a:spcBef>
                        <a:spcAft>
                          <a:spcPts val="0"/>
                        </a:spcAft>
                        <a:buNone/>
                      </a:pPr>
                      <a:r>
                        <a:rPr lang="en" sz="1300">
                          <a:latin typeface="Roboto Light"/>
                          <a:ea typeface="Roboto Light"/>
                          <a:cs typeface="Roboto Light"/>
                          <a:sym typeface="Roboto Light"/>
                        </a:rPr>
                        <a:t>4</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Shoes</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FL</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FL</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1</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0</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solidFill>
                            <a:schemeClr val="dk1"/>
                          </a:solidFill>
                          <a:latin typeface="Roboto Light"/>
                          <a:ea typeface="Roboto Light"/>
                          <a:cs typeface="Roboto Light"/>
                          <a:sym typeface="Roboto Light"/>
                        </a:rPr>
                        <a:t>…</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r>
              <a:tr h="341525">
                <a:tc>
                  <a:txBody>
                    <a:bodyPr/>
                    <a:lstStyle/>
                    <a:p>
                      <a:pPr indent="0" lvl="0" marL="0" rtl="0" algn="ctr">
                        <a:spcBef>
                          <a:spcPts val="0"/>
                        </a:spcBef>
                        <a:spcAft>
                          <a:spcPts val="0"/>
                        </a:spcAft>
                        <a:buNone/>
                      </a:pPr>
                      <a:r>
                        <a:rPr lang="en" sz="1300">
                          <a:latin typeface="Roboto Light"/>
                          <a:ea typeface="Roboto Light"/>
                          <a:cs typeface="Roboto Light"/>
                          <a:sym typeface="Roboto Light"/>
                        </a:rPr>
                        <a:t>4</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Shoes</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FL</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FL</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1</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0</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Light"/>
                          <a:ea typeface="Roboto Light"/>
                          <a:cs typeface="Roboto Light"/>
                          <a:sym typeface="Roboto Light"/>
                        </a:rPr>
                        <a:t>…</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r>
              <a:tr h="341525">
                <a:tc>
                  <a:txBody>
                    <a:bodyPr/>
                    <a:lstStyle/>
                    <a:p>
                      <a:pPr indent="0" lvl="0" marL="0" rtl="0" algn="ctr">
                        <a:spcBef>
                          <a:spcPts val="0"/>
                        </a:spcBef>
                        <a:spcAft>
                          <a:spcPts val="0"/>
                        </a:spcAft>
                        <a:buNone/>
                      </a:pPr>
                      <a:r>
                        <a:rPr lang="en" sz="1300">
                          <a:latin typeface="Roboto Light"/>
                          <a:ea typeface="Roboto Light"/>
                          <a:cs typeface="Roboto Light"/>
                          <a:sym typeface="Roboto Light"/>
                        </a:rPr>
                        <a:t>5</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Shirts</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CA</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CA</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1</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0</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Light"/>
                          <a:ea typeface="Roboto Light"/>
                          <a:cs typeface="Roboto Light"/>
                          <a:sym typeface="Roboto Light"/>
                        </a:rPr>
                        <a:t>…</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r>
              <a:tr h="341525">
                <a:tc>
                  <a:txBody>
                    <a:bodyPr/>
                    <a:lstStyle/>
                    <a:p>
                      <a:pPr indent="0" lvl="0" marL="0" rtl="0" algn="ctr">
                        <a:spcBef>
                          <a:spcPts val="0"/>
                        </a:spcBef>
                        <a:spcAft>
                          <a:spcPts val="0"/>
                        </a:spcAft>
                        <a:buNone/>
                      </a:pPr>
                      <a:r>
                        <a:rPr lang="en" sz="1300">
                          <a:latin typeface="Roboto Light"/>
                          <a:ea typeface="Roboto Light"/>
                          <a:cs typeface="Roboto Light"/>
                          <a:sym typeface="Roboto Light"/>
                        </a:rPr>
                        <a:t>6</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Pnts</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TX</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TX</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1</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1</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Light"/>
                          <a:ea typeface="Roboto Light"/>
                          <a:cs typeface="Roboto Light"/>
                          <a:sym typeface="Roboto Light"/>
                        </a:rPr>
                        <a:t>…</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r>
              <a:tr h="341525">
                <a:tc>
                  <a:txBody>
                    <a:bodyPr/>
                    <a:lstStyle/>
                    <a:p>
                      <a:pPr indent="0" lvl="0" marL="0" rtl="0" algn="ctr">
                        <a:spcBef>
                          <a:spcPts val="0"/>
                        </a:spcBef>
                        <a:spcAft>
                          <a:spcPts val="0"/>
                        </a:spcAft>
                        <a:buNone/>
                      </a:pPr>
                      <a:r>
                        <a:rPr lang="en" sz="1300">
                          <a:latin typeface="Roboto Light"/>
                          <a:ea typeface="Roboto Light"/>
                          <a:cs typeface="Roboto Light"/>
                          <a:sym typeface="Roboto Light"/>
                        </a:rPr>
                        <a:t>7</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Hats</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CA</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CA</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1</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-1</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Light"/>
                          <a:ea typeface="Roboto Light"/>
                          <a:cs typeface="Roboto Light"/>
                          <a:sym typeface="Roboto Light"/>
                        </a:rPr>
                        <a:t>…</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r>
              <a:tr h="341525">
                <a:tc>
                  <a:txBody>
                    <a:bodyPr/>
                    <a:lstStyle/>
                    <a:p>
                      <a:pPr indent="0" lvl="0" marL="0" rtl="0" algn="ctr">
                        <a:spcBef>
                          <a:spcPts val="0"/>
                        </a:spcBef>
                        <a:spcAft>
                          <a:spcPts val="0"/>
                        </a:spcAft>
                        <a:buNone/>
                      </a:pPr>
                      <a:r>
                        <a:rPr lang="en" sz="1300">
                          <a:latin typeface="Roboto Light"/>
                          <a:ea typeface="Roboto Light"/>
                          <a:cs typeface="Roboto Light"/>
                          <a:sym typeface="Roboto Light"/>
                        </a:rPr>
                        <a:t>…</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c>
                  <a:txBody>
                    <a:bodyPr/>
                    <a:lstStyle/>
                    <a:p>
                      <a:pPr indent="0" lvl="0" marL="0" rtl="0" algn="ctr">
                        <a:spcBef>
                          <a:spcPts val="0"/>
                        </a:spcBef>
                        <a:spcAft>
                          <a:spcPts val="0"/>
                        </a:spcAft>
                        <a:buNone/>
                      </a:pPr>
                      <a:r>
                        <a:rPr lang="en" sz="1300">
                          <a:latin typeface="Roboto Light"/>
                          <a:ea typeface="Roboto Light"/>
                          <a:cs typeface="Roboto Light"/>
                          <a:sym typeface="Roboto Light"/>
                        </a:rPr>
                        <a:t>…</a:t>
                      </a:r>
                      <a:endParaRPr sz="1300">
                        <a:latin typeface="Roboto Light"/>
                        <a:ea typeface="Roboto Light"/>
                        <a:cs typeface="Roboto Light"/>
                        <a:sym typeface="Roboto 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DF6E3"/>
                    </a:solidFill>
                  </a:tcPr>
                </a:tc>
              </a:tr>
            </a:tbl>
          </a:graphicData>
        </a:graphic>
      </p:graphicFrame>
      <p:sp>
        <p:nvSpPr>
          <p:cNvPr id="887" name="Google Shape;887;p89"/>
          <p:cNvSpPr/>
          <p:nvPr/>
        </p:nvSpPr>
        <p:spPr>
          <a:xfrm>
            <a:off x="852400" y="2634700"/>
            <a:ext cx="7042200" cy="9396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888" name="Google Shape;888;p89"/>
          <p:cNvSpPr/>
          <p:nvPr/>
        </p:nvSpPr>
        <p:spPr>
          <a:xfrm>
            <a:off x="2964875" y="511300"/>
            <a:ext cx="2066400" cy="45456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889" name="Google Shape;889;p89"/>
          <p:cNvSpPr/>
          <p:nvPr/>
        </p:nvSpPr>
        <p:spPr>
          <a:xfrm>
            <a:off x="2964875" y="1895950"/>
            <a:ext cx="1171200" cy="5451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890" name="Google Shape;890;p89"/>
          <p:cNvSpPr/>
          <p:nvPr/>
        </p:nvSpPr>
        <p:spPr>
          <a:xfrm>
            <a:off x="5104750" y="511300"/>
            <a:ext cx="697500" cy="46980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891" name="Google Shape;891;p89"/>
          <p:cNvSpPr/>
          <p:nvPr/>
        </p:nvSpPr>
        <p:spPr>
          <a:xfrm flipH="1">
            <a:off x="5706175" y="2305375"/>
            <a:ext cx="1171200" cy="4266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892" name="Google Shape;892;p89"/>
          <p:cNvSpPr/>
          <p:nvPr/>
        </p:nvSpPr>
        <p:spPr>
          <a:xfrm flipH="1">
            <a:off x="5706250" y="4210025"/>
            <a:ext cx="1100400" cy="4266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893" name="Google Shape;893;p89"/>
          <p:cNvSpPr/>
          <p:nvPr/>
        </p:nvSpPr>
        <p:spPr>
          <a:xfrm>
            <a:off x="1720200" y="3778775"/>
            <a:ext cx="1171200" cy="545100"/>
          </a:xfrm>
          <a:prstGeom prst="rect">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9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Faithfulness: Do I trust this data?</a:t>
            </a:r>
            <a:endParaRPr/>
          </a:p>
        </p:txBody>
      </p:sp>
      <p:sp>
        <p:nvSpPr>
          <p:cNvPr id="899" name="Google Shape;899;p9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00" name="Google Shape;900;p90"/>
          <p:cNvSpPr txBox="1"/>
          <p:nvPr/>
        </p:nvSpPr>
        <p:spPr>
          <a:xfrm>
            <a:off x="203775" y="617075"/>
            <a:ext cx="2407800" cy="12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u="sng">
                <a:solidFill>
                  <a:schemeClr val="accent4"/>
                </a:solidFill>
                <a:latin typeface="Roboto"/>
                <a:ea typeface="Roboto"/>
                <a:cs typeface="Roboto"/>
                <a:sym typeface="Roboto"/>
              </a:rPr>
              <a:t>Fully</a:t>
            </a:r>
            <a:r>
              <a:rPr b="1" lang="en" sz="1600">
                <a:solidFill>
                  <a:schemeClr val="accent4"/>
                </a:solidFill>
                <a:latin typeface="Roboto"/>
                <a:ea typeface="Roboto"/>
                <a:cs typeface="Roboto"/>
                <a:sym typeface="Roboto"/>
              </a:rPr>
              <a:t> Duplicated Records or Fields</a:t>
            </a:r>
            <a:endParaRPr b="1" sz="1600">
              <a:solidFill>
                <a:schemeClr val="accent4"/>
              </a:solidFill>
              <a:latin typeface="Roboto"/>
              <a:ea typeface="Roboto"/>
              <a:cs typeface="Roboto"/>
              <a:sym typeface="Roboto"/>
            </a:endParaRPr>
          </a:p>
          <a:p>
            <a:pPr indent="0" lvl="0" marL="0" rtl="0" algn="l">
              <a:spcBef>
                <a:spcPts val="600"/>
              </a:spcBef>
              <a:spcAft>
                <a:spcPts val="0"/>
              </a:spcAft>
              <a:buNone/>
            </a:pPr>
            <a:r>
              <a:rPr lang="en" sz="1600">
                <a:solidFill>
                  <a:schemeClr val="dk1"/>
                </a:solidFill>
                <a:latin typeface="Roboto Light"/>
                <a:ea typeface="Roboto Light"/>
                <a:cs typeface="Roboto Light"/>
                <a:sym typeface="Roboto Light"/>
              </a:rPr>
              <a:t>I</a:t>
            </a:r>
            <a:r>
              <a:rPr lang="en" sz="1600">
                <a:solidFill>
                  <a:schemeClr val="dk1"/>
                </a:solidFill>
                <a:latin typeface="Roboto Light"/>
                <a:ea typeface="Roboto Light"/>
                <a:cs typeface="Roboto Light"/>
                <a:sym typeface="Roboto Light"/>
              </a:rPr>
              <a:t>gnore/drop, if no reason for duplication.</a:t>
            </a:r>
            <a:endParaRPr sz="1600">
              <a:solidFill>
                <a:schemeClr val="dk1"/>
              </a:solidFill>
              <a:latin typeface="Roboto Light"/>
              <a:ea typeface="Roboto Light"/>
              <a:cs typeface="Roboto Light"/>
              <a:sym typeface="Roboto Light"/>
            </a:endParaRPr>
          </a:p>
        </p:txBody>
      </p:sp>
      <p:sp>
        <p:nvSpPr>
          <p:cNvPr id="901" name="Google Shape;901;p90"/>
          <p:cNvSpPr txBox="1"/>
          <p:nvPr/>
        </p:nvSpPr>
        <p:spPr>
          <a:xfrm>
            <a:off x="2842175" y="553550"/>
            <a:ext cx="2293800" cy="12468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b="1" lang="en" sz="1600">
                <a:solidFill>
                  <a:schemeClr val="accent4"/>
                </a:solidFill>
                <a:latin typeface="Roboto"/>
                <a:ea typeface="Roboto"/>
                <a:cs typeface="Roboto"/>
                <a:sym typeface="Roboto"/>
              </a:rPr>
              <a:t>Labeling or Spelling Errors</a:t>
            </a:r>
            <a:endParaRPr b="1" sz="1600">
              <a:solidFill>
                <a:schemeClr val="accent4"/>
              </a:solidFill>
              <a:latin typeface="Roboto"/>
              <a:ea typeface="Roboto"/>
              <a:cs typeface="Roboto"/>
              <a:sym typeface="Roboto"/>
            </a:endParaRPr>
          </a:p>
          <a:p>
            <a:pPr indent="0" lvl="0" marL="0" rtl="0" algn="l">
              <a:spcBef>
                <a:spcPts val="600"/>
              </a:spcBef>
              <a:spcAft>
                <a:spcPts val="0"/>
              </a:spcAft>
              <a:buNone/>
            </a:pPr>
            <a:r>
              <a:rPr lang="en" sz="1600">
                <a:solidFill>
                  <a:schemeClr val="dk1"/>
                </a:solidFill>
                <a:latin typeface="Roboto Light"/>
                <a:ea typeface="Roboto Light"/>
                <a:cs typeface="Roboto Light"/>
                <a:sym typeface="Roboto Light"/>
              </a:rPr>
              <a:t>Apply corrections. Only ignore if you have to.</a:t>
            </a:r>
            <a:endParaRPr sz="1600">
              <a:solidFill>
                <a:schemeClr val="dk1"/>
              </a:solidFill>
              <a:latin typeface="Roboto Light"/>
              <a:ea typeface="Roboto Light"/>
              <a:cs typeface="Roboto Light"/>
              <a:sym typeface="Roboto Light"/>
            </a:endParaRPr>
          </a:p>
        </p:txBody>
      </p:sp>
      <p:grpSp>
        <p:nvGrpSpPr>
          <p:cNvPr id="902" name="Google Shape;902;p90"/>
          <p:cNvGrpSpPr/>
          <p:nvPr/>
        </p:nvGrpSpPr>
        <p:grpSpPr>
          <a:xfrm>
            <a:off x="5283300" y="2038775"/>
            <a:ext cx="3003000" cy="1697250"/>
            <a:chOff x="5283300" y="1048175"/>
            <a:chExt cx="3003000" cy="1697250"/>
          </a:xfrm>
        </p:grpSpPr>
        <p:sp>
          <p:nvSpPr>
            <p:cNvPr id="903" name="Google Shape;903;p90"/>
            <p:cNvSpPr/>
            <p:nvPr/>
          </p:nvSpPr>
          <p:spPr>
            <a:xfrm>
              <a:off x="5283300" y="1048175"/>
              <a:ext cx="3003000" cy="1269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90"/>
            <p:cNvSpPr/>
            <p:nvPr/>
          </p:nvSpPr>
          <p:spPr>
            <a:xfrm>
              <a:off x="5283300" y="1107125"/>
              <a:ext cx="1467000" cy="12690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600" u="sng">
                  <a:latin typeface="Roboto Light"/>
                  <a:ea typeface="Roboto Light"/>
                  <a:cs typeface="Roboto Light"/>
                  <a:sym typeface="Roboto Light"/>
                </a:rPr>
                <a:t>Examples</a:t>
              </a:r>
              <a:endParaRPr sz="1600">
                <a:latin typeface="Roboto Light"/>
                <a:ea typeface="Roboto Light"/>
                <a:cs typeface="Roboto Light"/>
                <a:sym typeface="Roboto Light"/>
              </a:endParaRPr>
            </a:p>
            <a:p>
              <a:pPr indent="0" lvl="0" marL="0" rtl="0" algn="l">
                <a:spcBef>
                  <a:spcPts val="1000"/>
                </a:spcBef>
                <a:spcAft>
                  <a:spcPts val="0"/>
                </a:spcAft>
                <a:buNone/>
              </a:pPr>
              <a:r>
                <a:rPr lang="en" sz="1600">
                  <a:latin typeface="Roboto Mono Light"/>
                  <a:ea typeface="Roboto Mono Light"/>
                  <a:cs typeface="Roboto Mono Light"/>
                  <a:sym typeface="Roboto Mono Light"/>
                </a:rPr>
                <a:t>" "</a:t>
              </a:r>
              <a:endParaRPr sz="1600">
                <a:latin typeface="Roboto Mono Light"/>
                <a:ea typeface="Roboto Mono Light"/>
                <a:cs typeface="Roboto Mono Light"/>
                <a:sym typeface="Roboto Mono Light"/>
              </a:endParaRPr>
            </a:p>
            <a:p>
              <a:pPr indent="0" lvl="0" marL="0" rtl="0" algn="l">
                <a:spcBef>
                  <a:spcPts val="0"/>
                </a:spcBef>
                <a:spcAft>
                  <a:spcPts val="0"/>
                </a:spcAft>
                <a:buNone/>
              </a:pPr>
              <a:r>
                <a:rPr b="1" lang="en" sz="1600">
                  <a:latin typeface="Roboto Mono"/>
                  <a:ea typeface="Roboto Mono"/>
                  <a:cs typeface="Roboto Mono"/>
                  <a:sym typeface="Roboto Mono"/>
                </a:rPr>
                <a:t>0</a:t>
              </a:r>
              <a:r>
                <a:rPr lang="en" sz="1600">
                  <a:latin typeface="Roboto Mono Light"/>
                  <a:ea typeface="Roboto Mono Light"/>
                  <a:cs typeface="Roboto Mono Light"/>
                  <a:sym typeface="Roboto Mono Light"/>
                </a:rPr>
                <a:t>, -1</a:t>
              </a:r>
              <a:br>
                <a:rPr lang="en" sz="1600">
                  <a:latin typeface="Roboto Mono Light"/>
                  <a:ea typeface="Roboto Mono Light"/>
                  <a:cs typeface="Roboto Mono Light"/>
                  <a:sym typeface="Roboto Mono Light"/>
                </a:rPr>
              </a:br>
              <a:r>
                <a:rPr lang="en" sz="1600">
                  <a:latin typeface="Roboto Mono Light"/>
                  <a:ea typeface="Roboto Mono Light"/>
                  <a:cs typeface="Roboto Mono Light"/>
                  <a:sym typeface="Roboto Mono Light"/>
                </a:rPr>
                <a:t>999, 12345</a:t>
              </a:r>
              <a:endParaRPr sz="1600">
                <a:latin typeface="Roboto Light"/>
                <a:ea typeface="Roboto Light"/>
                <a:cs typeface="Roboto Light"/>
                <a:sym typeface="Roboto Light"/>
              </a:endParaRPr>
            </a:p>
          </p:txBody>
        </p:sp>
        <p:sp>
          <p:nvSpPr>
            <p:cNvPr id="905" name="Google Shape;905;p90"/>
            <p:cNvSpPr txBox="1"/>
            <p:nvPr/>
          </p:nvSpPr>
          <p:spPr>
            <a:xfrm>
              <a:off x="5283300" y="2376125"/>
              <a:ext cx="17736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latin typeface="Roboto Light"/>
                  <a:ea typeface="Roboto Light"/>
                  <a:cs typeface="Roboto Light"/>
                  <a:sym typeface="Roboto Light"/>
                </a:rPr>
                <a:t>NaN: "Not a Number"</a:t>
              </a:r>
              <a:endParaRPr sz="1200">
                <a:latin typeface="Roboto Light"/>
                <a:ea typeface="Roboto Light"/>
                <a:cs typeface="Roboto Light"/>
                <a:sym typeface="Roboto Light"/>
              </a:endParaRPr>
            </a:p>
          </p:txBody>
        </p:sp>
        <p:sp>
          <p:nvSpPr>
            <p:cNvPr id="906" name="Google Shape;906;p90"/>
            <p:cNvSpPr/>
            <p:nvPr/>
          </p:nvSpPr>
          <p:spPr>
            <a:xfrm>
              <a:off x="6754625" y="1351625"/>
              <a:ext cx="1467000" cy="1024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600">
                  <a:latin typeface="Roboto Mono Light"/>
                  <a:ea typeface="Roboto Mono Light"/>
                  <a:cs typeface="Roboto Mono Light"/>
                  <a:sym typeface="Roboto Mono Light"/>
                </a:rPr>
                <a:t>1970, 2000</a:t>
              </a:r>
              <a:endParaRPr sz="1600">
                <a:latin typeface="Roboto Mono Light"/>
                <a:ea typeface="Roboto Mono Light"/>
                <a:cs typeface="Roboto Mono Light"/>
                <a:sym typeface="Roboto Mono Light"/>
              </a:endParaRPr>
            </a:p>
            <a:p>
              <a:pPr indent="0" lvl="0" marL="0" rtl="0" algn="l">
                <a:spcBef>
                  <a:spcPts val="0"/>
                </a:spcBef>
                <a:spcAft>
                  <a:spcPts val="0"/>
                </a:spcAft>
                <a:buNone/>
              </a:pPr>
              <a:r>
                <a:rPr lang="en" sz="1600">
                  <a:latin typeface="Roboto Mono Light"/>
                  <a:ea typeface="Roboto Mono Light"/>
                  <a:cs typeface="Roboto Mono Light"/>
                  <a:sym typeface="Roboto Mono Light"/>
                </a:rPr>
                <a:t>NaN</a:t>
              </a:r>
              <a:endParaRPr sz="1600">
                <a:latin typeface="Roboto Mono Light"/>
                <a:ea typeface="Roboto Mono Light"/>
                <a:cs typeface="Roboto Mono Light"/>
                <a:sym typeface="Roboto Mono Light"/>
              </a:endParaRPr>
            </a:p>
            <a:p>
              <a:pPr indent="0" lvl="0" marL="0" rtl="0" algn="l">
                <a:spcBef>
                  <a:spcPts val="0"/>
                </a:spcBef>
                <a:spcAft>
                  <a:spcPts val="0"/>
                </a:spcAft>
                <a:buNone/>
              </a:pPr>
              <a:r>
                <a:rPr lang="en" sz="1600">
                  <a:latin typeface="Roboto Mono Light"/>
                  <a:ea typeface="Roboto Mono Light"/>
                  <a:cs typeface="Roboto Mono Light"/>
                  <a:sym typeface="Roboto Mono Light"/>
                </a:rPr>
                <a:t>Null</a:t>
              </a:r>
              <a:endParaRPr sz="1600">
                <a:latin typeface="Roboto Light"/>
                <a:ea typeface="Roboto Light"/>
                <a:cs typeface="Roboto Light"/>
                <a:sym typeface="Roboto Light"/>
              </a:endParaRPr>
            </a:p>
          </p:txBody>
        </p:sp>
      </p:grpSp>
      <p:sp>
        <p:nvSpPr>
          <p:cNvPr id="907" name="Google Shape;907;p90"/>
          <p:cNvSpPr txBox="1"/>
          <p:nvPr/>
        </p:nvSpPr>
        <p:spPr>
          <a:xfrm>
            <a:off x="5283300" y="617075"/>
            <a:ext cx="3000000" cy="10005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b="1" lang="en" sz="1600">
                <a:solidFill>
                  <a:schemeClr val="accent4"/>
                </a:solidFill>
                <a:latin typeface="Roboto"/>
                <a:ea typeface="Roboto"/>
                <a:cs typeface="Roboto"/>
                <a:sym typeface="Roboto"/>
              </a:rPr>
              <a:t>Missing data</a:t>
            </a:r>
            <a:endParaRPr b="1" sz="1600">
              <a:solidFill>
                <a:schemeClr val="accent4"/>
              </a:solidFill>
              <a:latin typeface="Roboto"/>
              <a:ea typeface="Roboto"/>
              <a:cs typeface="Roboto"/>
              <a:sym typeface="Roboto"/>
            </a:endParaRPr>
          </a:p>
          <a:p>
            <a:pPr indent="0" lvl="0" marL="0" rtl="0" algn="l">
              <a:spcBef>
                <a:spcPts val="600"/>
              </a:spcBef>
              <a:spcAft>
                <a:spcPts val="0"/>
              </a:spcAft>
              <a:buClr>
                <a:schemeClr val="dk1"/>
              </a:buClr>
              <a:buSzPts val="1100"/>
              <a:buFont typeface="Arial"/>
              <a:buNone/>
            </a:pPr>
            <a:r>
              <a:rPr lang="en" sz="1600">
                <a:solidFill>
                  <a:schemeClr val="dk1"/>
                </a:solidFill>
                <a:latin typeface="Roboto Light"/>
                <a:ea typeface="Roboto Light"/>
                <a:cs typeface="Roboto Light"/>
                <a:sym typeface="Roboto Light"/>
              </a:rPr>
              <a:t>Need to think carefully about </a:t>
            </a:r>
            <a:r>
              <a:rPr b="1" lang="en" sz="1600">
                <a:solidFill>
                  <a:schemeClr val="dk1"/>
                </a:solidFill>
                <a:latin typeface="Roboto"/>
                <a:ea typeface="Roboto"/>
                <a:cs typeface="Roboto"/>
                <a:sym typeface="Roboto"/>
              </a:rPr>
              <a:t>why</a:t>
            </a:r>
            <a:r>
              <a:rPr lang="en" sz="1600">
                <a:solidFill>
                  <a:schemeClr val="dk1"/>
                </a:solidFill>
                <a:latin typeface="Roboto Light"/>
                <a:ea typeface="Roboto Light"/>
                <a:cs typeface="Roboto Light"/>
                <a:sym typeface="Roboto Light"/>
              </a:rPr>
              <a:t> the data is missing.</a:t>
            </a:r>
            <a:endParaRPr b="1" sz="1600">
              <a:solidFill>
                <a:schemeClr val="accent4"/>
              </a:solidFill>
              <a:latin typeface="Roboto"/>
              <a:ea typeface="Roboto"/>
              <a:cs typeface="Roboto"/>
              <a:sym typeface="Roboto"/>
            </a:endParaRPr>
          </a:p>
        </p:txBody>
      </p:sp>
      <p:grpSp>
        <p:nvGrpSpPr>
          <p:cNvPr id="908" name="Google Shape;908;p90"/>
          <p:cNvGrpSpPr/>
          <p:nvPr/>
        </p:nvGrpSpPr>
        <p:grpSpPr>
          <a:xfrm>
            <a:off x="-247350" y="2940125"/>
            <a:ext cx="5937600" cy="1540200"/>
            <a:chOff x="-247350" y="2940125"/>
            <a:chExt cx="5937600" cy="1540200"/>
          </a:xfrm>
        </p:grpSpPr>
        <p:cxnSp>
          <p:nvCxnSpPr>
            <p:cNvPr id="909" name="Google Shape;909;p90"/>
            <p:cNvCxnSpPr/>
            <p:nvPr/>
          </p:nvCxnSpPr>
          <p:spPr>
            <a:xfrm flipH="1" rot="10800000">
              <a:off x="3349050" y="2940125"/>
              <a:ext cx="1980900" cy="959700"/>
            </a:xfrm>
            <a:prstGeom prst="straightConnector1">
              <a:avLst/>
            </a:prstGeom>
            <a:noFill/>
            <a:ln cap="flat" cmpd="sng" w="9525">
              <a:solidFill>
                <a:schemeClr val="dk2"/>
              </a:solidFill>
              <a:prstDash val="solid"/>
              <a:round/>
              <a:headEnd len="med" w="med" type="none"/>
              <a:tailEnd len="med" w="med" type="triangle"/>
            </a:ln>
          </p:spPr>
        </p:cxnSp>
        <p:sp>
          <p:nvSpPr>
            <p:cNvPr id="910" name="Google Shape;910;p90"/>
            <p:cNvSpPr txBox="1"/>
            <p:nvPr/>
          </p:nvSpPr>
          <p:spPr>
            <a:xfrm>
              <a:off x="163050" y="3837625"/>
              <a:ext cx="51168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dk1"/>
                  </a:solidFill>
                  <a:latin typeface="Roboto Light"/>
                  <a:ea typeface="Roboto Light"/>
                  <a:cs typeface="Roboto Light"/>
                  <a:sym typeface="Roboto Light"/>
                </a:rPr>
                <a:t>Real zero or NaN placeholder? Sometimes both!</a:t>
              </a:r>
              <a:endParaRPr sz="1600">
                <a:solidFill>
                  <a:schemeClr val="dk1"/>
                </a:solidFill>
                <a:latin typeface="Roboto Light"/>
                <a:ea typeface="Roboto Light"/>
                <a:cs typeface="Roboto Light"/>
                <a:sym typeface="Roboto Light"/>
              </a:endParaRPr>
            </a:p>
          </p:txBody>
        </p:sp>
        <p:sp>
          <p:nvSpPr>
            <p:cNvPr id="911" name="Google Shape;911;p90"/>
            <p:cNvSpPr txBox="1"/>
            <p:nvPr/>
          </p:nvSpPr>
          <p:spPr>
            <a:xfrm>
              <a:off x="-247350" y="4157225"/>
              <a:ext cx="59376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Roboto Light"/>
                  <a:ea typeface="Roboto Light"/>
                  <a:cs typeface="Roboto Light"/>
                  <a:sym typeface="Roboto Light"/>
                </a:rPr>
                <a:t>S</a:t>
              </a:r>
              <a:r>
                <a:rPr lang="en" sz="900">
                  <a:solidFill>
                    <a:srgbClr val="000000"/>
                  </a:solidFill>
                  <a:latin typeface="Roboto Light"/>
                  <a:ea typeface="Roboto Light"/>
                  <a:cs typeface="Roboto Light"/>
                  <a:sym typeface="Roboto Light"/>
                </a:rPr>
                <a:t>ee footnote 12 in </a:t>
              </a:r>
              <a:r>
                <a:rPr lang="en" sz="900" u="sng">
                  <a:solidFill>
                    <a:srgbClr val="4A86E8"/>
                  </a:solidFill>
                  <a:latin typeface="Roboto Light"/>
                  <a:ea typeface="Roboto Light"/>
                  <a:cs typeface="Roboto Light"/>
                  <a:sym typeface="Roboto Light"/>
                  <a:hlinkClick r:id="rId3">
                    <a:extLst>
                      <a:ext uri="{A12FA001-AC4F-418D-AE19-62706E023703}">
                        <ahyp:hlinkClr val="tx"/>
                      </a:ext>
                    </a:extLst>
                  </a:hlinkClick>
                </a:rPr>
                <a:t>onlinelibrary.wiley.com/doi/abs/10.1111/jels.12343</a:t>
              </a:r>
              <a:endParaRPr sz="900">
                <a:solidFill>
                  <a:srgbClr val="000000"/>
                </a:solidFill>
                <a:latin typeface="Roboto Light"/>
                <a:ea typeface="Roboto Light"/>
                <a:cs typeface="Roboto Light"/>
                <a:sym typeface="Roboto Ligh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9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Missing Data: Approaches</a:t>
            </a:r>
            <a:endParaRPr/>
          </a:p>
        </p:txBody>
      </p:sp>
      <p:sp>
        <p:nvSpPr>
          <p:cNvPr id="917" name="Google Shape;917;p91"/>
          <p:cNvSpPr txBox="1"/>
          <p:nvPr>
            <p:ph idx="1" type="body"/>
          </p:nvPr>
        </p:nvSpPr>
        <p:spPr>
          <a:xfrm>
            <a:off x="107050" y="554600"/>
            <a:ext cx="8413500" cy="43896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a:solidFill>
                  <a:schemeClr val="accent3"/>
                </a:solidFill>
                <a:latin typeface="Roboto"/>
                <a:ea typeface="Roboto"/>
                <a:cs typeface="Roboto"/>
                <a:sym typeface="Roboto"/>
              </a:rPr>
              <a:t>A</a:t>
            </a:r>
            <a:r>
              <a:rPr b="1" lang="en">
                <a:solidFill>
                  <a:schemeClr val="accent3"/>
                </a:solidFill>
                <a:latin typeface="Roboto"/>
                <a:ea typeface="Roboto"/>
                <a:cs typeface="Roboto"/>
                <a:sym typeface="Roboto"/>
              </a:rPr>
              <a:t>. Keep as </a:t>
            </a:r>
            <a:r>
              <a:rPr lang="en">
                <a:solidFill>
                  <a:schemeClr val="accent3"/>
                </a:solidFill>
                <a:latin typeface="Inconsolata Medium"/>
                <a:ea typeface="Inconsolata Medium"/>
                <a:cs typeface="Inconsolata Medium"/>
                <a:sym typeface="Inconsolata Medium"/>
              </a:rPr>
              <a:t>NaN</a:t>
            </a:r>
            <a:endParaRPr>
              <a:solidFill>
                <a:schemeClr val="accent3"/>
              </a:solidFill>
              <a:latin typeface="Inconsolata Medium"/>
              <a:ea typeface="Inconsolata Medium"/>
              <a:cs typeface="Inconsolata Medium"/>
              <a:sym typeface="Inconsolata Medium"/>
            </a:endParaRPr>
          </a:p>
          <a:p>
            <a:pPr indent="-330200" lvl="0" marL="457200" rtl="0" algn="l">
              <a:lnSpc>
                <a:spcPct val="90000"/>
              </a:lnSpc>
              <a:spcBef>
                <a:spcPts val="400"/>
              </a:spcBef>
              <a:spcAft>
                <a:spcPts val="0"/>
              </a:spcAft>
              <a:buSzPts val="1600"/>
              <a:buChar char="●"/>
            </a:pPr>
            <a:r>
              <a:rPr lang="en"/>
              <a:t>A good default. </a:t>
            </a:r>
            <a:endParaRPr/>
          </a:p>
          <a:p>
            <a:pPr indent="-330200" lvl="0" marL="457200" rtl="0" algn="l">
              <a:lnSpc>
                <a:spcPct val="90000"/>
              </a:lnSpc>
              <a:spcBef>
                <a:spcPts val="400"/>
              </a:spcBef>
              <a:spcAft>
                <a:spcPts val="0"/>
              </a:spcAft>
              <a:buSzPts val="1600"/>
              <a:buChar char="●"/>
            </a:pPr>
            <a:r>
              <a:rPr lang="en"/>
              <a:t>If qualitative/categorical → Consider creating a "Missing" category.</a:t>
            </a:r>
            <a:endParaRPr>
              <a:solidFill>
                <a:schemeClr val="accent3"/>
              </a:solidFill>
              <a:latin typeface="Inconsolata Medium"/>
              <a:ea typeface="Inconsolata Medium"/>
              <a:cs typeface="Inconsolata Medium"/>
              <a:sym typeface="Inconsolata Medium"/>
            </a:endParaRPr>
          </a:p>
          <a:p>
            <a:pPr indent="0" lvl="0" marL="0" rtl="0" algn="l">
              <a:lnSpc>
                <a:spcPct val="90000"/>
              </a:lnSpc>
              <a:spcBef>
                <a:spcPts val="0"/>
              </a:spcBef>
              <a:spcAft>
                <a:spcPts val="0"/>
              </a:spcAft>
              <a:buNone/>
            </a:pPr>
            <a:r>
              <a:t/>
            </a:r>
            <a:endParaRPr>
              <a:solidFill>
                <a:schemeClr val="accent3"/>
              </a:solidFill>
              <a:latin typeface="Inconsolata Medium"/>
              <a:ea typeface="Inconsolata Medium"/>
              <a:cs typeface="Inconsolata Medium"/>
              <a:sym typeface="Inconsolata Medium"/>
            </a:endParaRPr>
          </a:p>
          <a:p>
            <a:pPr indent="0" lvl="0" marL="0" rtl="0" algn="l">
              <a:lnSpc>
                <a:spcPct val="90000"/>
              </a:lnSpc>
              <a:spcBef>
                <a:spcPts val="0"/>
              </a:spcBef>
              <a:spcAft>
                <a:spcPts val="0"/>
              </a:spcAft>
              <a:buNone/>
            </a:pPr>
            <a:r>
              <a:rPr b="1" lang="en">
                <a:solidFill>
                  <a:schemeClr val="accent3"/>
                </a:solidFill>
                <a:latin typeface="Roboto"/>
                <a:ea typeface="Roboto"/>
                <a:cs typeface="Roboto"/>
                <a:sym typeface="Roboto"/>
              </a:rPr>
              <a:t>B. </a:t>
            </a:r>
            <a:r>
              <a:rPr b="1" lang="en">
                <a:solidFill>
                  <a:schemeClr val="accent3"/>
                </a:solidFill>
                <a:latin typeface="Roboto"/>
                <a:ea typeface="Roboto"/>
                <a:cs typeface="Roboto"/>
                <a:sym typeface="Roboto"/>
              </a:rPr>
              <a:t>Drop records</a:t>
            </a:r>
            <a:r>
              <a:rPr lang="en"/>
              <a:t> with missing values</a:t>
            </a:r>
            <a:endParaRPr/>
          </a:p>
          <a:p>
            <a:pPr indent="-330200" lvl="0" marL="457200" rtl="0" algn="l">
              <a:lnSpc>
                <a:spcPct val="90000"/>
              </a:lnSpc>
              <a:spcBef>
                <a:spcPts val="400"/>
              </a:spcBef>
              <a:spcAft>
                <a:spcPts val="0"/>
              </a:spcAft>
              <a:buSzPts val="1600"/>
              <a:buChar char="●"/>
            </a:pPr>
            <a:r>
              <a:rPr lang="en"/>
              <a:t>Typically a </a:t>
            </a:r>
            <a:r>
              <a:rPr lang="en" u="sng"/>
              <a:t>bad</a:t>
            </a:r>
            <a:r>
              <a:rPr lang="en"/>
              <a:t> default!</a:t>
            </a:r>
            <a:endParaRPr/>
          </a:p>
          <a:p>
            <a:pPr indent="-330200" lvl="0" marL="457200" rtl="0" algn="l">
              <a:lnSpc>
                <a:spcPct val="90000"/>
              </a:lnSpc>
              <a:spcBef>
                <a:spcPts val="400"/>
              </a:spcBef>
              <a:spcAft>
                <a:spcPts val="0"/>
              </a:spcAft>
              <a:buSzPts val="1600"/>
              <a:buChar char="●"/>
            </a:pPr>
            <a:r>
              <a:rPr lang="en"/>
              <a:t>Temperature probe went offline for a minute → Likely </a:t>
            </a:r>
            <a:r>
              <a:rPr b="1" lang="en">
                <a:latin typeface="Roboto"/>
                <a:ea typeface="Roboto"/>
                <a:cs typeface="Roboto"/>
                <a:sym typeface="Roboto"/>
              </a:rPr>
              <a:t>m</a:t>
            </a:r>
            <a:r>
              <a:rPr b="1" lang="en">
                <a:latin typeface="Roboto"/>
                <a:ea typeface="Roboto"/>
                <a:cs typeface="Roboto"/>
                <a:sym typeface="Roboto"/>
              </a:rPr>
              <a:t>issing at random </a:t>
            </a:r>
            <a:r>
              <a:rPr lang="en"/>
              <a:t>→ OK to drop</a:t>
            </a:r>
            <a:r>
              <a:rPr b="1" lang="en">
                <a:latin typeface="Roboto"/>
                <a:ea typeface="Roboto"/>
                <a:cs typeface="Roboto"/>
                <a:sym typeface="Roboto"/>
              </a:rPr>
              <a:t> </a:t>
            </a:r>
            <a:endParaRPr b="1">
              <a:latin typeface="Roboto"/>
              <a:ea typeface="Roboto"/>
              <a:cs typeface="Roboto"/>
              <a:sym typeface="Roboto"/>
            </a:endParaRPr>
          </a:p>
          <a:p>
            <a:pPr indent="-330200" lvl="0" marL="457200" rtl="0" algn="l">
              <a:lnSpc>
                <a:spcPct val="90000"/>
              </a:lnSpc>
              <a:spcBef>
                <a:spcPts val="400"/>
              </a:spcBef>
              <a:spcAft>
                <a:spcPts val="0"/>
              </a:spcAft>
              <a:buSzPts val="1600"/>
              <a:buChar char="●"/>
            </a:pPr>
            <a:r>
              <a:rPr lang="en"/>
              <a:t>Police </a:t>
            </a:r>
            <a:r>
              <a:rPr lang="en"/>
              <a:t>officer</a:t>
            </a:r>
            <a:r>
              <a:rPr lang="en"/>
              <a:t> never records outcomes of vehicle stops → Likely </a:t>
            </a:r>
            <a:r>
              <a:rPr lang="en" u="sng"/>
              <a:t>n</a:t>
            </a:r>
            <a:r>
              <a:rPr lang="en" u="sng"/>
              <a:t>ot</a:t>
            </a:r>
            <a:r>
              <a:rPr lang="en"/>
              <a:t> missing at random </a:t>
            </a:r>
            <a:endParaRPr/>
          </a:p>
          <a:p>
            <a:pPr indent="0" lvl="0" marL="0" rtl="0" algn="l">
              <a:lnSpc>
                <a:spcPct val="90000"/>
              </a:lnSpc>
              <a:spcBef>
                <a:spcPts val="400"/>
              </a:spcBef>
              <a:spcAft>
                <a:spcPts val="0"/>
              </a:spcAft>
              <a:buNone/>
            </a:pPr>
            <a:r>
              <a:t/>
            </a:r>
            <a:endParaRPr/>
          </a:p>
          <a:p>
            <a:pPr indent="0" lvl="0" marL="0" rtl="0" algn="l">
              <a:lnSpc>
                <a:spcPct val="150000"/>
              </a:lnSpc>
              <a:spcBef>
                <a:spcPts val="0"/>
              </a:spcBef>
              <a:spcAft>
                <a:spcPts val="0"/>
              </a:spcAft>
              <a:buClr>
                <a:schemeClr val="dk1"/>
              </a:buClr>
              <a:buSzPts val="1100"/>
              <a:buFont typeface="Arial"/>
              <a:buNone/>
            </a:pPr>
            <a:r>
              <a:rPr b="1" lang="en">
                <a:solidFill>
                  <a:schemeClr val="accent3"/>
                </a:solidFill>
                <a:latin typeface="Roboto"/>
                <a:ea typeface="Roboto"/>
                <a:cs typeface="Roboto"/>
                <a:sym typeface="Roboto"/>
              </a:rPr>
              <a:t>C. Imputation/Interpolation</a:t>
            </a:r>
            <a:r>
              <a:rPr b="1" lang="en"/>
              <a:t>:</a:t>
            </a:r>
            <a:r>
              <a:rPr lang="en"/>
              <a:t> Infer missing values</a:t>
            </a:r>
            <a:endParaRPr/>
          </a:p>
          <a:p>
            <a:pPr indent="-330200" lvl="0" marL="457200" rtl="0" algn="l">
              <a:spcBef>
                <a:spcPts val="400"/>
              </a:spcBef>
              <a:spcAft>
                <a:spcPts val="0"/>
              </a:spcAft>
              <a:buSzPts val="1600"/>
              <a:buChar char="●"/>
            </a:pPr>
            <a:r>
              <a:rPr b="1" lang="en">
                <a:latin typeface="Roboto"/>
                <a:ea typeface="Roboto"/>
                <a:cs typeface="Roboto"/>
                <a:sym typeface="Roboto"/>
              </a:rPr>
              <a:t>Mean/median imputation</a:t>
            </a:r>
            <a:r>
              <a:rPr b="1" lang="en"/>
              <a:t>:</a:t>
            </a:r>
            <a:r>
              <a:rPr lang="en"/>
              <a:t> replace NaN with mean/median </a:t>
            </a:r>
            <a:endParaRPr/>
          </a:p>
          <a:p>
            <a:pPr indent="-330200" lvl="0" marL="457200" rtl="0" algn="l">
              <a:spcBef>
                <a:spcPts val="400"/>
              </a:spcBef>
              <a:spcAft>
                <a:spcPts val="0"/>
              </a:spcAft>
              <a:buClr>
                <a:srgbClr val="9E9E9E"/>
              </a:buClr>
              <a:buSzPts val="1600"/>
              <a:buChar char="●"/>
            </a:pPr>
            <a:r>
              <a:rPr b="1" lang="en">
                <a:solidFill>
                  <a:srgbClr val="9E9E9E"/>
                </a:solidFill>
                <a:latin typeface="Roboto"/>
                <a:ea typeface="Roboto"/>
                <a:cs typeface="Roboto"/>
                <a:sym typeface="Roboto"/>
              </a:rPr>
              <a:t>Hot deck imputation</a:t>
            </a:r>
            <a:r>
              <a:rPr b="1" lang="en">
                <a:solidFill>
                  <a:srgbClr val="9E9E9E"/>
                </a:solidFill>
              </a:rPr>
              <a:t>:</a:t>
            </a:r>
            <a:r>
              <a:rPr lang="en">
                <a:solidFill>
                  <a:srgbClr val="9E9E9E"/>
                </a:solidFill>
              </a:rPr>
              <a:t> use a random non-NaN value </a:t>
            </a:r>
            <a:endParaRPr>
              <a:solidFill>
                <a:srgbClr val="9E9E9E"/>
              </a:solidFill>
            </a:endParaRPr>
          </a:p>
          <a:p>
            <a:pPr indent="-330200" lvl="0" marL="457200" rtl="0" algn="l">
              <a:spcBef>
                <a:spcPts val="400"/>
              </a:spcBef>
              <a:spcAft>
                <a:spcPts val="0"/>
              </a:spcAft>
              <a:buClr>
                <a:srgbClr val="9E9E9E"/>
              </a:buClr>
              <a:buSzPts val="1600"/>
              <a:buChar char="●"/>
            </a:pPr>
            <a:r>
              <a:rPr b="1" lang="en">
                <a:solidFill>
                  <a:srgbClr val="9E9E9E"/>
                </a:solidFill>
                <a:latin typeface="Roboto"/>
                <a:ea typeface="Roboto"/>
                <a:cs typeface="Roboto"/>
                <a:sym typeface="Roboto"/>
              </a:rPr>
              <a:t>Regression imputation</a:t>
            </a:r>
            <a:r>
              <a:rPr b="1" lang="en">
                <a:solidFill>
                  <a:srgbClr val="9E9E9E"/>
                </a:solidFill>
              </a:rPr>
              <a:t>:</a:t>
            </a:r>
            <a:r>
              <a:rPr lang="en">
                <a:solidFill>
                  <a:srgbClr val="9E9E9E"/>
                </a:solidFill>
              </a:rPr>
              <a:t> use a model to predict value</a:t>
            </a:r>
            <a:endParaRPr>
              <a:solidFill>
                <a:srgbClr val="9E9E9E"/>
              </a:solidFill>
            </a:endParaRPr>
          </a:p>
          <a:p>
            <a:pPr indent="-330200" lvl="0" marL="457200" rtl="0" algn="l">
              <a:spcBef>
                <a:spcPts val="400"/>
              </a:spcBef>
              <a:spcAft>
                <a:spcPts val="0"/>
              </a:spcAft>
              <a:buClr>
                <a:srgbClr val="9E9E9E"/>
              </a:buClr>
              <a:buSzPts val="1600"/>
              <a:buChar char="●"/>
            </a:pPr>
            <a:r>
              <a:rPr b="1" lang="en">
                <a:solidFill>
                  <a:srgbClr val="9E9E9E"/>
                </a:solidFill>
                <a:latin typeface="Roboto"/>
                <a:ea typeface="Roboto"/>
                <a:cs typeface="Roboto"/>
                <a:sym typeface="Roboto"/>
              </a:rPr>
              <a:t>Multiple imputation</a:t>
            </a:r>
            <a:r>
              <a:rPr b="1" lang="en">
                <a:solidFill>
                  <a:srgbClr val="9E9E9E"/>
                </a:solidFill>
              </a:rPr>
              <a:t>:</a:t>
            </a:r>
            <a:r>
              <a:rPr lang="en">
                <a:solidFill>
                  <a:srgbClr val="9E9E9E"/>
                </a:solidFill>
              </a:rPr>
              <a:t> multiple random values + check sensitivity</a:t>
            </a:r>
            <a:endParaRPr>
              <a:solidFill>
                <a:srgbClr val="9E9E9E"/>
              </a:solidFill>
            </a:endParaRPr>
          </a:p>
          <a:p>
            <a:pPr indent="0" lvl="0" marL="0" rtl="0" algn="l">
              <a:lnSpc>
                <a:spcPct val="90000"/>
              </a:lnSpc>
              <a:spcBef>
                <a:spcPts val="400"/>
              </a:spcBef>
              <a:spcAft>
                <a:spcPts val="0"/>
              </a:spcAft>
              <a:buNone/>
            </a:pPr>
            <a:r>
              <a:t/>
            </a:r>
            <a:endParaRPr/>
          </a:p>
        </p:txBody>
      </p:sp>
      <p:sp>
        <p:nvSpPr>
          <p:cNvPr id="918" name="Google Shape;918;p9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19" name="Google Shape;919;p91"/>
          <p:cNvSpPr txBox="1"/>
          <p:nvPr/>
        </p:nvSpPr>
        <p:spPr>
          <a:xfrm>
            <a:off x="6745525" y="3856950"/>
            <a:ext cx="234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Light"/>
                <a:ea typeface="Roboto Light"/>
                <a:cs typeface="Roboto Light"/>
                <a:sym typeface="Roboto Light"/>
              </a:rPr>
              <a:t>(beyond this course)</a:t>
            </a:r>
            <a:endParaRPr>
              <a:latin typeface="Roboto Light"/>
              <a:ea typeface="Roboto Light"/>
              <a:cs typeface="Roboto Light"/>
              <a:sym typeface="Roboto Light"/>
            </a:endParaRPr>
          </a:p>
        </p:txBody>
      </p:sp>
      <p:sp>
        <p:nvSpPr>
          <p:cNvPr id="920" name="Google Shape;920;p91"/>
          <p:cNvSpPr/>
          <p:nvPr/>
        </p:nvSpPr>
        <p:spPr>
          <a:xfrm>
            <a:off x="6482200" y="3591150"/>
            <a:ext cx="188700" cy="931800"/>
          </a:xfrm>
          <a:prstGeom prst="rightBrace">
            <a:avLst>
              <a:gd fmla="val 50000" name="adj1"/>
              <a:gd fmla="val 50000" name="adj2"/>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9">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9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600">
                <a:solidFill>
                  <a:schemeClr val="accent3"/>
                </a:solidFill>
              </a:rPr>
              <a:t>Exploratory Data Analysis (EDA) IV</a:t>
            </a:r>
            <a:endParaRPr/>
          </a:p>
        </p:txBody>
      </p:sp>
      <p:sp>
        <p:nvSpPr>
          <p:cNvPr id="926" name="Google Shape;926;p92"/>
          <p:cNvSpPr txBox="1"/>
          <p:nvPr>
            <p:ph idx="1" type="subTitle"/>
          </p:nvPr>
        </p:nvSpPr>
        <p:spPr>
          <a:xfrm>
            <a:off x="311700" y="2797175"/>
            <a:ext cx="8520600" cy="445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sz="1600">
                <a:latin typeface="Roboto Medium"/>
                <a:ea typeface="Roboto Medium"/>
                <a:cs typeface="Roboto Medium"/>
                <a:sym typeface="Roboto Medium"/>
              </a:rPr>
              <a:t>Data C100/Data C200, Fall @ UC Berkeley</a:t>
            </a:r>
            <a:endParaRPr sz="1600">
              <a:latin typeface="Roboto Medium"/>
              <a:ea typeface="Roboto Medium"/>
              <a:cs typeface="Roboto Medium"/>
              <a:sym typeface="Roboto Medium"/>
            </a:endParaRPr>
          </a:p>
          <a:p>
            <a:pPr indent="0" lvl="0" marL="0" rtl="0" algn="l">
              <a:spcBef>
                <a:spcPts val="600"/>
              </a:spcBef>
              <a:spcAft>
                <a:spcPts val="0"/>
              </a:spcAft>
              <a:buClr>
                <a:schemeClr val="dk1"/>
              </a:buClr>
              <a:buSzPts val="1100"/>
              <a:buFont typeface="Arial"/>
              <a:buNone/>
            </a:pPr>
            <a:r>
              <a:rPr lang="en" sz="1600"/>
              <a:t>Ramesh Sridharan and Jeremy Sanchez</a:t>
            </a:r>
            <a:endParaRPr sz="1600">
              <a:latin typeface="Roboto Medium"/>
              <a:ea typeface="Roboto Medium"/>
              <a:cs typeface="Roboto Medium"/>
              <a:sym typeface="Roboto Medium"/>
            </a:endParaRPr>
          </a:p>
          <a:p>
            <a:pPr indent="0" lvl="0" marL="0" rtl="0" algn="l">
              <a:spcBef>
                <a:spcPts val="600"/>
              </a:spcBef>
              <a:spcAft>
                <a:spcPts val="0"/>
              </a:spcAft>
              <a:buClr>
                <a:schemeClr val="dk1"/>
              </a:buClr>
              <a:buSzPts val="1100"/>
              <a:buFont typeface="Arial"/>
              <a:buNone/>
            </a:pPr>
            <a:r>
              <a:rPr lang="en" sz="1600"/>
              <a:t>Content credit: </a:t>
            </a:r>
            <a:r>
              <a:rPr lang="en" sz="1600" u="sng">
                <a:solidFill>
                  <a:schemeClr val="hlink"/>
                </a:solidFill>
                <a:hlinkClick r:id="rId3"/>
              </a:rPr>
              <a:t>Acknowledgments</a:t>
            </a:r>
            <a:endParaRPr sz="1600">
              <a:latin typeface="Roboto Medium"/>
              <a:ea typeface="Roboto Medium"/>
              <a:cs typeface="Roboto Medium"/>
              <a:sym typeface="Roboto Medium"/>
            </a:endParaRPr>
          </a:p>
          <a:p>
            <a:pPr indent="0" lvl="0" marL="0" rtl="0" algn="l">
              <a:spcBef>
                <a:spcPts val="600"/>
              </a:spcBef>
              <a:spcAft>
                <a:spcPts val="0"/>
              </a:spcAft>
              <a:buNone/>
            </a:pPr>
            <a:r>
              <a:t/>
            </a:r>
            <a:endParaRPr sz="1800">
              <a:solidFill>
                <a:srgbClr val="666666"/>
              </a:solidFill>
            </a:endParaRPr>
          </a:p>
        </p:txBody>
      </p:sp>
      <p:sp>
        <p:nvSpPr>
          <p:cNvPr id="927" name="Google Shape;927;p92"/>
          <p:cNvSpPr txBox="1"/>
          <p:nvPr/>
        </p:nvSpPr>
        <p:spPr>
          <a:xfrm>
            <a:off x="345775" y="1825900"/>
            <a:ext cx="11502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5</a:t>
            </a:r>
            <a:endParaRPr sz="1200">
              <a:solidFill>
                <a:srgbClr val="BF9000"/>
              </a:solidFill>
              <a:latin typeface="Roboto Medium"/>
              <a:ea typeface="Roboto Medium"/>
              <a:cs typeface="Roboto Medium"/>
              <a:sym typeface="Roboto Medium"/>
            </a:endParaRPr>
          </a:p>
        </p:txBody>
      </p:sp>
      <p:sp>
        <p:nvSpPr>
          <p:cNvPr id="928" name="Google Shape;928;p9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B7B7B7"/>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