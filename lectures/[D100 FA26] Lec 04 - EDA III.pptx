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embeddedFontLst>
    <p:embeddedFont>
      <p:font typeface="Roboto Medium"/>
      <p:regular r:id="rId52"/>
      <p:bold r:id="rId53"/>
      <p:italic r:id="rId54"/>
      <p:boldItalic r:id="rId55"/>
    </p:embeddedFont>
    <p:embeddedFont>
      <p:font typeface="Roboto"/>
      <p:regular r:id="rId56"/>
      <p:bold r:id="rId57"/>
      <p:italic r:id="rId58"/>
      <p:boldItalic r:id="rId59"/>
    </p:embeddedFont>
    <p:embeddedFont>
      <p:font typeface="Inter Light"/>
      <p:regular r:id="rId60"/>
      <p:bold r:id="rId61"/>
      <p:italic r:id="rId62"/>
      <p:boldItalic r:id="rId63"/>
    </p:embeddedFont>
    <p:embeddedFont>
      <p:font typeface="Inter"/>
      <p:regular r:id="rId64"/>
      <p:bold r:id="rId65"/>
      <p:italic r:id="rId66"/>
      <p:boldItalic r:id="rId67"/>
    </p:embeddedFont>
    <p:embeddedFont>
      <p:font typeface="Roboto Mono Light"/>
      <p:regular r:id="rId68"/>
      <p:bold r:id="rId69"/>
      <p:italic r:id="rId70"/>
      <p:boldItalic r:id="rId71"/>
    </p:embeddedFont>
    <p:embeddedFont>
      <p:font typeface="Roboto Light"/>
      <p:regular r:id="rId72"/>
      <p:bold r:id="rId73"/>
      <p:italic r:id="rId74"/>
      <p:boldItalic r:id="rId75"/>
    </p:embeddedFont>
    <p:embeddedFont>
      <p:font typeface="Helvetica Neue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5091E2-E2D3-4544-A7A8-FB4101B071F6}">
  <a:tblStyle styleId="{C55091E2-E2D3-4544-A7A8-FB4101B071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obotoLight-bold.fntdata"/><Relationship Id="rId72" Type="http://schemas.openxmlformats.org/officeDocument/2006/relationships/font" Target="fonts/RobotoLight-regular.fntdata"/><Relationship Id="rId31" Type="http://schemas.openxmlformats.org/officeDocument/2006/relationships/slide" Target="slides/slide26.xml"/><Relationship Id="rId75" Type="http://schemas.openxmlformats.org/officeDocument/2006/relationships/font" Target="fonts/RobotoLight-boldItalic.fntdata"/><Relationship Id="rId30" Type="http://schemas.openxmlformats.org/officeDocument/2006/relationships/slide" Target="slides/slide25.xml"/><Relationship Id="rId74" Type="http://schemas.openxmlformats.org/officeDocument/2006/relationships/font" Target="fonts/RobotoLight-italic.fntdata"/><Relationship Id="rId33" Type="http://schemas.openxmlformats.org/officeDocument/2006/relationships/slide" Target="slides/slide28.xml"/><Relationship Id="rId77" Type="http://schemas.openxmlformats.org/officeDocument/2006/relationships/font" Target="fonts/HelveticaNeue-bold.fntdata"/><Relationship Id="rId32" Type="http://schemas.openxmlformats.org/officeDocument/2006/relationships/slide" Target="slides/slide27.xml"/><Relationship Id="rId76" Type="http://schemas.openxmlformats.org/officeDocument/2006/relationships/font" Target="fonts/HelveticaNeue-regular.fntdata"/><Relationship Id="rId35" Type="http://schemas.openxmlformats.org/officeDocument/2006/relationships/slide" Target="slides/slide30.xml"/><Relationship Id="rId79" Type="http://schemas.openxmlformats.org/officeDocument/2006/relationships/font" Target="fonts/HelveticaNeue-boldItalic.fntdata"/><Relationship Id="rId34" Type="http://schemas.openxmlformats.org/officeDocument/2006/relationships/slide" Target="slides/slide29.xml"/><Relationship Id="rId78" Type="http://schemas.openxmlformats.org/officeDocument/2006/relationships/font" Target="fonts/HelveticaNeue-italic.fntdata"/><Relationship Id="rId71" Type="http://schemas.openxmlformats.org/officeDocument/2006/relationships/font" Target="fonts/RobotoMonoLight-boldItalic.fntdata"/><Relationship Id="rId70" Type="http://schemas.openxmlformats.org/officeDocument/2006/relationships/font" Target="fonts/RobotoMonoLight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InterLight-italic.fntdata"/><Relationship Id="rId61" Type="http://schemas.openxmlformats.org/officeDocument/2006/relationships/font" Target="fonts/InterLight-bold.fntdata"/><Relationship Id="rId20" Type="http://schemas.openxmlformats.org/officeDocument/2006/relationships/slide" Target="slides/slide15.xml"/><Relationship Id="rId64" Type="http://schemas.openxmlformats.org/officeDocument/2006/relationships/font" Target="fonts/Inter-regular.fntdata"/><Relationship Id="rId63" Type="http://schemas.openxmlformats.org/officeDocument/2006/relationships/font" Target="fonts/InterLight-boldItalic.fntdata"/><Relationship Id="rId22" Type="http://schemas.openxmlformats.org/officeDocument/2006/relationships/slide" Target="slides/slide17.xml"/><Relationship Id="rId66" Type="http://schemas.openxmlformats.org/officeDocument/2006/relationships/font" Target="fonts/Inter-italic.fntdata"/><Relationship Id="rId21" Type="http://schemas.openxmlformats.org/officeDocument/2006/relationships/slide" Target="slides/slide16.xml"/><Relationship Id="rId65" Type="http://schemas.openxmlformats.org/officeDocument/2006/relationships/font" Target="fonts/Inter-bold.fntdata"/><Relationship Id="rId24" Type="http://schemas.openxmlformats.org/officeDocument/2006/relationships/slide" Target="slides/slide19.xml"/><Relationship Id="rId68" Type="http://schemas.openxmlformats.org/officeDocument/2006/relationships/font" Target="fonts/RobotoMonoLight-regular.fntdata"/><Relationship Id="rId23" Type="http://schemas.openxmlformats.org/officeDocument/2006/relationships/slide" Target="slides/slide18.xml"/><Relationship Id="rId67" Type="http://schemas.openxmlformats.org/officeDocument/2006/relationships/font" Target="fonts/Inter-boldItalic.fntdata"/><Relationship Id="rId60" Type="http://schemas.openxmlformats.org/officeDocument/2006/relationships/font" Target="fonts/InterLigh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MonoLight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Medium-bold.fntdata"/><Relationship Id="rId52" Type="http://schemas.openxmlformats.org/officeDocument/2006/relationships/font" Target="fonts/RobotoMedium-regular.fntdata"/><Relationship Id="rId11" Type="http://schemas.openxmlformats.org/officeDocument/2006/relationships/slide" Target="slides/slide6.xml"/><Relationship Id="rId55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Medium-italic.fntdata"/><Relationship Id="rId13" Type="http://schemas.openxmlformats.org/officeDocument/2006/relationships/slide" Target="slides/slide8.xml"/><Relationship Id="rId57" Type="http://schemas.openxmlformats.org/officeDocument/2006/relationships/font" Target="fonts/Roboto-bold.fntdata"/><Relationship Id="rId12" Type="http://schemas.openxmlformats.org/officeDocument/2006/relationships/slide" Target="slides/slide7.xml"/><Relationship Id="rId56" Type="http://schemas.openxmlformats.org/officeDocument/2006/relationships/font" Target="fonts/Roboto-regular.fntdata"/><Relationship Id="rId15" Type="http://schemas.openxmlformats.org/officeDocument/2006/relationships/slide" Target="slides/slide10.xml"/><Relationship Id="rId59" Type="http://schemas.openxmlformats.org/officeDocument/2006/relationships/font" Target="fonts/Roboto-boldItalic.fntdata"/><Relationship Id="rId14" Type="http://schemas.openxmlformats.org/officeDocument/2006/relationships/slide" Target="slides/slide9.xml"/><Relationship Id="rId58" Type="http://schemas.openxmlformats.org/officeDocument/2006/relationships/font" Target="fonts/Robo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S_API172242670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S_API172242670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2614b9779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2614b9779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2614b9779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2614b9779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formalized in wording, but still mostly the same: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 Question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the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the World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a3a3b9af7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a3a3b9af7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3a3b9af7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3a3b9af7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3a3b9af7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a3a3b9af7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a3a3b9af7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a3a3b9af7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3a3b9af7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a3a3b9af7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a3a3b9af7_2_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a3a3b9af7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a3a3b9af7_2_7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a3a3b9af7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a3a3b9af7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fa3a3b9af7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SLIDES_API72975640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SLIDES_API72975640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a3a3b9af7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a3a3b9af7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SLIDES_API390301903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SLIDES_API39030190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a3a3b9af7_2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a3a3b9af7_2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a3a3b9af7_2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a3a3b9af7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SLIDES_API567489861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SLIDES_API56748986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a3a3b9af7_2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a3a3b9af7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a3a3b9af7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fa3a3b9af7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SLIDES_API845607714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SLIDES_API8456077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a3a3b9af7_2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a3a3b9af7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SLIDES_API1831576205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SLIDES_API183157620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a3a3b9af7_2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fa3a3b9af7_2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a3a3b9af7_2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a3a3b9af7_2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SLIDES_API1116414917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SLIDES_API11164149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f2614b97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f2614b97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f2614b9779_0_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f2614b977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2614b9779_0_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f2614b977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SLIDES_API877664782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SLIDES_API87766478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2614b977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f2614b977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2614b9779_0_3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2614b977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2614b977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f2614b97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2614b9779_0_4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f2614b977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SLIDES_API501938636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SLIDES_API5019386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2614b9779_0_7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2614b9779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2614b9779_0_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f2614b977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f2614b9779_0_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f2614b977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f2614b977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f2614b977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2614b9779_0_82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f2614b9779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SLIDES_API73498655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SLIDES_API7349865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📣 This is Slido interaction slide, please don't delete it.</a:t>
            </a:r>
            <a:br>
              <a:rPr lang="en"/>
            </a:br>
            <a:r>
              <a:rPr lang="en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2614b9779_0_8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f2614b9779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f2614b9779_0_8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f2614b9779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f2614b9779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f2614b9779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2614b9779_0_8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f2614b9779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2614b977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f2614b977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2614b9779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f2614b9779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●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○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■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4"/>
          <p:cNvCxnSpPr/>
          <p:nvPr/>
        </p:nvCxnSpPr>
        <p:spPr>
          <a:xfrm flipH="1" rot="10800000">
            <a:off x="95431" y="401610"/>
            <a:ext cx="8393400" cy="6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7" name="Google Shape;47;p7"/>
          <p:cNvCxnSpPr/>
          <p:nvPr/>
        </p:nvCxnSpPr>
        <p:spPr>
          <a:xfrm>
            <a:off x="4667431" y="402210"/>
            <a:ext cx="3796800" cy="75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4" name="Google Shape;54;p8"/>
          <p:cNvCxnSpPr/>
          <p:nvPr/>
        </p:nvCxnSpPr>
        <p:spPr>
          <a:xfrm flipH="1" rot="10800000">
            <a:off x="95431" y="401610"/>
            <a:ext cx="8401500" cy="6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" name="Google Shape;59;p9"/>
          <p:cNvCxnSpPr/>
          <p:nvPr/>
        </p:nvCxnSpPr>
        <p:spPr>
          <a:xfrm flipH="1" rot="10800000">
            <a:off x="95431" y="385410"/>
            <a:ext cx="8352600" cy="1680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72" name="Google Shape;72;p12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_AND_BOD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1">
  <p:cSld name="TITLE_AND_BODY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57188" y="198377"/>
            <a:ext cx="84297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lvl="0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1pPr>
            <a:lvl2pPr lvl="1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2pPr>
            <a:lvl3pPr lvl="2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3pPr>
            <a:lvl4pPr lvl="3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4pPr>
            <a:lvl5pPr lvl="4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5pPr>
            <a:lvl6pPr lvl="5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6pPr>
            <a:lvl7pPr lvl="6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7pPr>
            <a:lvl8pPr lvl="7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8pPr>
            <a:lvl9pPr lvl="8" rtl="0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13262"/>
              </a:buClr>
              <a:buSzPts val="7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4491037" y="4881563"/>
            <a:ext cx="1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>
            <a:lvl1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indent="0" lvl="3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indent="0" lvl="4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5pPr>
            <a:lvl6pPr indent="0" lvl="5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6pPr>
            <a:lvl7pPr indent="0" lvl="6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7pPr>
            <a:lvl8pPr indent="0" lvl="7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8pPr>
            <a:lvl9pPr indent="0" lvl="8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946"/>
              </a:buClr>
              <a:buSzPts val="900"/>
              <a:buFont typeface="Palatino"/>
              <a:buNone/>
              <a:defRPr sz="900"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4774375" y="-46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" name="Google Shape;9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03" name="Google Shape;10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SECTION_HEADER_1_1">
    <p:bg>
      <p:bgPr>
        <a:solidFill>
          <a:srgbClr val="4A86E8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7" name="Google Shape;117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-190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rtl="0" algn="l">
              <a:spcBef>
                <a:spcPts val="0"/>
              </a:spcBef>
              <a:buNone/>
              <a:defRPr sz="9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23" name="Google Shape;12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5" name="Google Shape;125;p23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2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1.xml"/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•"/>
              <a:def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49638" y="594350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oboto Light"/>
                <a:ea typeface="Roboto Light"/>
                <a:cs typeface="Roboto Light"/>
                <a:sym typeface="Roboto Light"/>
              </a:rPr>
              <a:t>2483105</a:t>
            </a:r>
            <a:endParaRPr sz="10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1" name="Google Shape;11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0600" y="4565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hyperlink" Target="https://www.sli.do/features-google-slides?payload=eyJwcmVzZW50YXRpb25JZCI6IjFvbFRLZ00zOFg0OVFFSDdjU1pyMjhaeGppd0JGYXpYTk56eERVeXZNcUlFIiwic2xpZGVJZCI6IlNMSURFU19BUEkxNzIyNDI2NzAxXzAiLCJ0eXBlIjoiU2xpZG9Kb2luaW5nIn0%3D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www.sli.do/features-google-slides?interaction-type=Sm9pbg%3D%3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s100.org/acknowledgement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tidyr.tidyverse.org/articles/tidy-data.html#tidy-data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sli.do/features-google-slides?payload=eyJwb2xsVXVpZCI6ImQ3ZGMyNzljLWFlZDUtNDRkYS1hNGViLWJlMzlkZmMyZmQ2YiIsInByZXNlbnRhdGlvbklkIjoiMW9sVEtnTTM4WDQ5UUVIN2NTWnIyOFp4aml3QkZhelhOTnp4RFV5dk1xSUUiLCJzbGlkZUlkIjoiU0xJREVTX0FQSTcyOTc1NjQwMV8wIiwidGltZWxpbmUiOlt7InBvbGxRdWVzdGlvblV1aWQiOiI3YjEyODQyMC1jMTVhLTRiZjEtODdjYS1mMGM0ZmQyMzViYzEiLCJzaG93UmVzdWx0cyI6ZmFsc2V9LHsicG9sbFF1ZXN0aW9uVXVpZCI6IjdiMTI4NDIwLWMxNWEtNGJmMS04N2NhLWYwYzRmZDIzNWJjMSIsInNob3dSZXN1bHRzIjp0cnVlfV0sInR5cGUiOiJTbGlkb1BvbGwifQ%3D%3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sli.do/features-google-slides?payload=eyJwb2xsVXVpZCI6IjRjYzc4Yjk0LWQyOGUtNDNlMC1iNmUyLTgzN2I1YzUzZmY1YSIsInByZXNlbnRhdGlvbklkIjoiMW9sVEtnTTM4WDQ5UUVIN2NTWnIyOFp4aml3QkZhelhOTnp4RFV5dk1xSUUiLCJzbGlkZUlkIjoiU0xJREVTX0FQSTM5MDMwMTkwM18wIiwidGltZWxpbmUiOlt7InBvbGxRdWVzdGlvblV1aWQiOiJlYWY3OTBmNC1mOTA3LTRjNDktOTZiNy0xYzQwOTg5MDM3MjciLCJzaG93UmVzdWx0cyI6ZmFsc2V9LHsicG9sbFF1ZXN0aW9uVXVpZCI6ImVhZjc5MGY0LWY5MDctNGM0OS05NmI3LTFjNDA5ODkwMzcyNyIsInNob3dSZXN1bHRzIjp0cnVlfV0sInR5cGUiOiJTbGlkb1BvbGwifQ%3D%3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sli.do/features-google-slides?payload=eyJwb2xsVXVpZCI6IjNhYTE2Y2FlLTFmNzMtNDkzOC04OGJkLTE0MmQxNjJhNmE2YiIsInByZXNlbnRhdGlvbklkIjoiMW9sVEtnTTM4WDQ5UUVIN2NTWnIyOFp4aml3QkZhelhOTnp4RFV5dk1xSUUiLCJzbGlkZUlkIjoiU0xJREVTX0FQSTU2NzQ4OTg2MV8wIiwidGltZWxpbmUiOlt7InBvbGxRdWVzdGlvblV1aWQiOiIxMDU5YjYxZS00NGVlLTRkNDQtOTY0Zi01ZTcwMzdiYzliMGIiLCJzaG93UmVzdWx0cyI6ZmFsc2V9LHsic2hvd1Jlc3VsdHMiOnRydWUsInBvbGxRdWVzdGlvblV1aWQiOiIxMDU5YjYxZS00NGVlLTRkNDQtOTY0Zi01ZTcwMzdiYzliMGIifV0sInR5cGUiOiJTbGlkb1BvbGwifQ%3D%3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sli.do/features-google-slides?payload=eyJwb2xsVXVpZCI6ImUzN2Q3ZWJmLTg0ZDktNDk1Ni1hMTFkLWIyNWQzMWQzMzQ2OCIsInByZXNlbnRhdGlvbklkIjoiMW9sVEtnTTM4WDQ5UUVIN2NTWnIyOFp4aml3QkZhelhOTnp4RFV5dk1xSUUiLCJzbGlkZUlkIjoiU0xJREVTX0FQSTg0NTYwNzcxNF8wIiwidGltZWxpbmUiOlt7InBvbGxRdWVzdGlvblV1aWQiOiJkMDIxODIyNC1kMzA4LTQzODgtYjBmMy01MGE2YmEzOWU4ZDIiLCJzaG93UmVzdWx0cyI6ZmFsc2V9LHsicG9sbFF1ZXN0aW9uVXVpZCI6ImQwMjE4MjI0LWQzMDgtNDM4OC1iMGYzLTUwYTZiYTM5ZThkMiIsInNob3dSZXN1bHRzIjp0cnVlfV0sInR5cGUiOiJTbGlkb1BvbGwifQ%3D%3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sli.do/features-google-slides?payload=eyJrZWVwUG9sbEFjdGl2ZSI6ZmFsc2UsInBvbGxVdWlkIjoiMmM4MmQyMGYtODBhMi00MWY5LTlhNzUtNWU3NTEyNzMyMTM1IiwicHJlc2VudGF0aW9uSWQiOiIxb2xUS2dNMzhYNDlRRUg3Y1NacjI4WnhqaXdCRmF6WE5OenhEVXl2TXFJRSIsInNsaWRlSWQiOiJTTElERVNfQVBJMTgzMTU3NjIwNV8wIiwidGltZWxpbmUiOlt7InNob3dSZXN1bHRzIjp0cnVlLCJwb2xsUXVlc3Rpb25VdWlkIjoiMzZlZTRiZTAtYjdhNy00ODcyLTk0YzctYzM0ZGEyYTI2ZGFlIn1dLCJ0eXBlIjoiU2xpZG9Qb2xsIn0%3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sli.do/features-google-slides?payload=eyJwb2xsVXVpZCI6ImNkNTcyNzkzLWRmOTctNGYxNC1hZWQxLTRiYzQ0NTQzNjc1OCIsInByZXNlbnRhdGlvbklkIjoiMW9sVEtnTTM4WDQ5UUVIN2NTWnIyOFp4aml3QkZhelhOTnp4RFV5dk1xSUUiLCJzbGlkZUlkIjoiU0xJREVTX0FQSTExMTY0MTQ5MTdfMCIsInRpbWVsaW5lIjpbeyJwb2xsUXVlc3Rpb25VdWlkIjoiOWZlMDgwNTgtODZmYy00YzgzLTgwYTktOTFhMjAyNGQyYjg2Iiwic2hvd1Jlc3VsdHMiOmZhbHNlfSx7InBvbGxRdWVzdGlvblV1aWQiOiI5ZmUwODA1OC04NmZjLTRjODMtODBhOS05MWEyMDI0ZDJiODYiLCJzaG93UmVzdWx0cyI6dHJ1ZX1dLCJ0eXBlIjoiU2xpZG9Qb2xsIn0%3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hyperlink" Target="https://www.sli.do/features-google-slides?payload=eyJwb2xsVXVpZCI6IjUyMTc5ODRmLWE4ODktNDY3Zi1iYWViLTFhMWI2NWE3ZWZjYyIsInByZXNlbnRhdGlvbklkIjoiMW9sVEtnTTM4WDQ5UUVIN2NTWnIyOFp4aml3QkZhelhOTnp4RFV5dk1xSUUiLCJzbGlkZUlkIjoiU0xJREVTX0FQSTg3NzY2NDc4Ml8wIiwidGltZWxpbmUiOlt7InBvbGxRdWVzdGlvblV1aWQiOiI5MDcyNjc1Ny1iZjhiLTQ2MjUtYjU4Ni1kZWEzOGU0M2M2YWUiLCJzaG93UmVzdWx0cyI6ZmFsc2V9LHsic2hvd1Jlc3VsdHMiOnRydWUsInBvbGxRdWVzdGlvblV1aWQiOiI5MDcyNjc1Ny1iZjhiLTQ2MjUtYjU4Ni1kZWEzOGU0M2M2YWUifV0sInR5cGUiOiJTbGlkb1BvbGwifQ%3D%3D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www.sli.do/features-google-slides?interaction-type=T3BlblRleHQ%3D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4.png"/><Relationship Id="rId5" Type="http://schemas.openxmlformats.org/officeDocument/2006/relationships/image" Target="../media/image3.png"/><Relationship Id="rId6" Type="http://schemas.openxmlformats.org/officeDocument/2006/relationships/hyperlink" Target="https://www.sli.do/features-google-slides?payload=eyJwb2xsVXVpZCI6ImE4NTRmNmI5LWY3OWYtNDZiNy1hNWM5LTJmYmIxYjg2OGU1YyIsInByZXNlbnRhdGlvbklkIjoiMW9sVEtnTTM4WDQ5UUVIN2NTWnIyOFp4aml3QkZhelhOTnp4RFV5dk1xSUUiLCJzbGlkZUlkIjoiU0xJREVTX0FQSTUwMTkzODYzNl8wIiwidGltZWxpbmUiOlt7InBvbGxRdWVzdGlvblV1aWQiOiI3MjY0MTRmOS1lYTExLTRkYTMtYTYxNS0wYjRkNTFiNWVjNjIiLCJzaG93UmVzdWx0cyI6ZmFsc2V9LHsicG9sbFF1ZXN0aW9uVXVpZCI6IjcyNjQxNGY5LWVhMTEtNGRhMy1hNjE1LTBiNGQ1MWI1ZWM2MiIsInNob3dSZXN1bHRzIjp0cnVlfV0sInR5cGUiOiJTbGlkb1BvbGwifQ%3D%3D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www.sli.do/features-google-slides?interaction-type=T3BlblRleHQ%3D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Relationship Id="rId4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slido.com/support/gsi/how-to-change-the-design" TargetMode="External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hyperlink" Target="https://chrome.google.com/webstore/detail/slido/dhhclfjehmpacimcdknijodpjpmppkii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www.sli.do/features-google-slides?payload=eyJrZWVwUG9sbEFjdGl2ZSI6ZmFsc2UsInBvbGxVdWlkIjoiMzE2MDAxZTItZmRjMi00MDAxLWE1OWUtMDhmZjRkODYwMGEwIiwicHJlc2VudGF0aW9uSWQiOiIxb2xUS2dNMzhYNDlRRUg3Y1NacjI4WnhqaXdCRmF6WE5OenhEVXl2TXFJRSIsInNsaWRlSWQiOiJTTElERVNfQVBJNzM0OTg2NTVfMCIsInRpbWVsaW5lIjpbeyJwb2xsUXVlc3Rpb25VdWlkIjoiM2EwMTlhNzEtNDJjMS00ZjFlLWJkODAtNmNhMTg4OWI0MzMwIiwic2hvd1Jlc3VsdHMiOnRydWV9XSwidHlwZSI6IlNsaWRvUG9sbCJ9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Relationship Id="rId6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ds100.org/acknowledgem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2" name="Google Shape;132;p2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133" name="Google Shape;133;p24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Join at slido.com</a:t>
            </a:r>
            <a:b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#2483105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2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137" name="Google Shape;137;p2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138" name="Google Shape;138;p24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ctrTitle"/>
          </p:nvPr>
        </p:nvSpPr>
        <p:spPr>
          <a:xfrm>
            <a:off x="311700" y="744575"/>
            <a:ext cx="876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</a:t>
            </a:r>
            <a:r>
              <a:rPr lang="en"/>
              <a:t> Data Analysis (EDA) III</a:t>
            </a:r>
            <a:endParaRPr/>
          </a:p>
        </p:txBody>
      </p:sp>
      <p:sp>
        <p:nvSpPr>
          <p:cNvPr id="144" name="Google Shape;144;p25"/>
          <p:cNvSpPr txBox="1"/>
          <p:nvPr>
            <p:ph idx="1" type="subTitle"/>
          </p:nvPr>
        </p:nvSpPr>
        <p:spPr>
          <a:xfrm>
            <a:off x="311700" y="2797175"/>
            <a:ext cx="85206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Grouped operations </a:t>
            </a:r>
            <a:r>
              <a:rPr lang="en" sz="1800">
                <a:solidFill>
                  <a:srgbClr val="666666"/>
                </a:solidFill>
              </a:rPr>
              <a:t>and missing data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311700" y="3854350"/>
            <a:ext cx="8520600" cy="12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Data 100/Data 200, Fall 2026 @ UC Berkeley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Ramesh Sridharan and Jeremy Sanchez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Content credit: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Acknowledgments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5"/>
          <p:cNvSpPr txBox="1"/>
          <p:nvPr/>
        </p:nvSpPr>
        <p:spPr>
          <a:xfrm>
            <a:off x="345775" y="1825900"/>
            <a:ext cx="1150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4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/>
          <p:nvPr/>
        </p:nvSpPr>
        <p:spPr>
          <a:xfrm>
            <a:off x="259025" y="1040825"/>
            <a:ext cx="41025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⚠️(Instructor) Reminder to start Askademia!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Announcements!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129450" y="547225"/>
            <a:ext cx="8343000" cy="4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Homework 1 is released, due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Friday 9/11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at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11:59pm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Homework Grading Clarification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Homework 00: Graded on completion/effort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Homework 1 &amp; Onward: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○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Autograded questions: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Based on autograder score (all tests are now public)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○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Written/manual questions: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Graded on completion and good-faith effort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Prerequisite Quiz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Tuesday 9/08 (today!) through Thursday 9/10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Operations So Far (and what we’ll work on today)!</a:t>
            </a:r>
            <a:endParaRPr/>
          </a:p>
        </p:txBody>
      </p:sp>
      <p:sp>
        <p:nvSpPr>
          <p:cNvPr id="161" name="Google Shape;161;p27"/>
          <p:cNvSpPr txBox="1"/>
          <p:nvPr>
            <p:ph idx="1" type="body"/>
          </p:nvPr>
        </p:nvSpPr>
        <p:spPr>
          <a:xfrm>
            <a:off x="91100" y="393600"/>
            <a:ext cx="8520600" cy="44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View</a:t>
            </a:r>
            <a:r>
              <a:rPr lang="en">
                <a:solidFill>
                  <a:schemeClr val="dk2"/>
                </a:solidFill>
              </a:rPr>
              <a:t> a preview of a dataframe.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Select</a:t>
            </a:r>
            <a:r>
              <a:rPr lang="en">
                <a:solidFill>
                  <a:schemeClr val="dk2"/>
                </a:solidFill>
              </a:rPr>
              <a:t> specific columns.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</a:t>
            </a:r>
            <a:r>
              <a:rPr lang="en">
                <a:solidFill>
                  <a:schemeClr val="dk2"/>
                </a:solidFill>
              </a:rPr>
              <a:t> new columns.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Filter</a:t>
            </a:r>
            <a:r>
              <a:rPr lang="en">
                <a:solidFill>
                  <a:schemeClr val="dk2"/>
                </a:solidFill>
              </a:rPr>
              <a:t> to specific rows.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Order</a:t>
            </a:r>
            <a:r>
              <a:rPr lang="en">
                <a:solidFill>
                  <a:schemeClr val="dk2"/>
                </a:solidFill>
              </a:rPr>
              <a:t> the data by the values in a column.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Calculate</a:t>
            </a:r>
            <a:r>
              <a:rPr lang="en"/>
              <a:t> summary statistics for one or more columns.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Visualize 1D</a:t>
            </a:r>
            <a:r>
              <a:rPr lang="en"/>
              <a:t> (one dimensional) data with a boxplot or histogram.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Visualize 2D</a:t>
            </a:r>
            <a:r>
              <a:rPr lang="en"/>
              <a:t> data with a scatterplot or lineplot.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Group</a:t>
            </a:r>
            <a:r>
              <a:rPr lang="en"/>
              <a:t> by some variable, and then do something (most often,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aggregate</a:t>
            </a:r>
            <a:r>
              <a:rPr lang="en"/>
              <a:t>).</a:t>
            </a:r>
            <a:endParaRPr/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English: "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 unique value</a:t>
            </a:r>
            <a:r>
              <a:rPr lang="en"/>
              <a:t> of COLUMN(S), do SOMETHING."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🧙 Grouping and visualizing → Majority of EDA with tabular data!</a:t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time: Summarizing patterns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Depending on the audience, we may or may not want to show every data point.</a:t>
            </a:r>
            <a:endParaRPr/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000" y="970400"/>
            <a:ext cx="3533325" cy="269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/>
        </p:nvSpPr>
        <p:spPr>
          <a:xfrm>
            <a:off x="88150" y="4370925"/>
            <a:ext cx="855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Note: The 0–25 frl_percentile bin consists of the 25% of schools with the lowest values of pct_free_reduced. </a:t>
            </a:r>
            <a:b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It is </a:t>
            </a:r>
            <a:r>
              <a:rPr lang="en" sz="12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not</a:t>
            </a: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all schools where 0 &lt; pct_free_reduced &lt; 0.25.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325" y="931725"/>
            <a:ext cx="3849920" cy="27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/>
        </p:nvSpPr>
        <p:spPr>
          <a:xfrm>
            <a:off x="2704975" y="1119950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7095675" y="1119950"/>
            <a:ext cx="292800" cy="431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215500" y="3857100"/>
            <a:ext cx="838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Another nice option: Make the points nearly transparent and overlay a bold curve on top!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Writing visualization code with Seaborn</a:t>
            </a:r>
            <a:endParaRPr/>
          </a:p>
        </p:txBody>
      </p:sp>
      <p:sp>
        <p:nvSpPr>
          <p:cNvPr id="181" name="Google Shape;18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9"/>
          <p:cNvSpPr txBox="1"/>
          <p:nvPr/>
        </p:nvSpPr>
        <p:spPr>
          <a:xfrm>
            <a:off x="163550" y="2462194"/>
            <a:ext cx="881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sns.scatterplot(df_new, x='pct_frl', y='app_rate', size='grade_12', ...)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3" name="Google Shape;183;p29"/>
          <p:cNvSpPr/>
          <p:nvPr/>
        </p:nvSpPr>
        <p:spPr>
          <a:xfrm>
            <a:off x="711425" y="2524744"/>
            <a:ext cx="1226700" cy="327000"/>
          </a:xfrm>
          <a:prstGeom prst="roundRect">
            <a:avLst>
              <a:gd fmla="val 16667" name="adj"/>
            </a:avLst>
          </a:prstGeom>
          <a:solidFill>
            <a:srgbClr val="C9DAF8">
              <a:alpha val="702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336200" y="993950"/>
            <a:ext cx="3419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Roboto Light"/>
                <a:ea typeface="Roboto Light"/>
                <a:cs typeface="Roboto Light"/>
                <a:sym typeface="Roboto Light"/>
              </a:rPr>
              <a:t>Plotting function goes here: </a:t>
            </a:r>
            <a:r>
              <a:rPr lang="en" sz="1800">
                <a:solidFill>
                  <a:schemeClr val="accent3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scatterplot, lineplot, histplot</a:t>
            </a:r>
            <a:r>
              <a:rPr lang="en" sz="1800">
                <a:solidFill>
                  <a:schemeClr val="accent3"/>
                </a:solidFill>
                <a:latin typeface="Roboto Light"/>
                <a:ea typeface="Roboto Light"/>
                <a:cs typeface="Roboto Light"/>
                <a:sym typeface="Roboto Light"/>
              </a:rPr>
              <a:t>, etc.</a:t>
            </a:r>
            <a:endParaRPr sz="1800">
              <a:solidFill>
                <a:schemeClr val="accent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85" name="Google Shape;185;p29"/>
          <p:cNvCxnSpPr>
            <a:endCxn id="183" idx="0"/>
          </p:cNvCxnSpPr>
          <p:nvPr/>
        </p:nvCxnSpPr>
        <p:spPr>
          <a:xfrm flipH="1">
            <a:off x="1324775" y="2009944"/>
            <a:ext cx="236100" cy="514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9"/>
          <p:cNvSpPr/>
          <p:nvPr/>
        </p:nvSpPr>
        <p:spPr>
          <a:xfrm>
            <a:off x="2041350" y="2524744"/>
            <a:ext cx="698100" cy="327000"/>
          </a:xfrm>
          <a:prstGeom prst="roundRect">
            <a:avLst>
              <a:gd fmla="val 16667" name="adj"/>
            </a:avLst>
          </a:prstGeom>
          <a:solidFill>
            <a:srgbClr val="FCE5CD">
              <a:alpha val="7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443625" y="3082050"/>
            <a:ext cx="296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Your dataframe goes here</a:t>
            </a:r>
            <a:endParaRPr sz="18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88" name="Google Shape;188;p29"/>
          <p:cNvCxnSpPr>
            <a:endCxn id="187" idx="0"/>
          </p:cNvCxnSpPr>
          <p:nvPr/>
        </p:nvCxnSpPr>
        <p:spPr>
          <a:xfrm flipH="1">
            <a:off x="1925475" y="2851650"/>
            <a:ext cx="556500" cy="230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9"/>
          <p:cNvSpPr/>
          <p:nvPr/>
        </p:nvSpPr>
        <p:spPr>
          <a:xfrm>
            <a:off x="2943250" y="2524750"/>
            <a:ext cx="4710000" cy="327000"/>
          </a:xfrm>
          <a:prstGeom prst="roundRect">
            <a:avLst>
              <a:gd fmla="val 16667" name="adj"/>
            </a:avLst>
          </a:prstGeom>
          <a:solidFill>
            <a:srgbClr val="D9EAD3">
              <a:alpha val="7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4500850" y="3513150"/>
            <a:ext cx="315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98038"/>
                </a:solidFill>
                <a:latin typeface="Roboto Light"/>
                <a:ea typeface="Roboto Light"/>
                <a:cs typeface="Roboto Light"/>
                <a:sym typeface="Roboto Light"/>
              </a:rPr>
              <a:t>Columns with information for x, y, color, size, etc. go here</a:t>
            </a:r>
            <a:endParaRPr sz="1800">
              <a:solidFill>
                <a:srgbClr val="198038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91" name="Google Shape;191;p29"/>
          <p:cNvCxnSpPr>
            <a:stCxn id="189" idx="2"/>
            <a:endCxn id="190" idx="0"/>
          </p:cNvCxnSpPr>
          <p:nvPr/>
        </p:nvCxnSpPr>
        <p:spPr>
          <a:xfrm>
            <a:off x="5298250" y="2851750"/>
            <a:ext cx="778800" cy="661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9"/>
          <p:cNvSpPr txBox="1"/>
          <p:nvPr/>
        </p:nvSpPr>
        <p:spPr>
          <a:xfrm>
            <a:off x="5422075" y="993950"/>
            <a:ext cx="3152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Extra formatting arguments go here: this is look-it-up or ask-an-LLM territory!</a:t>
            </a:r>
            <a:endParaRPr i="1" sz="18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93" name="Google Shape;193;p29"/>
          <p:cNvCxnSpPr/>
          <p:nvPr/>
        </p:nvCxnSpPr>
        <p:spPr>
          <a:xfrm>
            <a:off x="7548625" y="1895175"/>
            <a:ext cx="342900" cy="5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time: Tidy data</a:t>
            </a:r>
            <a:endParaRPr/>
          </a:p>
        </p:txBody>
      </p:sp>
      <p:sp>
        <p:nvSpPr>
          <p:cNvPr id="199" name="Google Shape;19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30"/>
          <p:cNvSpPr txBox="1"/>
          <p:nvPr/>
        </p:nvSpPr>
        <p:spPr>
          <a:xfrm>
            <a:off x="4784900" y="873713"/>
            <a:ext cx="3088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What data is needed to make this plot?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Tidy data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: Each row represents one data point in the plot.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There are 4 points in the plot. 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So, 4 rows are needed.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Each point has 2 features: frl_percentile and avg_app_rate.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So, we need 2 columns.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01" name="Google Shape;2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350" y="1033250"/>
            <a:ext cx="3849920" cy="2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Last time: </a:t>
            </a:r>
            <a:r>
              <a:rPr lang="en">
                <a:solidFill>
                  <a:schemeClr val="accent3"/>
                </a:solidFill>
              </a:rPr>
              <a:t>Tidy data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08" name="Google Shape;208;p31"/>
          <p:cNvGraphicFramePr/>
          <p:nvPr/>
        </p:nvGraphicFramePr>
        <p:xfrm>
          <a:off x="5133075" y="126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1464400"/>
                <a:gridCol w="1464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frl_percentile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avg_app_rate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0–25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0.26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25–50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0.12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50–75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0.087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75–100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0.094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9" name="Google Shape;209;p31"/>
          <p:cNvSpPr txBox="1"/>
          <p:nvPr/>
        </p:nvSpPr>
        <p:spPr>
          <a:xfrm>
            <a:off x="5133075" y="3409325"/>
            <a:ext cx="298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How do we generate this data?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10" name="Google Shape;2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50" y="1033250"/>
            <a:ext cx="3849920" cy="2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Split-Apply-Combine Paradigm</a:t>
            </a:r>
            <a:endParaRPr/>
          </a:p>
        </p:txBody>
      </p:sp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32"/>
          <p:cNvPicPr preferRelativeResize="0"/>
          <p:nvPr/>
        </p:nvPicPr>
        <p:blipFill rotWithShape="1">
          <a:blip r:embed="rId3">
            <a:alphaModFix/>
          </a:blip>
          <a:srcRect b="0" l="0" r="86893" t="9560"/>
          <a:stretch/>
        </p:blipFill>
        <p:spPr>
          <a:xfrm>
            <a:off x="409425" y="1335900"/>
            <a:ext cx="750351" cy="31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/>
        </p:nvSpPr>
        <p:spPr>
          <a:xfrm>
            <a:off x="635800" y="4641875"/>
            <a:ext cx="533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"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unique value of city,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count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the number of rows."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5850" y="3276450"/>
            <a:ext cx="1476950" cy="1697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" name="Google Shape;220;p32"/>
          <p:cNvGrpSpPr/>
          <p:nvPr/>
        </p:nvGrpSpPr>
        <p:grpSpPr>
          <a:xfrm>
            <a:off x="313450" y="658800"/>
            <a:ext cx="2488524" cy="3881075"/>
            <a:chOff x="313450" y="658800"/>
            <a:chExt cx="2488524" cy="3881075"/>
          </a:xfrm>
        </p:grpSpPr>
        <p:sp>
          <p:nvSpPr>
            <p:cNvPr id="221" name="Google Shape;221;p32"/>
            <p:cNvSpPr txBox="1"/>
            <p:nvPr/>
          </p:nvSpPr>
          <p:spPr>
            <a:xfrm>
              <a:off x="313450" y="658800"/>
              <a:ext cx="1920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Step 1: Split </a:t>
              </a:r>
              <a:b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(by city)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222" name="Google Shape;222;p32"/>
            <p:cNvPicPr preferRelativeResize="0"/>
            <p:nvPr/>
          </p:nvPicPr>
          <p:blipFill rotWithShape="1">
            <a:blip r:embed="rId3">
              <a:alphaModFix/>
            </a:blip>
            <a:srcRect b="0" l="12002" r="59313" t="9560"/>
            <a:stretch/>
          </p:blipFill>
          <p:spPr>
            <a:xfrm>
              <a:off x="1159775" y="1356900"/>
              <a:ext cx="1642199" cy="3182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3" name="Google Shape;223;p32"/>
          <p:cNvGrpSpPr/>
          <p:nvPr/>
        </p:nvGrpSpPr>
        <p:grpSpPr>
          <a:xfrm>
            <a:off x="2562763" y="658800"/>
            <a:ext cx="2253136" cy="3860075"/>
            <a:chOff x="2562763" y="658800"/>
            <a:chExt cx="2253136" cy="3860075"/>
          </a:xfrm>
        </p:grpSpPr>
        <p:sp>
          <p:nvSpPr>
            <p:cNvPr id="224" name="Google Shape;224;p32"/>
            <p:cNvSpPr txBox="1"/>
            <p:nvPr/>
          </p:nvSpPr>
          <p:spPr>
            <a:xfrm>
              <a:off x="2562763" y="658800"/>
              <a:ext cx="14400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Step 2: Apply</a:t>
              </a:r>
              <a:b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</a:b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(count rows)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225" name="Google Shape;225;p32"/>
            <p:cNvPicPr preferRelativeResize="0"/>
            <p:nvPr/>
          </p:nvPicPr>
          <p:blipFill rotWithShape="1">
            <a:blip r:embed="rId3">
              <a:alphaModFix/>
            </a:blip>
            <a:srcRect b="0" l="39231" r="27221" t="9560"/>
            <a:stretch/>
          </p:blipFill>
          <p:spPr>
            <a:xfrm>
              <a:off x="2895299" y="1335900"/>
              <a:ext cx="1920599" cy="3182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6" name="Google Shape;226;p32"/>
          <p:cNvGrpSpPr/>
          <p:nvPr/>
        </p:nvGrpSpPr>
        <p:grpSpPr>
          <a:xfrm>
            <a:off x="4331500" y="781800"/>
            <a:ext cx="2046862" cy="3737075"/>
            <a:chOff x="4331500" y="781800"/>
            <a:chExt cx="2046862" cy="3737075"/>
          </a:xfrm>
        </p:grpSpPr>
        <p:sp>
          <p:nvSpPr>
            <p:cNvPr id="227" name="Google Shape;227;p32"/>
            <p:cNvSpPr txBox="1"/>
            <p:nvPr/>
          </p:nvSpPr>
          <p:spPr>
            <a:xfrm>
              <a:off x="4331500" y="781800"/>
              <a:ext cx="1642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Step 3: Combine</a:t>
              </a:r>
              <a:endParaRPr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pic>
          <p:nvPicPr>
            <p:cNvPr id="228" name="Google Shape;228;p32"/>
            <p:cNvPicPr preferRelativeResize="0"/>
            <p:nvPr/>
          </p:nvPicPr>
          <p:blipFill rotWithShape="1">
            <a:blip r:embed="rId3">
              <a:alphaModFix/>
            </a:blip>
            <a:srcRect b="0" l="74846" r="0" t="9560"/>
            <a:stretch/>
          </p:blipFill>
          <p:spPr>
            <a:xfrm>
              <a:off x="4938362" y="1335900"/>
              <a:ext cx="1440000" cy="3182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Split-Apply-Combine Paradigm</a:t>
            </a:r>
            <a:endParaRPr/>
          </a:p>
        </p:txBody>
      </p:sp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3"/>
          <p:cNvSpPr txBox="1"/>
          <p:nvPr/>
        </p:nvSpPr>
        <p:spPr>
          <a:xfrm>
            <a:off x="313450" y="506400"/>
            <a:ext cx="19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Step 1: Split 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(by city)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2094025" y="506400"/>
            <a:ext cx="2154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Step 2: Apply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(average tot_enrolled)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4331500" y="629400"/>
            <a:ext cx="164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Step 3: Combine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38" name="Google Shape;238;p33"/>
          <p:cNvPicPr preferRelativeResize="0"/>
          <p:nvPr/>
        </p:nvPicPr>
        <p:blipFill rotWithShape="1">
          <a:blip r:embed="rId3">
            <a:alphaModFix/>
          </a:blip>
          <a:srcRect b="0" l="0" r="0" t="9404"/>
          <a:stretch/>
        </p:blipFill>
        <p:spPr>
          <a:xfrm>
            <a:off x="362350" y="1343938"/>
            <a:ext cx="5412526" cy="3014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3"/>
          <p:cNvSpPr txBox="1"/>
          <p:nvPr/>
        </p:nvSpPr>
        <p:spPr>
          <a:xfrm>
            <a:off x="313450" y="4641875"/>
            <a:ext cx="85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"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unique value of city,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 the mean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# of students enrolled across its schools."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40" name="Google Shape;240;p33"/>
          <p:cNvGrpSpPr/>
          <p:nvPr/>
        </p:nvGrpSpPr>
        <p:grpSpPr>
          <a:xfrm>
            <a:off x="5366125" y="2914563"/>
            <a:ext cx="3116996" cy="1610363"/>
            <a:chOff x="5366125" y="2914563"/>
            <a:chExt cx="3116996" cy="1610363"/>
          </a:xfrm>
        </p:grpSpPr>
        <p:pic>
          <p:nvPicPr>
            <p:cNvPr id="241" name="Google Shape;24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03741" y="2914562"/>
              <a:ext cx="1779380" cy="161036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2" name="Google Shape;242;p33"/>
            <p:cNvCxnSpPr/>
            <p:nvPr/>
          </p:nvCxnSpPr>
          <p:spPr>
            <a:xfrm flipH="1" rot="10800000">
              <a:off x="6461000" y="4015450"/>
              <a:ext cx="238500" cy="48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3" name="Google Shape;243;p33"/>
            <p:cNvSpPr txBox="1"/>
            <p:nvPr/>
          </p:nvSpPr>
          <p:spPr>
            <a:xfrm>
              <a:off x="5366125" y="3923375"/>
              <a:ext cx="121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Josh grew up here!</a:t>
              </a:r>
              <a:endParaRPr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One big high school.</a:t>
              </a:r>
              <a:endParaRPr sz="9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Split-apply-combine practice</a:t>
            </a:r>
            <a:endParaRPr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107050" y="402200"/>
            <a:ext cx="8520600" cy="43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each of the following scenarios, write an analysis statement in the form "For each…".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You can make up any column name you think is appropriate for the dataset.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56" name="Google Shape;256;p3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257" name="Google Shape;257;p3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258" name="Google Shape;258;p35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Same admissions dataset as before. Which counties have the most schools? Write an analysis plan starting with "For each…".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61" name="Google Shape;261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262" name="Google Shape;262;p35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Slido 1</a:t>
            </a:r>
            <a:endParaRPr/>
          </a:p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107050" y="402200"/>
            <a:ext cx="8520600" cy="13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Same admissions dataset as before. Which counties have the most schools?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/>
              <a:t> unique value of county,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count</a:t>
            </a:r>
            <a:r>
              <a:rPr lang="en"/>
              <a:t> the number of rows."</a:t>
            </a:r>
            <a:br>
              <a:rPr lang="en"/>
            </a:br>
            <a:r>
              <a:rPr lang="en"/>
              <a:t>"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Sort</a:t>
            </a:r>
            <a:r>
              <a:rPr lang="en"/>
              <a:t> the data in descending order of # of rows."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70" name="Google Shape;270;p36"/>
          <p:cNvGraphicFramePr/>
          <p:nvPr/>
        </p:nvGraphicFramePr>
        <p:xfrm>
          <a:off x="231650" y="3687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6505550"/>
                <a:gridCol w="1890450"/>
              </a:tblGrid>
              <a:tr h="185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02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admissions.group_by('county').len().sort('len',descending=True)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admissions.group_by('county').agg(num_schools=pl.len()).sort('num_schools',descending=True)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county, COUNT(*) as n_schools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 BY county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graphicFrame>
        <p:nvGraphicFramePr>
          <p:cNvPr id="271" name="Google Shape;271;p36"/>
          <p:cNvGraphicFramePr/>
          <p:nvPr/>
        </p:nvGraphicFramePr>
        <p:xfrm>
          <a:off x="313700" y="186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771675"/>
                <a:gridCol w="771675"/>
                <a:gridCol w="771675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b="1"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county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C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36"/>
          <p:cNvSpPr txBox="1"/>
          <p:nvPr/>
        </p:nvSpPr>
        <p:spPr>
          <a:xfrm>
            <a:off x="233400" y="3193150"/>
            <a:ext cx="247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 other columns do not matter!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273" name="Google Shape;273;p36"/>
          <p:cNvGraphicFramePr/>
          <p:nvPr/>
        </p:nvGraphicFramePr>
        <p:xfrm>
          <a:off x="3548025" y="203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1157500"/>
                <a:gridCol w="115750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county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n_schools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C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36"/>
          <p:cNvSpPr/>
          <p:nvPr/>
        </p:nvSpPr>
        <p:spPr>
          <a:xfrm>
            <a:off x="2981450" y="2210000"/>
            <a:ext cx="444300" cy="33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75" name="Google Shape;275;p36"/>
          <p:cNvSpPr/>
          <p:nvPr/>
        </p:nvSpPr>
        <p:spPr>
          <a:xfrm>
            <a:off x="5985300" y="2210000"/>
            <a:ext cx="394800" cy="33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276" name="Google Shape;276;p36"/>
          <p:cNvGraphicFramePr/>
          <p:nvPr/>
        </p:nvGraphicFramePr>
        <p:xfrm>
          <a:off x="6502375" y="2034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1157500"/>
                <a:gridCol w="115750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county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n_schools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C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283" name="Google Shape;283;p3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284" name="Google Shape;284;p37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Transaction dataset. How much did each customer spend every day?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3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287" name="Google Shape;287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288" name="Google Shape;288;p37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Slido 5</a:t>
            </a:r>
            <a:endParaRPr/>
          </a:p>
        </p:txBody>
      </p:sp>
      <p:sp>
        <p:nvSpPr>
          <p:cNvPr id="294" name="Google Shape;294;p3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5. Transaction dataset. Which customer spent the most money on each day?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/>
              <a:t> unique combination of date and customer_id,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sum</a:t>
            </a:r>
            <a:r>
              <a:rPr lang="en"/>
              <a:t> up the cost column."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"Then,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sort</a:t>
            </a:r>
            <a:r>
              <a:rPr lang="en"/>
              <a:t> the resulting dataframe in decreasing order of summed cost."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"Finally,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/>
              <a:t> unique date,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grab the first row</a:t>
            </a:r>
            <a:r>
              <a:rPr lang="en"/>
              <a:t>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Repeated grouping!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96" name="Google Shape;296;p38"/>
          <p:cNvGraphicFramePr/>
          <p:nvPr/>
        </p:nvGraphicFramePr>
        <p:xfrm>
          <a:off x="344625" y="299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669550"/>
                <a:gridCol w="669550"/>
                <a:gridCol w="66955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customer_id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date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sum_cost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120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7" name="Google Shape;297;p38"/>
          <p:cNvSpPr txBox="1"/>
          <p:nvPr/>
        </p:nvSpPr>
        <p:spPr>
          <a:xfrm>
            <a:off x="124800" y="3970050"/>
            <a:ext cx="24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Result from previous Slido.</a:t>
            </a:r>
            <a:endParaRPr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298" name="Google Shape;298;p38"/>
          <p:cNvGraphicFramePr/>
          <p:nvPr/>
        </p:nvGraphicFramePr>
        <p:xfrm>
          <a:off x="3534500" y="299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669550"/>
                <a:gridCol w="669550"/>
                <a:gridCol w="66955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customer_id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date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sum_cost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120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9" name="Google Shape;299;p38"/>
          <p:cNvGraphicFramePr/>
          <p:nvPr/>
        </p:nvGraphicFramePr>
        <p:xfrm>
          <a:off x="6795275" y="2992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669550"/>
                <a:gridCol w="669550"/>
                <a:gridCol w="66955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customer_id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date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sum_cost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120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pSp>
        <p:nvGrpSpPr>
          <p:cNvPr id="300" name="Google Shape;300;p38"/>
          <p:cNvGrpSpPr/>
          <p:nvPr/>
        </p:nvGrpSpPr>
        <p:grpSpPr>
          <a:xfrm>
            <a:off x="6111475" y="3254275"/>
            <a:ext cx="2687825" cy="589275"/>
            <a:chOff x="6111475" y="3254275"/>
            <a:chExt cx="2687825" cy="589275"/>
          </a:xfrm>
        </p:grpSpPr>
        <p:sp>
          <p:nvSpPr>
            <p:cNvPr id="301" name="Google Shape;301;p38"/>
            <p:cNvSpPr/>
            <p:nvPr/>
          </p:nvSpPr>
          <p:spPr>
            <a:xfrm>
              <a:off x="6111475" y="3254275"/>
              <a:ext cx="384600" cy="338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cxnSp>
          <p:nvCxnSpPr>
            <p:cNvPr id="302" name="Google Shape;302;p38"/>
            <p:cNvCxnSpPr/>
            <p:nvPr/>
          </p:nvCxnSpPr>
          <p:spPr>
            <a:xfrm>
              <a:off x="6794400" y="3509350"/>
              <a:ext cx="2004900" cy="334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3" name="Google Shape;303;p38"/>
          <p:cNvGrpSpPr/>
          <p:nvPr/>
        </p:nvGrpSpPr>
        <p:grpSpPr>
          <a:xfrm>
            <a:off x="2795025" y="3254288"/>
            <a:ext cx="3028700" cy="1331363"/>
            <a:chOff x="2795025" y="3254288"/>
            <a:chExt cx="3028700" cy="1331363"/>
          </a:xfrm>
        </p:grpSpPr>
        <p:sp>
          <p:nvSpPr>
            <p:cNvPr id="304" name="Google Shape;304;p38"/>
            <p:cNvSpPr/>
            <p:nvPr/>
          </p:nvSpPr>
          <p:spPr>
            <a:xfrm>
              <a:off x="2795025" y="3254288"/>
              <a:ext cx="384600" cy="338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305" name="Google Shape;305;p38"/>
            <p:cNvSpPr txBox="1"/>
            <p:nvPr/>
          </p:nvSpPr>
          <p:spPr>
            <a:xfrm>
              <a:off x="3375425" y="3970050"/>
              <a:ext cx="2448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Groups have been reset and redefined to just date.</a:t>
              </a:r>
              <a:endParaRPr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Slido 2</a:t>
            </a:r>
            <a:endParaRPr/>
          </a:p>
        </p:txBody>
      </p:sp>
      <p:sp>
        <p:nvSpPr>
          <p:cNvPr id="311" name="Google Shape;311;p3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Dataset where each row is a transaction. Which customers spend the most money?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/>
              <a:t> customer_id,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sum</a:t>
            </a:r>
            <a:r>
              <a:rPr lang="en"/>
              <a:t> up the cost column."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Sort</a:t>
            </a:r>
            <a:r>
              <a:rPr lang="en"/>
              <a:t> the data in descending order of summed cost."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13" name="Google Shape;313;p39"/>
          <p:cNvGraphicFramePr/>
          <p:nvPr/>
        </p:nvGraphicFramePr>
        <p:xfrm>
          <a:off x="183300" y="3775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5968550"/>
                <a:gridCol w="2399550"/>
              </a:tblGrid>
              <a:tr h="2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00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transactions.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group_by('customer_id').sum().sort('sum_cost',descending=True)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</a:t>
                      </a:r>
                      <a:b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transactions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.group_by('customer_id').agg(total_cost=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pl.col('cost').sum()).sort('total_cost',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descending=True)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customer_id, SUM(cost) as sum_cost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transactions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 BY customer_id</a:t>
                      </a:r>
                      <a:b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 BY sum_cost DESC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graphicFrame>
        <p:nvGraphicFramePr>
          <p:cNvPr id="314" name="Google Shape;314;p39"/>
          <p:cNvGraphicFramePr/>
          <p:nvPr/>
        </p:nvGraphicFramePr>
        <p:xfrm>
          <a:off x="328900" y="221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723025"/>
                <a:gridCol w="723025"/>
                <a:gridCol w="723025"/>
                <a:gridCol w="723025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b="1"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customer_id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5" name="Google Shape;315;p39"/>
          <p:cNvGraphicFramePr/>
          <p:nvPr/>
        </p:nvGraphicFramePr>
        <p:xfrm>
          <a:off x="4101000" y="230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853750"/>
                <a:gridCol w="85375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customer_id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sum_cost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90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6" name="Google Shape;316;p39"/>
          <p:cNvGraphicFramePr/>
          <p:nvPr/>
        </p:nvGraphicFramePr>
        <p:xfrm>
          <a:off x="6617550" y="230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818325"/>
                <a:gridCol w="818325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customer_id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sum_cost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90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7" name="Google Shape;317;p39"/>
          <p:cNvSpPr/>
          <p:nvPr/>
        </p:nvSpPr>
        <p:spPr>
          <a:xfrm>
            <a:off x="3508850" y="2483900"/>
            <a:ext cx="384600" cy="33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18" name="Google Shape;318;p39"/>
          <p:cNvSpPr/>
          <p:nvPr/>
        </p:nvSpPr>
        <p:spPr>
          <a:xfrm>
            <a:off x="6045700" y="2483900"/>
            <a:ext cx="384600" cy="33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24" name="Google Shape;324;p4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325" name="Google Shape;325;p4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326" name="Google Shape;326;p40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Admissions dataset. In each county, which two schools have the most admits to UC Berkeley?</a:t>
            </a:r>
            <a:endParaRPr b="1" sz="27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28" name="Google Shape;328;p4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29" name="Google Shape;329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330" name="Google Shape;330;p40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Slido 3</a:t>
            </a:r>
            <a:endParaRPr/>
          </a:p>
        </p:txBody>
      </p:sp>
      <p:sp>
        <p:nvSpPr>
          <p:cNvPr id="336" name="Google Shape;336;p4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Admissions dataset. In each county, which two schools have the most admits?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"First,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sort</a:t>
            </a:r>
            <a:r>
              <a:rPr lang="en"/>
              <a:t> the entire dataframe in decreasing order of the admit column."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"Then,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/>
              <a:t> unique value of county,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grab the first two rows</a:t>
            </a:r>
            <a:r>
              <a:rPr lang="en"/>
              <a:t> starting from the top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/>
              <a:t>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38" name="Google Shape;338;p41"/>
          <p:cNvGraphicFramePr/>
          <p:nvPr/>
        </p:nvGraphicFramePr>
        <p:xfrm>
          <a:off x="201050" y="399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4934375"/>
                <a:gridCol w="3741175"/>
              </a:tblGrid>
              <a:tr h="7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31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admissions.sort('admitted', descending=True).group_by('county').head(2)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*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df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 BY county</a:t>
                      </a:r>
                      <a:b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 BY admitted DESC</a:t>
                      </a:r>
                      <a:b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LIMIT 2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graphicFrame>
        <p:nvGraphicFramePr>
          <p:cNvPr id="339" name="Google Shape;339;p41"/>
          <p:cNvGraphicFramePr/>
          <p:nvPr/>
        </p:nvGraphicFramePr>
        <p:xfrm>
          <a:off x="242825" y="211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683800"/>
                <a:gridCol w="683800"/>
                <a:gridCol w="683800"/>
                <a:gridCol w="68380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b="1"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county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admitted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8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40" name="Google Shape;340;p41"/>
          <p:cNvGraphicFramePr/>
          <p:nvPr/>
        </p:nvGraphicFramePr>
        <p:xfrm>
          <a:off x="3802275" y="2107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683800"/>
                <a:gridCol w="683800"/>
                <a:gridCol w="683800"/>
                <a:gridCol w="68380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b="1"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county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admitted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8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A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County B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pSp>
        <p:nvGrpSpPr>
          <p:cNvPr id="341" name="Google Shape;341;p41"/>
          <p:cNvGrpSpPr/>
          <p:nvPr/>
        </p:nvGrpSpPr>
        <p:grpSpPr>
          <a:xfrm>
            <a:off x="3245600" y="2107763"/>
            <a:ext cx="5514525" cy="1194113"/>
            <a:chOff x="3245600" y="2107763"/>
            <a:chExt cx="5514525" cy="1194113"/>
          </a:xfrm>
        </p:grpSpPr>
        <p:sp>
          <p:nvSpPr>
            <p:cNvPr id="342" name="Google Shape;342;p41"/>
            <p:cNvSpPr/>
            <p:nvPr/>
          </p:nvSpPr>
          <p:spPr>
            <a:xfrm>
              <a:off x="3245600" y="2488950"/>
              <a:ext cx="384600" cy="338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grpSp>
          <p:nvGrpSpPr>
            <p:cNvPr id="343" name="Google Shape;343;p41"/>
            <p:cNvGrpSpPr/>
            <p:nvPr/>
          </p:nvGrpSpPr>
          <p:grpSpPr>
            <a:xfrm>
              <a:off x="3807525" y="2107763"/>
              <a:ext cx="4952600" cy="1194113"/>
              <a:chOff x="3807525" y="2107763"/>
              <a:chExt cx="4952600" cy="1194113"/>
            </a:xfrm>
          </p:grpSpPr>
          <p:sp>
            <p:nvSpPr>
              <p:cNvPr id="344" name="Google Shape;344;p41"/>
              <p:cNvSpPr txBox="1"/>
              <p:nvPr/>
            </p:nvSpPr>
            <p:spPr>
              <a:xfrm>
                <a:off x="6941225" y="2107763"/>
                <a:ext cx="18189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>
                    <a:solidFill>
                      <a:schemeClr val="dk1"/>
                    </a:solidFill>
                    <a:latin typeface="Roboto Light"/>
                    <a:ea typeface="Roboto Light"/>
                    <a:cs typeface="Roboto Light"/>
                    <a:sym typeface="Roboto Light"/>
                  </a:rPr>
                  <a:t>Notice that all columns are kept.</a:t>
                </a:r>
                <a:endParaRPr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600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endParaRPr>
              </a:p>
            </p:txBody>
          </p:sp>
          <p:cxnSp>
            <p:nvCxnSpPr>
              <p:cNvPr id="345" name="Google Shape;345;p41"/>
              <p:cNvCxnSpPr/>
              <p:nvPr/>
            </p:nvCxnSpPr>
            <p:spPr>
              <a:xfrm>
                <a:off x="3807525" y="2967675"/>
                <a:ext cx="2728800" cy="334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df.head(n)</a:t>
            </a:r>
            <a:endParaRPr/>
          </a:p>
        </p:txBody>
      </p:sp>
      <p:sp>
        <p:nvSpPr>
          <p:cNvPr id="351" name="Google Shape;351;p4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df.head(n) is an easy way to peek at the first n rows of a DataFrame.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Also useful for grabbing the first n rows of each group in a grouped DataFrame.</a:t>
            </a:r>
            <a:endParaRPr/>
          </a:p>
        </p:txBody>
      </p:sp>
      <p:sp>
        <p:nvSpPr>
          <p:cNvPr id="352" name="Google Shape;35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53" name="Google Shape;353;p42"/>
          <p:cNvGraphicFramePr/>
          <p:nvPr/>
        </p:nvGraphicFramePr>
        <p:xfrm>
          <a:off x="569100" y="3827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1953225"/>
                <a:gridCol w="1480900"/>
              </a:tblGrid>
              <a:tr h="2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62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admissions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.head(3)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*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LIMIT 3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354" name="Google Shape;354;p42" title="Screenshot 2026-09-07 at 11.53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00" y="1619350"/>
            <a:ext cx="8803098" cy="19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60" name="Google Shape;360;p4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361" name="Google Shape;361;p4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362" name="Google Shape;362;p43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Dataset where each row is a transaction. Which customers spend the most money?</a:t>
            </a:r>
            <a:endParaRPr b="1" sz="33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Google Shape;363;p4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64" name="Google Shape;364;p4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65" name="Google Shape;365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366" name="Google Shape;366;p43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Slido 4</a:t>
            </a:r>
            <a:endParaRPr/>
          </a:p>
        </p:txBody>
      </p:sp>
      <p:sp>
        <p:nvSpPr>
          <p:cNvPr id="372" name="Google Shape;372;p4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4. Dataset where each row is a transaction. How much did each customer spend every day?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"For each unique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combination</a:t>
            </a:r>
            <a:r>
              <a:rPr lang="en"/>
              <a:t> of date </a:t>
            </a:r>
            <a:r>
              <a:rPr lang="en" u="sng"/>
              <a:t>and</a:t>
            </a:r>
            <a:r>
              <a:rPr lang="en"/>
              <a:t> customer_id, sum up the cost column."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group by more than one column!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74" name="Google Shape;374;p44"/>
          <p:cNvGraphicFramePr/>
          <p:nvPr/>
        </p:nvGraphicFramePr>
        <p:xfrm>
          <a:off x="201050" y="399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5086475"/>
                <a:gridCol w="3856475"/>
              </a:tblGrid>
              <a:tr h="78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31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transactions.group_by('customer_id','date').sum()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customer_id, date, SUM(cost) as sum_cost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transactions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 BY date, customer_id</a:t>
                      </a:r>
                      <a:endParaRPr sz="1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graphicFrame>
        <p:nvGraphicFramePr>
          <p:cNvPr id="375" name="Google Shape;375;p44"/>
          <p:cNvGraphicFramePr/>
          <p:nvPr/>
        </p:nvGraphicFramePr>
        <p:xfrm>
          <a:off x="328900" y="21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669550"/>
                <a:gridCol w="669550"/>
                <a:gridCol w="669550"/>
                <a:gridCol w="669550"/>
                <a:gridCol w="66955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b="1"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customer_id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date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…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6" name="Google Shape;376;p44"/>
          <p:cNvSpPr txBox="1"/>
          <p:nvPr/>
        </p:nvSpPr>
        <p:spPr>
          <a:xfrm>
            <a:off x="328900" y="3372675"/>
            <a:ext cx="354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Groups defined by a combination of two columns.</a:t>
            </a:r>
            <a:endParaRPr sz="12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44"/>
          <p:cNvSpPr/>
          <p:nvPr/>
        </p:nvSpPr>
        <p:spPr>
          <a:xfrm>
            <a:off x="4030275" y="2494025"/>
            <a:ext cx="384600" cy="33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aphicFrame>
        <p:nvGraphicFramePr>
          <p:cNvPr id="378" name="Google Shape;378;p44"/>
          <p:cNvGraphicFramePr/>
          <p:nvPr/>
        </p:nvGraphicFramePr>
        <p:xfrm>
          <a:off x="4860350" y="216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669550"/>
                <a:gridCol w="669550"/>
                <a:gridCol w="669550"/>
              </a:tblGrid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customer_id</a:t>
                      </a:r>
                      <a:endParaRPr b="1" sz="9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date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sum_cost</a:t>
                      </a:r>
                      <a:endParaRPr b="1"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6/1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60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A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120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</a:t>
                      </a:r>
                      <a:endParaRPr sz="9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6/2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30</a:t>
                      </a:r>
                      <a:endParaRPr sz="900">
                        <a:solidFill>
                          <a:schemeClr val="dk1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4" name="Google Shape;384;p4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385" name="Google Shape;385;p4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386" name="Google Shape;386;p45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Transaction dataset. Which customer spent the most money on each day?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4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8" name="Google Shape;388;p4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89" name="Google Shape;389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390" name="Google Shape;390;p45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Slido 5</a:t>
            </a:r>
            <a:endParaRPr/>
          </a:p>
        </p:txBody>
      </p:sp>
      <p:sp>
        <p:nvSpPr>
          <p:cNvPr id="396" name="Google Shape;396;p4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5. Transaction dataset. Which customer spent the most money on each day?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/>
              <a:t> unique combination of date and customer_id,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sum</a:t>
            </a:r>
            <a:r>
              <a:rPr lang="en"/>
              <a:t> up the cost column."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"Then,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sort</a:t>
            </a:r>
            <a:r>
              <a:rPr lang="en"/>
              <a:t> the resulting dataframe in decreasing order of summed cost."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"Finally,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/>
              <a:t> unique date,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grab the first row</a:t>
            </a:r>
            <a:r>
              <a:rPr lang="en"/>
              <a:t>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98" name="Google Shape;398;p46"/>
          <p:cNvGraphicFramePr/>
          <p:nvPr/>
        </p:nvGraphicFramePr>
        <p:xfrm>
          <a:off x="201050" y="2381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4631525"/>
                <a:gridCol w="3341050"/>
              </a:tblGrid>
              <a:tr h="5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171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customers_2.group_by('customer_id','date').sum().sort('sum_cost',descending=True).group_by('date').head(1)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Beyond Data 100 coverage! Messier than you would expect.</a:t>
                      </a:r>
                      <a:endParaRPr sz="1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Tidy data: Redux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05" name="Google Shape;405;p47"/>
          <p:cNvGraphicFramePr/>
          <p:nvPr/>
        </p:nvGraphicFramePr>
        <p:xfrm>
          <a:off x="5133075" y="126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1464400"/>
                <a:gridCol w="1464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frl_percentile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avg_app_rate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0–25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0.26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25–50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0.12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50–75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0.087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75–100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0.094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06" name="Google Shape;406;p47"/>
          <p:cNvSpPr txBox="1"/>
          <p:nvPr/>
        </p:nvSpPr>
        <p:spPr>
          <a:xfrm>
            <a:off x="5133075" y="3409325"/>
            <a:ext cx="2986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How do we generate this data?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we can describe how! 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7" name="Google Shape;40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50" y="1033250"/>
            <a:ext cx="3849920" cy="2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3" name="Google Shape;413;p4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414" name="Google Shape;414;p4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415" name="Google Shape;415;p48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What's your first message to the LLM to help you construct this plot from the raw admissions data? Hint: We have our groups. How do we get to the groups? Be specific!</a:t>
            </a:r>
            <a:endParaRPr b="1" sz="24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4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7" name="Google Shape;417;p4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18" name="Google Shape;418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419" name="Google Shape;419;p48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Tidy data: Redux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26" name="Google Shape;426;p49"/>
          <p:cNvGraphicFramePr/>
          <p:nvPr/>
        </p:nvGraphicFramePr>
        <p:xfrm>
          <a:off x="2785800" y="76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990600"/>
                <a:gridCol w="990600"/>
              </a:tblGrid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frl_percentile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avg_app_rate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0–25</a:t>
                      </a:r>
                      <a:endParaRPr sz="1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0.26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25–50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0.12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50–75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0.087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75–100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0.094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427" name="Google Shape;42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50" y="542200"/>
            <a:ext cx="2354449" cy="1696476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9"/>
          <p:cNvSpPr txBox="1"/>
          <p:nvPr/>
        </p:nvSpPr>
        <p:spPr>
          <a:xfrm>
            <a:off x="240300" y="2330225"/>
            <a:ext cx="8392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AutoNum type="arabicPeriod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Compute the actual FRL percentile of each school.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Categorize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each FRL percentile into four buckets: 0-25, 25-50, 50-75, and 75-100.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unique FRL bucket, compute the average application rate.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29" name="Google Shape;429;p49"/>
          <p:cNvSpPr txBox="1"/>
          <p:nvPr/>
        </p:nvSpPr>
        <p:spPr>
          <a:xfrm>
            <a:off x="240300" y="3947450"/>
            <a:ext cx="839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Understanding the definition of a percentile is useful.</a:t>
            </a: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But, the syntax for computing percentiles is not worth memorizing. Good LLM practice!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5" name="Google Shape;435;p50" title="Screenshot 2026-09-07 at 11.44.2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225" y="152400"/>
            <a:ext cx="288155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41" name="Google Shape;441;p51"/>
          <p:cNvGraphicFramePr/>
          <p:nvPr/>
        </p:nvGraphicFramePr>
        <p:xfrm>
          <a:off x="201050" y="3995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8479975"/>
              </a:tblGrid>
              <a:tr h="25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4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admissions = admissions.with_columns(frl_percentile_raw=pl.col('pct_free_reduced').rank()/pl.col('pct_free_reduced').count())</a:t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sp>
        <p:nvSpPr>
          <p:cNvPr id="442" name="Google Shape;442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 column with the FRL percentile</a:t>
            </a:r>
            <a:endParaRPr/>
          </a:p>
        </p:txBody>
      </p:sp>
      <p:sp>
        <p:nvSpPr>
          <p:cNvPr id="443" name="Google Shape;443;p51"/>
          <p:cNvSpPr txBox="1"/>
          <p:nvPr>
            <p:ph idx="1" type="body"/>
          </p:nvPr>
        </p:nvSpPr>
        <p:spPr>
          <a:xfrm>
            <a:off x="107050" y="402200"/>
            <a:ext cx="85206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Does the new column pass the "sniff" test? In other words, does it look correct?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4" name="Google Shape;444;p51" title="Screenshot 2026-09-07 at 11.56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2025"/>
            <a:ext cx="8839204" cy="1355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50" name="Google Shape;450;p5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451" name="Google Shape;451;p52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do you compute the average admission rate for each frl_percentile?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5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53" name="Google Shape;453;p5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54" name="Google Shape;454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455" name="Google Shape;455;p52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456" name="Google Shape;456;p52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Tidy data: Redux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63" name="Google Shape;463;p53"/>
          <p:cNvGraphicFramePr/>
          <p:nvPr/>
        </p:nvGraphicFramePr>
        <p:xfrm>
          <a:off x="2785800" y="76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990600"/>
                <a:gridCol w="990600"/>
              </a:tblGrid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frl_percentile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avg_app_rate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0–25</a:t>
                      </a:r>
                      <a:endParaRPr sz="1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0.26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25–50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0.12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50–75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0.087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75–100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0.094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464" name="Google Shape;46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50" y="542200"/>
            <a:ext cx="2354449" cy="1696476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3"/>
          <p:cNvSpPr txBox="1"/>
          <p:nvPr/>
        </p:nvSpPr>
        <p:spPr>
          <a:xfrm>
            <a:off x="229250" y="2462825"/>
            <a:ext cx="8392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AutoNum type="arabicPeriod"/>
            </a:pP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Compute the FRL percentile of each school.</a:t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Sort each FRL percentile into four buckets: 0-25, 25-50, 50-75, and 75-100.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AutoNum type="arabicPeriod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For each unique FRL bucket, compute the average application rate.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1" name="Google Shape;471;p54" title="Screenshot 2026-09-07 at 12.43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450" y="152400"/>
            <a:ext cx="275908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Tidy data: Redux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78" name="Google Shape;478;p55"/>
          <p:cNvGraphicFramePr/>
          <p:nvPr/>
        </p:nvGraphicFramePr>
        <p:xfrm>
          <a:off x="2785800" y="76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990600"/>
                <a:gridCol w="990600"/>
              </a:tblGrid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frl_percentile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avg_app_rate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0–25</a:t>
                      </a:r>
                      <a:endParaRPr sz="10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0.26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25–50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0.12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50–75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0.087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  <a:tr h="194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75–100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0.094</a:t>
                      </a:r>
                      <a:endParaRPr sz="1100"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pic>
        <p:nvPicPr>
          <p:cNvPr id="479" name="Google Shape;47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50" y="542200"/>
            <a:ext cx="2354449" cy="1696476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5"/>
          <p:cNvSpPr txBox="1"/>
          <p:nvPr/>
        </p:nvSpPr>
        <p:spPr>
          <a:xfrm>
            <a:off x="229250" y="2462825"/>
            <a:ext cx="8392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AutoNum type="arabicPeriod"/>
            </a:pP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Compute the FRL percentile of each school.</a:t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AutoNum type="arabicPeriod"/>
            </a:pPr>
            <a:r>
              <a:rPr lang="en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Sort each FRL percentile into four buckets: 0-25, 25-50, 50-75, and 75-100.</a:t>
            </a:r>
            <a:endParaRPr sz="16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each unique FRL bucket, compute the average application rate.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Group-wise averages</a:t>
            </a:r>
            <a:endParaRPr/>
          </a:p>
        </p:txBody>
      </p:sp>
      <p:sp>
        <p:nvSpPr>
          <p:cNvPr id="487" name="Google Shape;487;p56"/>
          <p:cNvSpPr txBox="1"/>
          <p:nvPr>
            <p:ph idx="1" type="body"/>
          </p:nvPr>
        </p:nvSpPr>
        <p:spPr>
          <a:xfrm>
            <a:off x="107050" y="402200"/>
            <a:ext cx="85206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compute the average application rate for each frl_percentile?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56" title="Screenshot 2026-09-07 at 11.58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10700"/>
            <a:ext cx="8839204" cy="172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94" name="Google Shape;494;p5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descr="title-id" id="495" name="Google Shape;495;p57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should we compute the average application rate within each frl_percentile bucket?</a:t>
            </a:r>
            <a:endParaRPr b="1" sz="30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6" name="Google Shape;496;p5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97" name="Google Shape;497;p5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98" name="Google Shape;49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499" name="Google Shape;499;p57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ll-type-id" id="500" name="Google Shape;500;p57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6" name="Google Shape;506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Group-wise averages</a:t>
            </a:r>
            <a:endParaRPr/>
          </a:p>
        </p:txBody>
      </p:sp>
      <p:sp>
        <p:nvSpPr>
          <p:cNvPr id="507" name="Google Shape;507;p58"/>
          <p:cNvSpPr txBox="1"/>
          <p:nvPr>
            <p:ph idx="1" type="body"/>
          </p:nvPr>
        </p:nvSpPr>
        <p:spPr>
          <a:xfrm>
            <a:off x="107050" y="402200"/>
            <a:ext cx="85206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compute the average application rate for each frl_percentile?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8"/>
          <p:cNvSpPr txBox="1"/>
          <p:nvPr/>
        </p:nvSpPr>
        <p:spPr>
          <a:xfrm>
            <a:off x="107050" y="3868150"/>
            <a:ext cx="901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should not compute the average of the app_rate column!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 school with 10 students probably should not have the same weight as one with 1,000 students.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09" name="Google Shape;509;p58" title="Screenshot 2026-09-07 at 11.58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9800"/>
            <a:ext cx="8839204" cy="172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Group-wise averages</a:t>
            </a:r>
            <a:endParaRPr/>
          </a:p>
        </p:txBody>
      </p:sp>
      <p:sp>
        <p:nvSpPr>
          <p:cNvPr id="516" name="Google Shape;516;p59"/>
          <p:cNvSpPr txBox="1"/>
          <p:nvPr>
            <p:ph idx="1" type="body"/>
          </p:nvPr>
        </p:nvSpPr>
        <p:spPr>
          <a:xfrm>
            <a:off x="107050" y="402200"/>
            <a:ext cx="85206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compute the average application rate for each frl_percentile?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9"/>
          <p:cNvSpPr txBox="1"/>
          <p:nvPr/>
        </p:nvSpPr>
        <p:spPr>
          <a:xfrm>
            <a:off x="107050" y="3868150"/>
            <a:ext cx="868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For each frl_percentile group, we need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applicants / total </a:t>
            </a:r>
            <a:r>
              <a:rPr b="1" i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possible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applicants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up the applied column,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sum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up the grade_12 column, and divide! 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18" name="Google Shape;518;p59" title="Screenshot 2026-09-07 at 11.58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9800"/>
            <a:ext cx="8839204" cy="172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Group-wise averages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0"/>
          <p:cNvSpPr txBox="1"/>
          <p:nvPr>
            <p:ph idx="1" type="body"/>
          </p:nvPr>
        </p:nvSpPr>
        <p:spPr>
          <a:xfrm>
            <a:off x="112475" y="483525"/>
            <a:ext cx="8520600" cy="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each frl_percentile group, we need total applicants / total </a:t>
            </a:r>
            <a:r>
              <a:rPr i="1" lang="en"/>
              <a:t>possible</a:t>
            </a:r>
            <a:r>
              <a:rPr lang="en"/>
              <a:t> applicants.</a:t>
            </a:r>
            <a:endParaRPr/>
          </a:p>
        </p:txBody>
      </p:sp>
      <p:sp>
        <p:nvSpPr>
          <p:cNvPr id="525" name="Google Shape;52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26" name="Google Shape;526;p60"/>
          <p:cNvGraphicFramePr/>
          <p:nvPr/>
        </p:nvGraphicFramePr>
        <p:xfrm>
          <a:off x="112475" y="3546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5216150"/>
                <a:gridCol w="34594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Polars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SQL Query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83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df.group_by('frl_percentile').agg(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applied= pl.col('applied').sum(),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grade_12 = pl.col('grade_12').sum,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avg_app_rate=  pl.col('applied').sum()/pl.col('grade_12').sum())</a:t>
                      </a:r>
                      <a:endParaRPr sz="11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frl_percentile,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SUM(applied) / SUM(grade_12) as avg_app_rate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admissions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 BY frl_percentile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527" name="Google Shape;527;p60" title="Screenshot 2026-09-07 at 1.32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333" y="1010025"/>
            <a:ext cx="4313931" cy="2317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Recreating our plot from earlier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4" name="Google Shape;53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350" y="933800"/>
            <a:ext cx="3849920" cy="2774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5" name="Google Shape;535;p61"/>
          <p:cNvGraphicFramePr/>
          <p:nvPr/>
        </p:nvGraphicFramePr>
        <p:xfrm>
          <a:off x="201050" y="403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{C55091E2-E2D3-4544-A7A8-FB4101B071F6}</a:tableStyleId>
              </a:tblPr>
              <a:tblGrid>
                <a:gridCol w="8438525"/>
              </a:tblGrid>
              <a:tr h="25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Seaborn Code</a:t>
                      </a:r>
                      <a:endParaRPr b="1" sz="11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91425" anchor="ctr"/>
                </a:tc>
              </a:tr>
              <a:tr h="4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sns.pointplot(uce_agged,x='frl_percentile',y='avg_app_rate',order=["0-25", "25-50", "50-75", "75-100"], marker='')</a:t>
                      </a:r>
                      <a:endParaRPr sz="1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91425" anchor="ctr"/>
                </a:tc>
              </a:tr>
            </a:tbl>
          </a:graphicData>
        </a:graphic>
      </p:graphicFrame>
      <p:pic>
        <p:nvPicPr>
          <p:cNvPr id="536" name="Google Shape;536;p61" title="Screenshot 2026-09-07 at 1.32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7220" y="933800"/>
            <a:ext cx="4313931" cy="2317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Group-wise averages</a:t>
            </a:r>
            <a:endParaRPr/>
          </a:p>
        </p:txBody>
      </p:sp>
      <p:sp>
        <p:nvSpPr>
          <p:cNvPr id="543" name="Google Shape;543;p62"/>
          <p:cNvSpPr txBox="1"/>
          <p:nvPr>
            <p:ph idx="1" type="body"/>
          </p:nvPr>
        </p:nvSpPr>
        <p:spPr>
          <a:xfrm>
            <a:off x="107050" y="402200"/>
            <a:ext cx="85206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compute the average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admission</a:t>
            </a:r>
            <a:r>
              <a:rPr lang="en"/>
              <a:t> rate for each frl_percentile?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4" name="Google Shape;544;p62" title="Screenshot 2026-09-07 at 11.58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67363"/>
            <a:ext cx="8839204" cy="172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fmla="val 50000" name="adj"/>
            </a:avLst>
          </a:prstGeom>
          <a:solidFill>
            <a:srgbClr val="EDFA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0" name="Google Shape;550;p6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b="1"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198038"/>
                </a:solidFill>
                <a:latin typeface="Inter Light"/>
                <a:ea typeface="Inter Light"/>
                <a:cs typeface="Inter Light"/>
                <a:sym typeface="Inter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descr="poll-type-id" id="551" name="Google Shape;551;p6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descr="title-id" id="552" name="Google Shape;552;p63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How do you compute the average admission rate for each frl_percentile?</a:t>
            </a:r>
            <a:endParaRPr b="1" sz="360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6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54" name="Google Shape;554;p6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Presenting with animations, GIFs or speaker notes? Enable our </a:t>
            </a:r>
            <a:r>
              <a:rPr lang="en" sz="1200" u="sng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555" name="Google Shape;555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-id" id="556" name="Google Shape;556;p63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Group-wise averages</a:t>
            </a:r>
            <a:endParaRPr/>
          </a:p>
        </p:txBody>
      </p:sp>
      <p:sp>
        <p:nvSpPr>
          <p:cNvPr id="563" name="Google Shape;563;p64"/>
          <p:cNvSpPr txBox="1"/>
          <p:nvPr>
            <p:ph idx="1" type="body"/>
          </p:nvPr>
        </p:nvSpPr>
        <p:spPr>
          <a:xfrm>
            <a:off x="107050" y="402200"/>
            <a:ext cx="85206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compute the average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admission</a:t>
            </a:r>
            <a:r>
              <a:rPr lang="en"/>
              <a:t> rate for each frl_percentile?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64"/>
          <p:cNvSpPr txBox="1"/>
          <p:nvPr/>
        </p:nvSpPr>
        <p:spPr>
          <a:xfrm>
            <a:off x="107050" y="3868150"/>
            <a:ext cx="868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Naively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, we could compute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admits / total applicants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But, what about all those nulls in the admitted column? 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65" name="Google Shape;565;p64" title="Screenshot 2026-09-07 at 11.58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2275"/>
            <a:ext cx="8839204" cy="172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missing data</a:t>
            </a:r>
            <a:endParaRPr/>
          </a:p>
        </p:txBody>
      </p:sp>
      <p:sp>
        <p:nvSpPr>
          <p:cNvPr id="572" name="Google Shape;572;p65"/>
          <p:cNvSpPr txBox="1"/>
          <p:nvPr>
            <p:ph idx="1" type="body"/>
          </p:nvPr>
        </p:nvSpPr>
        <p:spPr>
          <a:xfrm>
            <a:off x="73900" y="440875"/>
            <a:ext cx="85206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Handling missing data</a:t>
            </a:r>
            <a:r>
              <a:rPr lang="en"/>
              <a:t> is one of the most consequential tasks of a data scientist!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65"/>
          <p:cNvSpPr txBox="1"/>
          <p:nvPr/>
        </p:nvSpPr>
        <p:spPr>
          <a:xfrm>
            <a:off x="3641250" y="1135363"/>
            <a:ext cx="53799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Here are several options: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Ignore the rows with admitted=null when computing admission rates.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Replace</a:t>
            </a: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admitted=null with 0, the smallest possible value of the admitted column.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Replace admitted=null with 2, the largest possible value of the column.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oboto Light"/>
              <a:buChar char="●"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Randomly select 0, 1, or 2.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74" name="Google Shape;574;p65"/>
          <p:cNvSpPr txBox="1"/>
          <p:nvPr/>
        </p:nvSpPr>
        <p:spPr>
          <a:xfrm>
            <a:off x="226550" y="4304625"/>
            <a:ext cx="836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We should not blindly choose one option and move on. What should we do?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75" name="Google Shape;575;p65" title="Screenshot 2026-09-08 at 12.05.5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5162"/>
            <a:ext cx="3749848" cy="182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PCS Framework</a:t>
            </a:r>
            <a:endParaRPr/>
          </a:p>
        </p:txBody>
      </p:sp>
      <p:sp>
        <p:nvSpPr>
          <p:cNvPr id="581" name="Google Shape;581;p66"/>
          <p:cNvSpPr txBox="1"/>
          <p:nvPr>
            <p:ph idx="1" type="body"/>
          </p:nvPr>
        </p:nvSpPr>
        <p:spPr>
          <a:xfrm>
            <a:off x="107050" y="402200"/>
            <a:ext cx="8520600" cy="43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Predictability, Computability, and Stability (PCS) framework was developed by Bin Yu (UC Berkeley!) and others for producing trustworthy data analyses.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Predictability</a:t>
            </a:r>
            <a:r>
              <a:rPr lang="en"/>
              <a:t>: Are the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outputs</a:t>
            </a:r>
            <a:r>
              <a:rPr lang="en"/>
              <a:t> of my analysis consistent with reality/domain knowledge?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[ We've been doing these reality checks a lot already! ]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Computability</a:t>
            </a:r>
            <a:r>
              <a:rPr lang="en"/>
              <a:t>: Are my results generated from reproducible code?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[ </a:t>
            </a:r>
            <a:r>
              <a:rPr lang="en">
                <a:solidFill>
                  <a:schemeClr val="dk2"/>
                </a:solidFill>
              </a:rPr>
              <a:t>In Data 100, we get computability "for free" when we use a Jupyter Notebook. ]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Stability</a:t>
            </a:r>
            <a:r>
              <a:rPr lang="en"/>
              <a:t>: How sensitive is the analysis to realistic changes in its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inputted data</a:t>
            </a:r>
            <a:r>
              <a:rPr lang="en"/>
              <a:t> or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decisions?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"/>
              <a:t>Example stability check:</a:t>
            </a:r>
            <a:r>
              <a:rPr lang="en"/>
              <a:t> Does our analysis change based on our missing data approach?</a:t>
            </a:r>
            <a:endParaRPr/>
          </a:p>
        </p:txBody>
      </p:sp>
      <p:sp>
        <p:nvSpPr>
          <p:cNvPr id="582" name="Google Shape;582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different ways to compute admission rates</a:t>
            </a:r>
            <a:endParaRPr/>
          </a:p>
        </p:txBody>
      </p:sp>
      <p:sp>
        <p:nvSpPr>
          <p:cNvPr id="588" name="Google Shape;588;p67"/>
          <p:cNvSpPr txBox="1"/>
          <p:nvPr>
            <p:ph idx="1" type="body"/>
          </p:nvPr>
        </p:nvSpPr>
        <p:spPr>
          <a:xfrm>
            <a:off x="107050" y="402200"/>
            <a:ext cx="8520600" cy="5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 compute average admission rates for all four ways we proposed and compare:</a:t>
            </a:r>
            <a:endParaRPr/>
          </a:p>
        </p:txBody>
      </p:sp>
      <p:sp>
        <p:nvSpPr>
          <p:cNvPr id="589" name="Google Shape;58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0" name="Google Shape;59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25" y="1003600"/>
            <a:ext cx="2477575" cy="192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1800" y="3025775"/>
            <a:ext cx="2477576" cy="1893596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67"/>
          <p:cNvSpPr txBox="1"/>
          <p:nvPr/>
        </p:nvSpPr>
        <p:spPr>
          <a:xfrm>
            <a:off x="6072900" y="1362034"/>
            <a:ext cx="2447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The pattern in admission rates is somewhat sensitive to our choice!</a:t>
            </a:r>
            <a:endParaRPr sz="16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93" name="Google Shape;593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9675" y="1032000"/>
            <a:ext cx="2355974" cy="183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5050" y="2953025"/>
            <a:ext cx="2592666" cy="196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Admission rates have a different pattern than application rates</a:t>
            </a:r>
            <a:endParaRPr/>
          </a:p>
        </p:txBody>
      </p:sp>
      <p:sp>
        <p:nvSpPr>
          <p:cNvPr id="600" name="Google Shape;600;p6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What's going on here? We’ll investigate next time!</a:t>
            </a:r>
            <a:endParaRPr/>
          </a:p>
        </p:txBody>
      </p:sp>
      <p:sp>
        <p:nvSpPr>
          <p:cNvPr id="601" name="Google Shape;601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2" name="Google Shape;60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950" y="972650"/>
            <a:ext cx="3836449" cy="280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225" y="867675"/>
            <a:ext cx="3648851" cy="27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9"/>
          <p:cNvSpPr txBox="1"/>
          <p:nvPr>
            <p:ph type="ctrTitle"/>
          </p:nvPr>
        </p:nvSpPr>
        <p:spPr>
          <a:xfrm>
            <a:off x="311700" y="744575"/>
            <a:ext cx="8675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>
                <a:solidFill>
                  <a:schemeClr val="accent3"/>
                </a:solidFill>
              </a:rPr>
              <a:t>Exploratory</a:t>
            </a:r>
            <a:r>
              <a:rPr lang="en" sz="4300">
                <a:solidFill>
                  <a:schemeClr val="accent3"/>
                </a:solidFill>
              </a:rPr>
              <a:t> Data Analysis (EDA) III</a:t>
            </a:r>
            <a:endParaRPr sz="4300"/>
          </a:p>
        </p:txBody>
      </p:sp>
      <p:sp>
        <p:nvSpPr>
          <p:cNvPr id="609" name="Google Shape;609;p69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Data 100/Data 200, Fall 2026 @ UC Berkeley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Ramesh Sridharan and Jeremy Sanchez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Content credit: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Acknowledgments</a:t>
            </a:r>
            <a:endParaRPr sz="16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0" name="Google Shape;610;p69"/>
          <p:cNvSpPr txBox="1"/>
          <p:nvPr/>
        </p:nvSpPr>
        <p:spPr>
          <a:xfrm>
            <a:off x="345775" y="1825900"/>
            <a:ext cx="11502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4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1" name="Google Shape;611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