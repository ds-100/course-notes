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5143500" cx="9144000"/>
  <p:notesSz cx="6858000" cy="9144000"/>
  <p:embeddedFontLst>
    <p:embeddedFont>
      <p:font typeface="Roboto Mono Medium"/>
      <p:regular r:id="rId59"/>
      <p:bold r:id="rId60"/>
      <p:italic r:id="rId61"/>
      <p:boldItalic r:id="rId62"/>
    </p:embeddedFont>
    <p:embeddedFont>
      <p:font typeface="Roboto Medium"/>
      <p:regular r:id="rId63"/>
      <p:bold r:id="rId64"/>
      <p:italic r:id="rId65"/>
      <p:boldItalic r:id="rId66"/>
    </p:embeddedFont>
    <p:embeddedFont>
      <p:font typeface="Inter"/>
      <p:regular r:id="rId67"/>
      <p:bold r:id="rId68"/>
      <p:italic r:id="rId69"/>
      <p:boldItalic r:id="rId70"/>
    </p:embeddedFont>
    <p:embeddedFont>
      <p:font typeface="Helvetica Neue"/>
      <p:regular r:id="rId71"/>
      <p:bold r:id="rId72"/>
      <p:italic r:id="rId73"/>
      <p:boldItalic r:id="rId74"/>
    </p:embeddedFont>
    <p:embeddedFont>
      <p:font typeface="Roboto Light"/>
      <p:regular r:id="rId75"/>
      <p:bold r:id="rId76"/>
      <p:italic r:id="rId77"/>
      <p:boldItalic r:id="rId78"/>
    </p:embeddedFont>
    <p:embeddedFont>
      <p:font typeface="Roboto Mono"/>
      <p:regular r:id="rId79"/>
      <p:bold r:id="rId80"/>
      <p:italic r:id="rId81"/>
      <p:boldItalic r:id="rId82"/>
    </p:embeddedFont>
    <p:embeddedFont>
      <p:font typeface="Century Gothic"/>
      <p:regular r:id="rId83"/>
      <p:bold r:id="rId84"/>
      <p:italic r:id="rId85"/>
      <p:boldItalic r:id="rId86"/>
    </p:embeddedFont>
    <p:embeddedFont>
      <p:font typeface="Roboto"/>
      <p:regular r:id="rId87"/>
      <p:bold r:id="rId88"/>
      <p:italic r:id="rId89"/>
      <p:boldItalic r:id="rId90"/>
    </p:embeddedFont>
    <p:embeddedFont>
      <p:font typeface="Inter Light"/>
      <p:regular r:id="rId91"/>
      <p:bold r:id="rId92"/>
      <p:italic r:id="rId93"/>
      <p:boldItalic r:id="rId94"/>
    </p:embeddedFont>
    <p:embeddedFont>
      <p:font typeface="Roboto Mono Light"/>
      <p:regular r:id="rId95"/>
      <p:bold r:id="rId96"/>
      <p:italic r:id="rId97"/>
      <p:boldItalic r:id="rId98"/>
    </p:embeddedFont>
    <p:embeddedFont>
      <p:font typeface="Inconsolata Medium"/>
      <p:regular r:id="rId99"/>
      <p:bold r:id="rId10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0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0C5282-CED4-486A-A198-B9B5E61A5648}">
  <a:tblStyle styleId="{270C5282-CED4-486A-A198-B9B5E61A56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10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0" Type="http://schemas.openxmlformats.org/officeDocument/2006/relationships/font" Target="fonts/InconsolataMedium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RobotoMonoLight-regular.fntdata"/><Relationship Id="rId94" Type="http://schemas.openxmlformats.org/officeDocument/2006/relationships/font" Target="fonts/InterLight-boldItalic.fntdata"/><Relationship Id="rId97" Type="http://schemas.openxmlformats.org/officeDocument/2006/relationships/font" Target="fonts/RobotoMonoLight-italic.fntdata"/><Relationship Id="rId96" Type="http://schemas.openxmlformats.org/officeDocument/2006/relationships/font" Target="fonts/RobotoMonoLight-bold.fntdata"/><Relationship Id="rId11" Type="http://schemas.openxmlformats.org/officeDocument/2006/relationships/slide" Target="slides/slide5.xml"/><Relationship Id="rId99" Type="http://schemas.openxmlformats.org/officeDocument/2006/relationships/font" Target="fonts/InconsolataMedium-regular.fntdata"/><Relationship Id="rId10" Type="http://schemas.openxmlformats.org/officeDocument/2006/relationships/slide" Target="slides/slide4.xml"/><Relationship Id="rId98" Type="http://schemas.openxmlformats.org/officeDocument/2006/relationships/font" Target="fonts/RobotoMonoLigh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InterLight-regular.fntdata"/><Relationship Id="rId90" Type="http://schemas.openxmlformats.org/officeDocument/2006/relationships/font" Target="fonts/Roboto-boldItalic.fntdata"/><Relationship Id="rId93" Type="http://schemas.openxmlformats.org/officeDocument/2006/relationships/font" Target="fonts/InterLight-italic.fntdata"/><Relationship Id="rId92" Type="http://schemas.openxmlformats.org/officeDocument/2006/relationships/font" Target="fonts/InterLight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font" Target="fonts/CenturyGothic-bold.fntdata"/><Relationship Id="rId83" Type="http://schemas.openxmlformats.org/officeDocument/2006/relationships/font" Target="fonts/CenturyGothic-regular.fntdata"/><Relationship Id="rId86" Type="http://schemas.openxmlformats.org/officeDocument/2006/relationships/font" Target="fonts/CenturyGothic-boldItalic.fntdata"/><Relationship Id="rId85" Type="http://schemas.openxmlformats.org/officeDocument/2006/relationships/font" Target="fonts/CenturyGothic-italic.fntdata"/><Relationship Id="rId88" Type="http://schemas.openxmlformats.org/officeDocument/2006/relationships/font" Target="fonts/Roboto-bold.fntdata"/><Relationship Id="rId87" Type="http://schemas.openxmlformats.org/officeDocument/2006/relationships/font" Target="fonts/Roboto-regular.fntdata"/><Relationship Id="rId89" Type="http://schemas.openxmlformats.org/officeDocument/2006/relationships/font" Target="fonts/Roboto-italic.fntdata"/><Relationship Id="rId80" Type="http://schemas.openxmlformats.org/officeDocument/2006/relationships/font" Target="fonts/RobotoMono-bold.fntdata"/><Relationship Id="rId82" Type="http://schemas.openxmlformats.org/officeDocument/2006/relationships/font" Target="fonts/RobotoMono-boldItalic.fntdata"/><Relationship Id="rId81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HelveticaNeue-italic.fntdata"/><Relationship Id="rId72" Type="http://schemas.openxmlformats.org/officeDocument/2006/relationships/font" Target="fonts/HelveticaNeue-bold.fntdata"/><Relationship Id="rId75" Type="http://schemas.openxmlformats.org/officeDocument/2006/relationships/font" Target="fonts/RobotoLight-regular.fntdata"/><Relationship Id="rId74" Type="http://schemas.openxmlformats.org/officeDocument/2006/relationships/font" Target="fonts/HelveticaNeue-boldItalic.fntdata"/><Relationship Id="rId77" Type="http://schemas.openxmlformats.org/officeDocument/2006/relationships/font" Target="fonts/RobotoLight-italic.fntdata"/><Relationship Id="rId76" Type="http://schemas.openxmlformats.org/officeDocument/2006/relationships/font" Target="fonts/RobotoLight-bold.fntdata"/><Relationship Id="rId79" Type="http://schemas.openxmlformats.org/officeDocument/2006/relationships/font" Target="fonts/RobotoMono-regular.fntdata"/><Relationship Id="rId78" Type="http://schemas.openxmlformats.org/officeDocument/2006/relationships/font" Target="fonts/RobotoLight-boldItalic.fntdata"/><Relationship Id="rId71" Type="http://schemas.openxmlformats.org/officeDocument/2006/relationships/font" Target="fonts/HelveticaNeue-regular.fntdata"/><Relationship Id="rId70" Type="http://schemas.openxmlformats.org/officeDocument/2006/relationships/font" Target="fonts/Inter-boldItalic.fntdata"/><Relationship Id="rId62" Type="http://schemas.openxmlformats.org/officeDocument/2006/relationships/font" Target="fonts/RobotoMonoMedium-boldItalic.fntdata"/><Relationship Id="rId61" Type="http://schemas.openxmlformats.org/officeDocument/2006/relationships/font" Target="fonts/RobotoMonoMedium-italic.fntdata"/><Relationship Id="rId64" Type="http://schemas.openxmlformats.org/officeDocument/2006/relationships/font" Target="fonts/RobotoMedium-bold.fntdata"/><Relationship Id="rId63" Type="http://schemas.openxmlformats.org/officeDocument/2006/relationships/font" Target="fonts/RobotoMedium-regular.fntdata"/><Relationship Id="rId66" Type="http://schemas.openxmlformats.org/officeDocument/2006/relationships/font" Target="fonts/RobotoMedium-boldItalic.fntdata"/><Relationship Id="rId65" Type="http://schemas.openxmlformats.org/officeDocument/2006/relationships/font" Target="fonts/RobotoMedium-italic.fntdata"/><Relationship Id="rId68" Type="http://schemas.openxmlformats.org/officeDocument/2006/relationships/font" Target="fonts/Inter-bold.fntdata"/><Relationship Id="rId67" Type="http://schemas.openxmlformats.org/officeDocument/2006/relationships/font" Target="fonts/Inter-regular.fntdata"/><Relationship Id="rId60" Type="http://schemas.openxmlformats.org/officeDocument/2006/relationships/font" Target="fonts/RobotoMonoMedium-bold.fntdata"/><Relationship Id="rId69" Type="http://schemas.openxmlformats.org/officeDocument/2006/relationships/font" Target="fonts/Inter-italic.fntdata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font" Target="fonts/RobotoMonoMedium-regular.fntdata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SLIDES_API147958754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SLIDES_API147958754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joining instructions will appear when you get to this slide.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b3616a2ea1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b3616a2ea1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3be0d6fa_1_54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a3be0d6fa_1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b5c0783c9_1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b5c0783c9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b5c0783c9_10_13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fb5c0783c9_10_13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b5c0783c9_10_13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b3616a2ea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b3616a2ea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2ec409065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2ec409065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b3616a2ea1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b3616a2ea1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SLIDES_API53899827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SLIDES_API53899827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cd04ef1a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7cd04ef1a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SLIDES_API118742257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SLIDES_API118742257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cd04ef1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7cd04ef1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ee15b92a6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ee15b92a6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SLIDES_API15305658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SLIDES_API15305658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2b556aa0d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2b556aa0d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427098710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427098710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fafb4406b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efafb4406b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fafb4406b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fafb4406b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fafb4406b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efafb4406b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fafb4406b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efafb4406b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fafb4406b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efafb4406b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efafb4406b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efafb4406b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efafb4406b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efafb4406b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fafb4406b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efafb4406b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fafb4406b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efafb4406b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efafb4406b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efafb4406b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SLIDES_API205952158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SLIDES_API205952158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efafb4406b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efafb4406b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b3616a2ea1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2b3616a2ea1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4270987107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24270987107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ee15b92a69_4_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ee15b92a69_4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1ee15b92a69_4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1ee15b92a69_4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ee15b92a69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1ee15b92a69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ee15b92a69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1ee15b92a69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SLIDES_API118275109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SLIDES_API118275109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2bbb2ca8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2bbb2ca8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bcc6fe9c99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bcc6fe9c99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ee15b92a69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1ee15b92a69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b5c0783c9_1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fb5c0783c9_1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b5c0783c9_10_3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fb5c0783c9_1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fb5c0783c9_10_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fb5c0783c9_1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fb5c0783c9_1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fb5c0783c9_1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fb5c0783c9_1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fb5c0783c9_1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fb5c0783c9_1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fb5c0783c9_1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fb5c0783c9_1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fb5c0783c9_1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fb5c0783c9_1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fb5c0783c9_1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fb5c0783c9_1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fb5c0783c9_1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fb5c0783c9_10_1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fb5c0783c9_10_1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fb5c0783c9_10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fb5c0783c9_1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fb5c0783c9_10_1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fb5c0783c9_10_1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fb5c0783c9_10_1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fb5c0783c9_10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f60dffdb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f60dffdb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4"/>
          <p:cNvCxnSpPr/>
          <p:nvPr/>
        </p:nvCxnSpPr>
        <p:spPr>
          <a:xfrm flipH="1" rot="10800000">
            <a:off x="95431" y="398310"/>
            <a:ext cx="8477400" cy="39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/>
        </p:nvSpPr>
        <p:spPr>
          <a:xfrm>
            <a:off x="177925" y="4068000"/>
            <a:ext cx="415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Lecture 6</a:t>
            </a: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, Data 100 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Fall 2026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7" name="Google Shape;47;p7"/>
          <p:cNvCxnSpPr/>
          <p:nvPr/>
        </p:nvCxnSpPr>
        <p:spPr>
          <a:xfrm flipH="1" rot="10800000">
            <a:off x="4667431" y="398310"/>
            <a:ext cx="3898200" cy="39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4" name="Google Shape;54;p8"/>
          <p:cNvCxnSpPr/>
          <p:nvPr/>
        </p:nvCxnSpPr>
        <p:spPr>
          <a:xfrm flipH="1" rot="10800000">
            <a:off x="95431" y="398310"/>
            <a:ext cx="8463300" cy="39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9" name="Google Shape;59;p9"/>
          <p:cNvCxnSpPr/>
          <p:nvPr/>
        </p:nvCxnSpPr>
        <p:spPr>
          <a:xfrm>
            <a:off x="95431" y="402210"/>
            <a:ext cx="8427900" cy="33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1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2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72" name="Google Shape;72;p12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81" name="Google Shape;8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83" name="Google Shape;83;p1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_AND_BODY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57188" y="198377"/>
            <a:ext cx="842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1pPr>
            <a:lvl2pPr lvl="1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2pPr>
            <a:lvl3pPr lvl="2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3pPr>
            <a:lvl4pPr lvl="3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4pPr>
            <a:lvl5pPr lvl="4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5pPr>
            <a:lvl6pPr lvl="5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6pPr>
            <a:lvl7pPr lvl="6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7pPr>
            <a:lvl8pPr lvl="7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8pPr>
            <a:lvl9pPr lvl="8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4491037" y="4881563"/>
            <a:ext cx="1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 1">
  <p:cSld name="TITLE_AND_BODY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57188" y="198377"/>
            <a:ext cx="842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1pPr>
            <a:lvl2pPr lvl="1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2pPr>
            <a:lvl3pPr lvl="2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3pPr>
            <a:lvl4pPr lvl="3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4pPr>
            <a:lvl5pPr lvl="4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5pPr>
            <a:lvl6pPr lvl="5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6pPr>
            <a:lvl7pPr lvl="6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7pPr>
            <a:lvl8pPr lvl="7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8pPr>
            <a:lvl9pPr lvl="8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4491037" y="4881563"/>
            <a:ext cx="1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3" name="Google Shape;10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0" name="Google Shape;110;p20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11" name="Google Shape;11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SECTION_HEADER_1_1">
    <p:bg>
      <p:bgPr>
        <a:solidFill>
          <a:srgbClr val="4A86E8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entury Gothic"/>
              <a:buNone/>
              <a:defRPr sz="4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5" name="Google Shape;125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-190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414338" y="240506"/>
            <a:ext cx="8101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⮚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238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1" name="Google Shape;131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-190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l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l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l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l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l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l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l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l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Body">
  <p:cSld name="TITLE_AND_BODY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3600"/>
              <a:buNone/>
              <a:defRPr sz="3600">
                <a:solidFill>
                  <a:srgbClr val="6D9EEB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1">
  <p:cSld name="SECTION_TITLE_AND_DESCRIPTION_1_4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41" name="Google Shape;14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143" name="Google Shape;143;p27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2">
  <p:cSld name="SECTION_TITLE_AND_DESCRIPTION_1_5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49" name="Google Shape;14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151" name="Google Shape;151;p2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3">
  <p:cSld name="SECTION_TITLE_AND_DESCRIPTION_1_6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57" name="Google Shape;157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159" name="Google Shape;159;p29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4">
  <p:cSld name="SECTION_TITLE_AND_DESCRIPTION_1_7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65" name="Google Shape;165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167" name="Google Shape;167;p30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3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5">
  <p:cSld name="SECTION_TITLE_AND_DESCRIPTION_1_8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73" name="Google Shape;17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175" name="Google Shape;175;p31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3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5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29" Type="http://schemas.openxmlformats.org/officeDocument/2006/relationships/slideLayout" Target="../slideLayouts/slideLayout27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31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9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8.xml"/><Relationship Id="rId3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8591790" y="588703"/>
            <a:ext cx="50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 Light"/>
                <a:ea typeface="Roboto Light"/>
                <a:cs typeface="Roboto Light"/>
                <a:sym typeface="Roboto Light"/>
              </a:rPr>
              <a:t>1904522</a:t>
            </a:r>
            <a:endParaRPr sz="10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1" name="Google Shape;11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91800" y="66300"/>
            <a:ext cx="506399" cy="5063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sli.do/features-google-slides?payload=eyJwcmVzZW50YXRpb25JZCI6IjFCVkxYLUhjNDVUN2FJRS1YRFV1SkhTMGdEZlBvQzFkeGdYZzMyZ29pamJZIiwic2xpZGVJZCI6IlNMSURFU19BUEkxNDc5NTg3NTQxXzAiLCJ0eXBlIjoiU2xpZG9Kb2luaW5nIn0%3D" TargetMode="External"/><Relationship Id="rId4" Type="http://schemas.openxmlformats.org/officeDocument/2006/relationships/image" Target="../media/image6.png"/><Relationship Id="rId5" Type="http://schemas.openxmlformats.org/officeDocument/2006/relationships/hyperlink" Target="https://chrome.google.com/webstore/detail/slido/dhhclfjehmpacimcdknijodpjpmppkii" TargetMode="External"/><Relationship Id="rId6" Type="http://schemas.openxmlformats.org/officeDocument/2006/relationships/hyperlink" Target="https://www.sli.do/features-google-slides?interaction-type=Sm9pbg%3D%3D" TargetMode="External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s100.org/acknowledgement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sections.ds100.org/tutoring" TargetMode="External"/><Relationship Id="rId4" Type="http://schemas.openxmlformats.org/officeDocument/2006/relationships/hyperlink" Target="https://docs.google.com/forms/d/e/1FAIpQLSfu6V-khA3_Gs9KbzupCq_Q9F6QqdR8FMhqeJTcQNqHkzqnfA/viewfor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1.png"/><Relationship Id="rId6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hyperlink" Target="https://www.sli.do/features-google-slides?payload=eyJwb2xsVXVpZCI6IjA4OTIzNjcwLTc0YjgtNDJlZS1iODdmLWZmZTAwMjE3OGZhNCIsInByZXNlbnRhdGlvbklkIjoiMUJWTFgtSGM0NVQ3YUlFLVhEVXVKSFMwZ0RmUG9DMWR4Z1hnMzJnb2lqYlkiLCJzbGlkZUlkIjoiU0xJREVTX0FQSTUzODk5ODI3MV8wIiwidGltZWxpbmUiOlt7InNob3dSZXN1bHRzIjpmYWxzZSwicG9sbFF1ZXN0aW9uVXVpZCI6ImExODEyYTgzLTMwODYtNDM1MS04OGJkLTM4NTdlYzJjNGVhYyJ9LHsicG9sbFF1ZXN0aW9uVXVpZCI6ImExODEyYTgzLTMwODYtNDM1MS04OGJkLTM4NTdlYzJjNGVhYyIsInNob3dSZXN1bHRzIjp0cnVlfV0sInR5cGUiOiJTbGlkb1BvbGwifQ%3D%3D" TargetMode="External"/><Relationship Id="rId7" Type="http://schemas.openxmlformats.org/officeDocument/2006/relationships/image" Target="../media/image18.png"/><Relationship Id="rId8" Type="http://schemas.openxmlformats.org/officeDocument/2006/relationships/hyperlink" Target="https://www.sli.do/features-google-slides?interaction-type=V29yZENsb3Vk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hyperlink" Target="https://www.sli.do/features-google-slides?payload=eyJwb2xsVXVpZCI6IjY1YjQwNjk3LTVmZjktNDU0MC1hMmI4LTI2YWRlZWExNTUzYiIsInByZXNlbnRhdGlvbklkIjoiMUJWTFgtSGM0NVQ3YUlFLVhEVXVKSFMwZ0RmUG9DMWR4Z1hnMzJnb2lqYlkiLCJzbGlkZUlkIjoiU0xJREVTX0FQSTExODc0MjI1NzhfMCIsInRpbWVsaW5lIjpbeyJzaG93UmVzdWx0cyI6ZmFsc2UsInBvbGxRdWVzdGlvblV1aWQiOiJmNzAzNzg0YS00OGM1LTRjNmEtODdiYS00NmIyNmQ3MzZlZmIifSx7InBvbGxRdWVzdGlvblV1aWQiOiJmNzAzNzg0YS00OGM1LTRjNmEtODdiYS00NmIyNmQ3MzZlZmIiLCJzaG93UmVzdWx0cyI6dHJ1ZX1dLCJ0eXBlIjoiU2xpZG9Qb2xsIn0%3D" TargetMode="External"/><Relationship Id="rId7" Type="http://schemas.openxmlformats.org/officeDocument/2006/relationships/image" Target="../media/image18.png"/><Relationship Id="rId8" Type="http://schemas.openxmlformats.org/officeDocument/2006/relationships/hyperlink" Target="https://www.sli.do/features-google-slides?interaction-type=V29yZENsb3Vk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sli.do/features-google-slides?payload=eyJwb2xsVXVpZCI6IjM3NTIxMTJiLWIxODctNDA5Yy05MmRhLWY4MTE5ZDM2NWMxNiIsInByZXNlbnRhdGlvbklkIjoiMUJWTFgtSGM0NVQ3YUlFLVhEVXVKSFMwZ0RmUG9DMWR4Z1hnMzJnb2lqYlkiLCJzbGlkZUlkIjoiU0xJREVTX0FQSTE1MzA1NjU4Ml8wIiwidGltZWxpbmUiOlt7InNob3dSZXN1bHRzIjpmYWxzZSwicG9sbFF1ZXN0aW9uVXVpZCI6ImM4OTEzYzFmLThmMDktNGI3OC05YjI1LWUyNTU0YTcxN2JiZSJ9LHsic2hvd1Jlc3VsdHMiOnRydWUsInBvbGxRdWVzdGlvblV1aWQiOiJjODkxM2MxZi04ZjA5LTRiNzgtOWIyNS1lMjU1NGE3MTdiYmUifV0sInR5cGUiOiJTbGlkb1BvbGwifQ%3D%3D" TargetMode="External"/><Relationship Id="rId4" Type="http://schemas.openxmlformats.org/officeDocument/2006/relationships/image" Target="../media/image13.png"/><Relationship Id="rId5" Type="http://schemas.openxmlformats.org/officeDocument/2006/relationships/hyperlink" Target="https://chrome.google.com/webstore/detail/slido/dhhclfjehmpacimcdknijodpjpmppkii" TargetMode="External"/><Relationship Id="rId6" Type="http://schemas.openxmlformats.org/officeDocument/2006/relationships/hyperlink" Target="https://www.sli.do/features-google-slides?interaction-type=TXVsdGlwbGVDaG9pY2U%3D" TargetMode="External"/><Relationship Id="rId7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32.png"/><Relationship Id="rId6" Type="http://schemas.openxmlformats.org/officeDocument/2006/relationships/image" Target="../media/image21.png"/><Relationship Id="rId7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39.png"/><Relationship Id="rId5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4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hyperlink" Target="https://www.sli.do/features-google-slides?payload=eyJwb2xsVXVpZCI6IjQ5MTliNTU2LTliZTItNDdjOS04MmQxLWRmYzU2MWQwOWRjNyIsInByZXNlbnRhdGlvbklkIjoiMUJWTFgtSGM0NVQ3YUlFLVhEVXVKSFMwZ0RmUG9DMWR4Z1hnMzJnb2lqYlkiLCJzbGlkZUlkIjoiU0xJREVTX0FQSTIwNTk1MjE1ODlfMCIsInRpbWVsaW5lIjpbeyJwb2xsUXVlc3Rpb25VdWlkIjoiMjlkNzhmNWUtZWE4Yy00NTljLWFhZWEtNWQ1Y2FjNzkzZDJkIiwic2hvd1Jlc3VsdHMiOmZhbHNlfSx7InNob3dSZXN1bHRzIjp0cnVlLCJwb2xsUXVlc3Rpb25VdWlkIjoiMjlkNzhmNWUtZWE4Yy00NTljLWFhZWEtNWQ1Y2FjNzkzZDJkIn1dLCJ0eXBlIjoiU2xpZG9Qb2xsIn0%3D" TargetMode="External"/><Relationship Id="rId7" Type="http://schemas.openxmlformats.org/officeDocument/2006/relationships/image" Target="../media/image18.png"/><Relationship Id="rId8" Type="http://schemas.openxmlformats.org/officeDocument/2006/relationships/hyperlink" Target="https://www.sli.do/features-google-slides?interaction-type=TXVsdGlwbGVDaG9pY2U%3D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s.cdc.gov/grasp/fluview/fluportaldashboard.html" TargetMode="External"/><Relationship Id="rId4" Type="http://schemas.openxmlformats.org/officeDocument/2006/relationships/hyperlink" Target="https://pandas.pydata.org/pandas-docs/stable/reference/api/pandas.read_csv.html?highlight=read_csv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pandas.pydata.org/pandas-docs/stable/reference/api/pandas.read_csv.html?highlight=read_csv" TargetMode="External"/><Relationship Id="rId4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gpo.congress.gov/" TargetMode="External"/><Relationship Id="rId4" Type="http://schemas.openxmlformats.org/officeDocument/2006/relationships/hyperlink" Target="https://pandas.pydata.org/pandas-docs/stable/reference/api/pandas.read_json.html" TargetMode="External"/><Relationship Id="rId5" Type="http://schemas.openxmlformats.org/officeDocument/2006/relationships/hyperlink" Target="https://pandas.pydata.org/docs/reference/api/pandas.DataFrame.htm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sli.do/features-google-slides?payload=eyJwb2xsVXVpZCI6IjZkOTg2YTVjLTU4NWEtNGQyZC1hZjc1LTZiMTMzOGU2NGIyMCIsInByZXNlbnRhdGlvbklkIjoiMUJWTFgtSGM0NVQ3YUlFLVhEVXVKSFMwZ0RmUG9DMWR4Z1hnMzJnb2lqYlkiLCJzbGlkZUlkIjoiU0xJREVTX0FQSTExODI3NTEwOTZfMCIsInRpbWVsaW5lIjpbeyJwb2xsUXVlc3Rpb25VdWlkIjoiMzYwMjdjYzQtYjczYi00OTBmLTkzZjktNDE4MGU5YjQ4YTM2Iiwic2hvd1Jlc3VsdHMiOmZhbHNlfSx7InNob3dSZXN1bHRzIjp0cnVlLCJwb2xsUXVlc3Rpb25VdWlkIjoiMzYwMjdjYzQtYjczYi00OTBmLTkzZjktNDE4MGU5YjQ4YTM2In1dLCJ0eXBlIjoiU2xpZG9Qb2xsIn0%3D" TargetMode="External"/><Relationship Id="rId4" Type="http://schemas.openxmlformats.org/officeDocument/2006/relationships/image" Target="../media/image18.png"/><Relationship Id="rId5" Type="http://schemas.openxmlformats.org/officeDocument/2006/relationships/hyperlink" Target="https://chrome.google.com/webstore/detail/slido/dhhclfjehmpacimcdknijodpjpmppkii" TargetMode="External"/><Relationship Id="rId6" Type="http://schemas.openxmlformats.org/officeDocument/2006/relationships/hyperlink" Target="https://www.sli.do/features-google-slides?interaction-type=V29yZENsb3Vk" TargetMode="External"/><Relationship Id="rId7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onlinelibrary.wiley.com/doi/abs/10.1111/jels.12343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2.eecs.berkeley.edu/Courses/CSW186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ds100.org/acknowledgem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id" id="181" name="Google Shape;181;p3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2020" y="508000"/>
            <a:ext cx="874500" cy="382594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182" name="Google Shape;182;p32"/>
          <p:cNvSpPr txBox="1"/>
          <p:nvPr/>
        </p:nvSpPr>
        <p:spPr>
          <a:xfrm>
            <a:off x="2687250" y="1928838"/>
            <a:ext cx="60453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Join at slido.com</a:t>
            </a:r>
            <a:br>
              <a:rPr b="1" lang="en" sz="3600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3600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#1904522</a:t>
            </a:r>
            <a:endParaRPr b="1" sz="3600">
              <a:solidFill>
                <a:srgbClr val="5B5B5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descr="footer-id" id="183" name="Google Shape;183;p32"/>
          <p:cNvSpPr txBox="1"/>
          <p:nvPr/>
        </p:nvSpPr>
        <p:spPr>
          <a:xfrm>
            <a:off x="2286000" y="4381500"/>
            <a:ext cx="304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ⓘ</a:t>
            </a:r>
            <a:endParaRPr b="1" sz="1300">
              <a:solidFill>
                <a:srgbClr val="5B5B5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descr="footer-id" id="184" name="Google Shape;184;p32"/>
          <p:cNvSpPr txBox="1"/>
          <p:nvPr/>
        </p:nvSpPr>
        <p:spPr>
          <a:xfrm>
            <a:off x="2590800" y="4381500"/>
            <a:ext cx="60453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Click </a:t>
            </a:r>
            <a:r>
              <a:rPr b="1" lang="en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Present with Slido</a:t>
            </a: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 or install our </a:t>
            </a:r>
            <a:r>
              <a:rPr lang="en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5"/>
              </a:rPr>
              <a:t>Chrome extension</a:t>
            </a: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 to display joining instructions for participants while presenting.</a:t>
            </a:r>
            <a:endParaRPr>
              <a:solidFill>
                <a:srgbClr val="5B5B5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descr="poll-type-id" id="185" name="Google Shape;185;p32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782" y="1659132"/>
            <a:ext cx="1825235" cy="1825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Exploratory Data Analysis (EDA) V</a:t>
            </a:r>
            <a:endParaRPr sz="3600"/>
          </a:p>
        </p:txBody>
      </p:sp>
      <p:sp>
        <p:nvSpPr>
          <p:cNvPr id="191" name="Google Shape;191;p33"/>
          <p:cNvSpPr txBox="1"/>
          <p:nvPr>
            <p:ph idx="1" type="subTitle"/>
          </p:nvPr>
        </p:nvSpPr>
        <p:spPr>
          <a:xfrm>
            <a:off x="311700" y="2797175"/>
            <a:ext cx="85206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</a:rPr>
              <a:t>K</a:t>
            </a:r>
            <a:r>
              <a:rPr lang="en" sz="1800">
                <a:solidFill>
                  <a:srgbClr val="666666"/>
                </a:solidFill>
              </a:rPr>
              <a:t>ey EDA concepts, DBMS and SQL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192" name="Google Shape;192;p33"/>
          <p:cNvSpPr txBox="1"/>
          <p:nvPr>
            <p:ph idx="1" type="subTitle"/>
          </p:nvPr>
        </p:nvSpPr>
        <p:spPr>
          <a:xfrm>
            <a:off x="311700" y="3854350"/>
            <a:ext cx="85206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Data C100/Data C200, Fall 2026 @ UC Berkeley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Ramesh Sridharan and Jeremy Sanchez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Content credit: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Acknowledgments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3" name="Google Shape;193;p33"/>
          <p:cNvSpPr txBox="1"/>
          <p:nvPr/>
        </p:nvSpPr>
        <p:spPr>
          <a:xfrm>
            <a:off x="345775" y="1825900"/>
            <a:ext cx="1150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6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4" name="Google Shape;19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Announcements</a:t>
            </a:r>
            <a:endParaRPr/>
          </a:p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107050" y="402200"/>
            <a:ext cx="8520600" cy="47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Starting with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HW 2</a:t>
            </a:r>
            <a:r>
              <a:rPr lang="en"/>
              <a:t>, all assignments will now be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submitted on Pensive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You </a:t>
            </a:r>
            <a:r>
              <a:rPr b="1" lang="en" u="sng">
                <a:latin typeface="Roboto"/>
                <a:ea typeface="Roboto"/>
                <a:cs typeface="Roboto"/>
                <a:sym typeface="Roboto"/>
              </a:rPr>
              <a:t>do not</a:t>
            </a:r>
            <a:r>
              <a:rPr lang="en"/>
              <a:t> need to re</a:t>
            </a:r>
            <a:r>
              <a:rPr lang="en"/>
              <a:t>submit</a:t>
            </a:r>
            <a:r>
              <a:rPr lang="en"/>
              <a:t> HW00 and HW1 to Pensive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HW 2 due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Friday 9/18</a:t>
            </a:r>
            <a:r>
              <a:rPr lang="en"/>
              <a:t> on Pensive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Small-Group Tutoring Sign Ups</a:t>
            </a:r>
            <a:r>
              <a:rPr lang="en"/>
              <a:t> are open! Tutoring sections begin this week.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Very helpful way to receive more 1-1 help and review content in a small group setting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Limited availability remaining; more info in the Ed announcement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Discussion swaps are locking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this Friday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 reminders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Prerequisite quiz is done! Use your results to help you prepare for the semester.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exam extenuating circumstances</a:t>
            </a:r>
            <a:r>
              <a:rPr lang="en"/>
              <a:t> form for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all</a:t>
            </a:r>
            <a:r>
              <a:rPr lang="en"/>
              <a:t> exam-related emergencies.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For future exams, you may not receive makeup opportunities if you miss your exam slot (this includes duo authentication issues, etc.)!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Cal Admissions</a:t>
            </a:r>
            <a:endParaRPr/>
          </a:p>
        </p:txBody>
      </p:sp>
      <p:sp>
        <p:nvSpPr>
          <p:cNvPr id="207" name="Google Shape;20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25" y="2865550"/>
            <a:ext cx="2851997" cy="212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825" y="887467"/>
            <a:ext cx="2650350" cy="193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6750" y="782950"/>
            <a:ext cx="2694050" cy="20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1801" y="743563"/>
            <a:ext cx="2780975" cy="21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/>
          <p:nvPr/>
        </p:nvSpPr>
        <p:spPr>
          <a:xfrm>
            <a:off x="1349880" y="1572132"/>
            <a:ext cx="1898400" cy="610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Quantitative</a:t>
            </a:r>
            <a:endParaRPr b="1" sz="11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36"/>
          <p:cNvSpPr/>
          <p:nvPr/>
        </p:nvSpPr>
        <p:spPr>
          <a:xfrm>
            <a:off x="5481679" y="1572132"/>
            <a:ext cx="1898400" cy="610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Qualitative</a:t>
            </a:r>
            <a:r>
              <a:rPr b="1" lang="en" sz="14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1" lang="en" sz="14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4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(categorical)</a:t>
            </a:r>
            <a:endParaRPr b="1" sz="11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36"/>
          <p:cNvSpPr/>
          <p:nvPr/>
        </p:nvSpPr>
        <p:spPr>
          <a:xfrm>
            <a:off x="3500236" y="601326"/>
            <a:ext cx="2112900" cy="666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Variable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0" name="Google Shape;220;p36"/>
          <p:cNvSpPr txBox="1"/>
          <p:nvPr/>
        </p:nvSpPr>
        <p:spPr>
          <a:xfrm>
            <a:off x="1405425" y="2618832"/>
            <a:ext cx="15513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Examples: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  <a:p>
            <a:pPr indent="-2032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•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Price</a:t>
            </a:r>
            <a:endParaRPr sz="10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032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•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Temperature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841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•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Age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1" name="Google Shape;221;p36"/>
          <p:cNvSpPr txBox="1"/>
          <p:nvPr/>
        </p:nvSpPr>
        <p:spPr>
          <a:xfrm>
            <a:off x="4481825" y="3924227"/>
            <a:ext cx="22575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Examples: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  <a:p>
            <a:pPr indent="-2032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•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Grade level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841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•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Age group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2" name="Google Shape;222;p36"/>
          <p:cNvSpPr txBox="1"/>
          <p:nvPr/>
        </p:nvSpPr>
        <p:spPr>
          <a:xfrm>
            <a:off x="990025" y="2231531"/>
            <a:ext cx="261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Measurable numerical values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3" name="Google Shape;223;p36"/>
          <p:cNvSpPr txBox="1"/>
          <p:nvPr/>
        </p:nvSpPr>
        <p:spPr>
          <a:xfrm>
            <a:off x="6762500" y="3828833"/>
            <a:ext cx="20112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Examples:</a:t>
            </a:r>
            <a:endParaRPr b="1" sz="1000">
              <a:latin typeface="Roboto"/>
              <a:ea typeface="Roboto"/>
              <a:cs typeface="Roboto"/>
              <a:sym typeface="Roboto"/>
            </a:endParaRPr>
          </a:p>
          <a:p>
            <a:pPr indent="-2032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•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Phone brand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0320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•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Randomly assigned ID numbers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4" name="Google Shape;224;p36"/>
          <p:cNvSpPr txBox="1"/>
          <p:nvPr/>
        </p:nvSpPr>
        <p:spPr>
          <a:xfrm>
            <a:off x="4263250" y="3516381"/>
            <a:ext cx="210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Ord</a:t>
            </a:r>
            <a:r>
              <a:rPr lang="en" sz="1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ered categories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5" name="Google Shape;225;p36"/>
          <p:cNvSpPr txBox="1"/>
          <p:nvPr/>
        </p:nvSpPr>
        <p:spPr>
          <a:xfrm>
            <a:off x="6546200" y="3516381"/>
            <a:ext cx="21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Unordered categories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26" name="Google Shape;226;p36"/>
          <p:cNvCxnSpPr>
            <a:stCxn id="219" idx="2"/>
            <a:endCxn id="217" idx="0"/>
          </p:cNvCxnSpPr>
          <p:nvPr/>
        </p:nvCxnSpPr>
        <p:spPr>
          <a:xfrm flipH="1">
            <a:off x="2299186" y="1267326"/>
            <a:ext cx="2257500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7" name="Google Shape;227;p36"/>
          <p:cNvCxnSpPr>
            <a:stCxn id="219" idx="2"/>
            <a:endCxn id="218" idx="0"/>
          </p:cNvCxnSpPr>
          <p:nvPr/>
        </p:nvCxnSpPr>
        <p:spPr>
          <a:xfrm>
            <a:off x="4556686" y="1267326"/>
            <a:ext cx="1874100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8" name="Google Shape;228;p36"/>
          <p:cNvSpPr/>
          <p:nvPr/>
        </p:nvSpPr>
        <p:spPr>
          <a:xfrm>
            <a:off x="4758558" y="2847382"/>
            <a:ext cx="1118400" cy="610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Ord</a:t>
            </a:r>
            <a:r>
              <a:rPr lang="en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inal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9" name="Google Shape;229;p36"/>
          <p:cNvSpPr/>
          <p:nvPr/>
        </p:nvSpPr>
        <p:spPr>
          <a:xfrm>
            <a:off x="6984800" y="2847382"/>
            <a:ext cx="1320000" cy="610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Nominal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30" name="Google Shape;230;p36"/>
          <p:cNvCxnSpPr>
            <a:stCxn id="218" idx="2"/>
            <a:endCxn id="228" idx="0"/>
          </p:cNvCxnSpPr>
          <p:nvPr/>
        </p:nvCxnSpPr>
        <p:spPr>
          <a:xfrm flipH="1">
            <a:off x="5317879" y="2182932"/>
            <a:ext cx="1113000" cy="66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1" name="Google Shape;231;p36"/>
          <p:cNvCxnSpPr>
            <a:stCxn id="218" idx="2"/>
            <a:endCxn id="229" idx="0"/>
          </p:cNvCxnSpPr>
          <p:nvPr/>
        </p:nvCxnSpPr>
        <p:spPr>
          <a:xfrm>
            <a:off x="6430879" y="2182932"/>
            <a:ext cx="1213800" cy="66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2" name="Google Shape;23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6"/>
          <p:cNvSpPr txBox="1"/>
          <p:nvPr/>
        </p:nvSpPr>
        <p:spPr>
          <a:xfrm>
            <a:off x="-734675" y="4804800"/>
            <a:ext cx="567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safe default: Store qualitative data as strings!</a:t>
            </a:r>
            <a:endParaRPr b="1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Variable Types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Structure </a:t>
            </a:r>
            <a:r>
              <a:rPr lang="en"/>
              <a:t>-- the "shape" of a data file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Granularity</a:t>
            </a:r>
            <a:r>
              <a:rPr lang="en"/>
              <a:t> -- how fine/coarse is each </a:t>
            </a:r>
            <a:r>
              <a:rPr lang="en"/>
              <a:t>datum</a:t>
            </a:r>
            <a:r>
              <a:rPr lang="en"/>
              <a:t> → a single "piece" of data</a:t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Temporality</a:t>
            </a:r>
            <a:r>
              <a:rPr lang="en">
                <a:solidFill>
                  <a:srgbClr val="9E9E9E"/>
                </a:solidFill>
              </a:rPr>
              <a:t> -- how is the data situated in time</a:t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Faithfulness</a:t>
            </a:r>
            <a:r>
              <a:rPr lang="en">
                <a:solidFill>
                  <a:srgbClr val="9E9E9E"/>
                </a:solidFill>
              </a:rPr>
              <a:t> -- how well does the data capture "reality"</a:t>
            </a:r>
            <a:endParaRPr>
              <a:solidFill>
                <a:srgbClr val="9E9E9E"/>
              </a:solidFill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Key Data Properties to Consider in EDA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3031725" y="253075"/>
            <a:ext cx="215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(we'll come back to this!)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43" name="Google Shape;243;p37"/>
          <p:cNvSpPr/>
          <p:nvPr/>
        </p:nvSpPr>
        <p:spPr>
          <a:xfrm flipH="1">
            <a:off x="4005200" y="1040575"/>
            <a:ext cx="801300" cy="728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Important Conundrum in Data Science</a:t>
            </a:r>
            <a:endParaRPr/>
          </a:p>
        </p:txBody>
      </p:sp>
      <p:graphicFrame>
        <p:nvGraphicFramePr>
          <p:cNvPr id="250" name="Google Shape;250;p38"/>
          <p:cNvGraphicFramePr/>
          <p:nvPr/>
        </p:nvGraphicFramePr>
        <p:xfrm>
          <a:off x="2113325" y="167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2458675"/>
                <a:gridCol w="2458675"/>
              </a:tblGrid>
              <a:tr h="527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Singular "data"</a:t>
                      </a:r>
                      <a:endParaRPr b="1"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"The data show</a:t>
                      </a:r>
                      <a:r>
                        <a:rPr b="1"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…"</a:t>
                      </a:r>
                      <a:endParaRPr sz="16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/>
                </a:tc>
              </a:tr>
              <a:tr h="527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Plural "data" (</a:t>
                      </a:r>
                      <a:r>
                        <a:rPr b="1" lang="en" sz="1600" strike="sng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datums</a:t>
                      </a:r>
                      <a:r>
                        <a:rPr b="1"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b="1"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"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The data show …"</a:t>
                      </a:r>
                      <a:endParaRPr sz="16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51" name="Google Shape;251;p38"/>
          <p:cNvSpPr txBox="1"/>
          <p:nvPr/>
        </p:nvSpPr>
        <p:spPr>
          <a:xfrm>
            <a:off x="2839975" y="2944675"/>
            <a:ext cx="3464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The first one is </a:t>
            </a:r>
            <a:r>
              <a:rPr i="1"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technically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incorrect, but in practice, either is fine 🙂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Granularity: How Fine/Coarse Is Each Datum?</a:t>
            </a:r>
            <a:endParaRPr/>
          </a:p>
        </p:txBody>
      </p:sp>
      <p:sp>
        <p:nvSpPr>
          <p:cNvPr id="257" name="Google Shape;257;p39"/>
          <p:cNvSpPr txBox="1"/>
          <p:nvPr>
            <p:ph idx="1" type="body"/>
          </p:nvPr>
        </p:nvSpPr>
        <p:spPr>
          <a:xfrm>
            <a:off x="107044" y="2767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does each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record</a:t>
            </a:r>
            <a:r>
              <a:rPr lang="en"/>
              <a:t> (row)</a:t>
            </a:r>
            <a:r>
              <a:rPr i="1" lang="en"/>
              <a:t> </a:t>
            </a:r>
            <a:r>
              <a:rPr lang="en"/>
              <a:t>represent?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Examples: a single purchase, a single person, a group of users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Some data will include summaries (aka </a:t>
            </a:r>
            <a:r>
              <a:rPr b="1" lang="en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rollups</a:t>
            </a:r>
            <a:r>
              <a:rPr lang="en"/>
              <a:t>) as records.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the data are </a:t>
            </a:r>
            <a:r>
              <a:rPr b="1" lang="en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coarse</a:t>
            </a:r>
            <a:r>
              <a:rPr lang="en"/>
              <a:t>, how were the records aggregated?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Summing, averaging, or something else?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39"/>
          <p:cNvSpPr txBox="1"/>
          <p:nvPr/>
        </p:nvSpPr>
        <p:spPr>
          <a:xfrm>
            <a:off x="937601" y="1939203"/>
            <a:ext cx="13683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Fine </a:t>
            </a:r>
            <a:br>
              <a:rPr lang="en" sz="2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Grained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0" name="Google Shape;260;p39"/>
          <p:cNvSpPr txBox="1"/>
          <p:nvPr/>
        </p:nvSpPr>
        <p:spPr>
          <a:xfrm>
            <a:off x="6744357" y="1939203"/>
            <a:ext cx="13683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Coarse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Grained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1" name="Google Shape;261;p39"/>
          <p:cNvSpPr/>
          <p:nvPr/>
        </p:nvSpPr>
        <p:spPr>
          <a:xfrm>
            <a:off x="2621056" y="2073412"/>
            <a:ext cx="3831300" cy="539700"/>
          </a:xfrm>
          <a:prstGeom prst="left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62" name="Google Shape;262;p39"/>
          <p:cNvGrpSpPr/>
          <p:nvPr/>
        </p:nvGrpSpPr>
        <p:grpSpPr>
          <a:xfrm>
            <a:off x="628650" y="1082832"/>
            <a:ext cx="2159129" cy="836606"/>
            <a:chOff x="866947" y="3704974"/>
            <a:chExt cx="2878839" cy="1115475"/>
          </a:xfrm>
        </p:grpSpPr>
        <p:sp>
          <p:nvSpPr>
            <p:cNvPr id="263" name="Google Shape;263;p39"/>
            <p:cNvSpPr/>
            <p:nvPr/>
          </p:nvSpPr>
          <p:spPr>
            <a:xfrm>
              <a:off x="1034578" y="4073370"/>
              <a:ext cx="445278" cy="747079"/>
            </a:xfrm>
            <a:custGeom>
              <a:rect b="b" l="l" r="r" t="t"/>
              <a:pathLst>
                <a:path extrusionOk="0" h="2668139" w="1590278">
                  <a:moveTo>
                    <a:pt x="696459" y="0"/>
                  </a:moveTo>
                  <a:cubicBezTo>
                    <a:pt x="862580" y="0"/>
                    <a:pt x="997248" y="134668"/>
                    <a:pt x="997248" y="300789"/>
                  </a:cubicBezTo>
                  <a:cubicBezTo>
                    <a:pt x="997248" y="425380"/>
                    <a:pt x="921498" y="532278"/>
                    <a:pt x="813540" y="577941"/>
                  </a:cubicBezTo>
                  <a:lnTo>
                    <a:pt x="797770" y="582836"/>
                  </a:lnTo>
                  <a:lnTo>
                    <a:pt x="797770" y="673085"/>
                  </a:lnTo>
                  <a:lnTo>
                    <a:pt x="938304" y="673085"/>
                  </a:lnTo>
                  <a:cubicBezTo>
                    <a:pt x="968274" y="673085"/>
                    <a:pt x="995406" y="685233"/>
                    <a:pt x="1015046" y="704873"/>
                  </a:cubicBezTo>
                  <a:lnTo>
                    <a:pt x="1037967" y="738868"/>
                  </a:lnTo>
                  <a:lnTo>
                    <a:pt x="1060789" y="753442"/>
                  </a:lnTo>
                  <a:lnTo>
                    <a:pt x="1582472" y="1500202"/>
                  </a:lnTo>
                  <a:cubicBezTo>
                    <a:pt x="1596166" y="1519804"/>
                    <a:pt x="1591376" y="1546796"/>
                    <a:pt x="1571774" y="1560490"/>
                  </a:cubicBezTo>
                  <a:lnTo>
                    <a:pt x="1429805" y="1659669"/>
                  </a:lnTo>
                  <a:cubicBezTo>
                    <a:pt x="1410202" y="1673363"/>
                    <a:pt x="1383211" y="1668573"/>
                    <a:pt x="1369517" y="1648971"/>
                  </a:cubicBezTo>
                  <a:lnTo>
                    <a:pt x="1046834" y="1187069"/>
                  </a:lnTo>
                  <a:lnTo>
                    <a:pt x="1046834" y="1713908"/>
                  </a:lnTo>
                  <a:lnTo>
                    <a:pt x="1046834" y="1832245"/>
                  </a:lnTo>
                  <a:lnTo>
                    <a:pt x="1046834" y="2624843"/>
                  </a:lnTo>
                  <a:cubicBezTo>
                    <a:pt x="1046834" y="2648755"/>
                    <a:pt x="1027450" y="2668139"/>
                    <a:pt x="1003538" y="2668139"/>
                  </a:cubicBezTo>
                  <a:lnTo>
                    <a:pt x="830357" y="2668139"/>
                  </a:lnTo>
                  <a:cubicBezTo>
                    <a:pt x="806445" y="2668139"/>
                    <a:pt x="787061" y="2648755"/>
                    <a:pt x="787061" y="2624843"/>
                  </a:cubicBezTo>
                  <a:lnTo>
                    <a:pt x="787061" y="1940775"/>
                  </a:lnTo>
                  <a:lnTo>
                    <a:pt x="655443" y="1940775"/>
                  </a:lnTo>
                  <a:lnTo>
                    <a:pt x="655443" y="2624843"/>
                  </a:lnTo>
                  <a:cubicBezTo>
                    <a:pt x="655443" y="2648755"/>
                    <a:pt x="636059" y="2668139"/>
                    <a:pt x="612147" y="2668139"/>
                  </a:cubicBezTo>
                  <a:lnTo>
                    <a:pt x="438966" y="2668139"/>
                  </a:lnTo>
                  <a:cubicBezTo>
                    <a:pt x="415054" y="2668139"/>
                    <a:pt x="395670" y="2648755"/>
                    <a:pt x="395670" y="2624843"/>
                  </a:cubicBezTo>
                  <a:lnTo>
                    <a:pt x="395670" y="1832245"/>
                  </a:lnTo>
                  <a:lnTo>
                    <a:pt x="395670" y="1713908"/>
                  </a:lnTo>
                  <a:lnTo>
                    <a:pt x="395670" y="1329499"/>
                  </a:lnTo>
                  <a:lnTo>
                    <a:pt x="233765" y="1629191"/>
                  </a:lnTo>
                  <a:cubicBezTo>
                    <a:pt x="222399" y="1650229"/>
                    <a:pt x="196131" y="1658070"/>
                    <a:pt x="175093" y="1646704"/>
                  </a:cubicBezTo>
                  <a:lnTo>
                    <a:pt x="22725" y="1564389"/>
                  </a:lnTo>
                  <a:cubicBezTo>
                    <a:pt x="1687" y="1553024"/>
                    <a:pt x="-6154" y="1526756"/>
                    <a:pt x="5212" y="1505718"/>
                  </a:cubicBezTo>
                  <a:lnTo>
                    <a:pt x="395670" y="782967"/>
                  </a:lnTo>
                  <a:lnTo>
                    <a:pt x="395670" y="781615"/>
                  </a:lnTo>
                  <a:cubicBezTo>
                    <a:pt x="395670" y="721676"/>
                    <a:pt x="444261" y="673085"/>
                    <a:pt x="504200" y="673085"/>
                  </a:cubicBezTo>
                  <a:lnTo>
                    <a:pt x="595147" y="673085"/>
                  </a:lnTo>
                  <a:lnTo>
                    <a:pt x="595147" y="582835"/>
                  </a:lnTo>
                  <a:lnTo>
                    <a:pt x="579378" y="577941"/>
                  </a:lnTo>
                  <a:cubicBezTo>
                    <a:pt x="471421" y="532278"/>
                    <a:pt x="395670" y="425380"/>
                    <a:pt x="395670" y="300789"/>
                  </a:cubicBezTo>
                  <a:cubicBezTo>
                    <a:pt x="395670" y="134668"/>
                    <a:pt x="530338" y="0"/>
                    <a:pt x="696459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4" name="Google Shape;264;p39"/>
            <p:cNvSpPr/>
            <p:nvPr/>
          </p:nvSpPr>
          <p:spPr>
            <a:xfrm>
              <a:off x="2096868" y="4073370"/>
              <a:ext cx="445278" cy="747079"/>
            </a:xfrm>
            <a:custGeom>
              <a:rect b="b" l="l" r="r" t="t"/>
              <a:pathLst>
                <a:path extrusionOk="0" h="2668139" w="1590278">
                  <a:moveTo>
                    <a:pt x="696459" y="0"/>
                  </a:moveTo>
                  <a:cubicBezTo>
                    <a:pt x="862580" y="0"/>
                    <a:pt x="997248" y="134668"/>
                    <a:pt x="997248" y="300789"/>
                  </a:cubicBezTo>
                  <a:cubicBezTo>
                    <a:pt x="997248" y="425380"/>
                    <a:pt x="921498" y="532278"/>
                    <a:pt x="813540" y="577941"/>
                  </a:cubicBezTo>
                  <a:lnTo>
                    <a:pt x="797770" y="582836"/>
                  </a:lnTo>
                  <a:lnTo>
                    <a:pt x="797770" y="673085"/>
                  </a:lnTo>
                  <a:lnTo>
                    <a:pt x="938304" y="673085"/>
                  </a:lnTo>
                  <a:cubicBezTo>
                    <a:pt x="968274" y="673085"/>
                    <a:pt x="995406" y="685233"/>
                    <a:pt x="1015046" y="704873"/>
                  </a:cubicBezTo>
                  <a:lnTo>
                    <a:pt x="1037967" y="738868"/>
                  </a:lnTo>
                  <a:lnTo>
                    <a:pt x="1060789" y="753442"/>
                  </a:lnTo>
                  <a:lnTo>
                    <a:pt x="1582472" y="1500202"/>
                  </a:lnTo>
                  <a:cubicBezTo>
                    <a:pt x="1596166" y="1519804"/>
                    <a:pt x="1591376" y="1546796"/>
                    <a:pt x="1571774" y="1560490"/>
                  </a:cubicBezTo>
                  <a:lnTo>
                    <a:pt x="1429805" y="1659669"/>
                  </a:lnTo>
                  <a:cubicBezTo>
                    <a:pt x="1410202" y="1673363"/>
                    <a:pt x="1383211" y="1668573"/>
                    <a:pt x="1369517" y="1648971"/>
                  </a:cubicBezTo>
                  <a:lnTo>
                    <a:pt x="1046834" y="1187069"/>
                  </a:lnTo>
                  <a:lnTo>
                    <a:pt x="1046834" y="1713908"/>
                  </a:lnTo>
                  <a:lnTo>
                    <a:pt x="1046834" y="1832245"/>
                  </a:lnTo>
                  <a:lnTo>
                    <a:pt x="1046834" y="2624843"/>
                  </a:lnTo>
                  <a:cubicBezTo>
                    <a:pt x="1046834" y="2648755"/>
                    <a:pt x="1027450" y="2668139"/>
                    <a:pt x="1003538" y="2668139"/>
                  </a:cubicBezTo>
                  <a:lnTo>
                    <a:pt x="830357" y="2668139"/>
                  </a:lnTo>
                  <a:cubicBezTo>
                    <a:pt x="806445" y="2668139"/>
                    <a:pt x="787061" y="2648755"/>
                    <a:pt x="787061" y="2624843"/>
                  </a:cubicBezTo>
                  <a:lnTo>
                    <a:pt x="787061" y="1940775"/>
                  </a:lnTo>
                  <a:lnTo>
                    <a:pt x="655443" y="1940775"/>
                  </a:lnTo>
                  <a:lnTo>
                    <a:pt x="655443" y="2624843"/>
                  </a:lnTo>
                  <a:cubicBezTo>
                    <a:pt x="655443" y="2648755"/>
                    <a:pt x="636059" y="2668139"/>
                    <a:pt x="612147" y="2668139"/>
                  </a:cubicBezTo>
                  <a:lnTo>
                    <a:pt x="438966" y="2668139"/>
                  </a:lnTo>
                  <a:cubicBezTo>
                    <a:pt x="415054" y="2668139"/>
                    <a:pt x="395670" y="2648755"/>
                    <a:pt x="395670" y="2624843"/>
                  </a:cubicBezTo>
                  <a:lnTo>
                    <a:pt x="395670" y="1832245"/>
                  </a:lnTo>
                  <a:lnTo>
                    <a:pt x="395670" y="1713908"/>
                  </a:lnTo>
                  <a:lnTo>
                    <a:pt x="395670" y="1329499"/>
                  </a:lnTo>
                  <a:lnTo>
                    <a:pt x="233765" y="1629191"/>
                  </a:lnTo>
                  <a:cubicBezTo>
                    <a:pt x="222399" y="1650229"/>
                    <a:pt x="196131" y="1658070"/>
                    <a:pt x="175093" y="1646704"/>
                  </a:cubicBezTo>
                  <a:lnTo>
                    <a:pt x="22725" y="1564389"/>
                  </a:lnTo>
                  <a:cubicBezTo>
                    <a:pt x="1687" y="1553024"/>
                    <a:pt x="-6154" y="1526756"/>
                    <a:pt x="5212" y="1505718"/>
                  </a:cubicBezTo>
                  <a:lnTo>
                    <a:pt x="395670" y="782967"/>
                  </a:lnTo>
                  <a:lnTo>
                    <a:pt x="395670" y="781615"/>
                  </a:lnTo>
                  <a:cubicBezTo>
                    <a:pt x="395670" y="721676"/>
                    <a:pt x="444261" y="673085"/>
                    <a:pt x="504200" y="673085"/>
                  </a:cubicBezTo>
                  <a:lnTo>
                    <a:pt x="595147" y="673085"/>
                  </a:lnTo>
                  <a:lnTo>
                    <a:pt x="595147" y="582835"/>
                  </a:lnTo>
                  <a:lnTo>
                    <a:pt x="579378" y="577941"/>
                  </a:lnTo>
                  <a:cubicBezTo>
                    <a:pt x="471421" y="532278"/>
                    <a:pt x="395670" y="425380"/>
                    <a:pt x="395670" y="300789"/>
                  </a:cubicBezTo>
                  <a:cubicBezTo>
                    <a:pt x="395670" y="134668"/>
                    <a:pt x="530338" y="0"/>
                    <a:pt x="696459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5" name="Google Shape;265;p39"/>
            <p:cNvSpPr/>
            <p:nvPr/>
          </p:nvSpPr>
          <p:spPr>
            <a:xfrm>
              <a:off x="3092540" y="4073370"/>
              <a:ext cx="445278" cy="747079"/>
            </a:xfrm>
            <a:custGeom>
              <a:rect b="b" l="l" r="r" t="t"/>
              <a:pathLst>
                <a:path extrusionOk="0" h="2668139" w="1590278">
                  <a:moveTo>
                    <a:pt x="696459" y="0"/>
                  </a:moveTo>
                  <a:cubicBezTo>
                    <a:pt x="862580" y="0"/>
                    <a:pt x="997248" y="134668"/>
                    <a:pt x="997248" y="300789"/>
                  </a:cubicBezTo>
                  <a:cubicBezTo>
                    <a:pt x="997248" y="425380"/>
                    <a:pt x="921498" y="532278"/>
                    <a:pt x="813540" y="577941"/>
                  </a:cubicBezTo>
                  <a:lnTo>
                    <a:pt x="797770" y="582836"/>
                  </a:lnTo>
                  <a:lnTo>
                    <a:pt x="797770" y="673085"/>
                  </a:lnTo>
                  <a:lnTo>
                    <a:pt x="938304" y="673085"/>
                  </a:lnTo>
                  <a:cubicBezTo>
                    <a:pt x="968274" y="673085"/>
                    <a:pt x="995406" y="685233"/>
                    <a:pt x="1015046" y="704873"/>
                  </a:cubicBezTo>
                  <a:lnTo>
                    <a:pt x="1037967" y="738868"/>
                  </a:lnTo>
                  <a:lnTo>
                    <a:pt x="1060789" y="753442"/>
                  </a:lnTo>
                  <a:lnTo>
                    <a:pt x="1582472" y="1500202"/>
                  </a:lnTo>
                  <a:cubicBezTo>
                    <a:pt x="1596166" y="1519804"/>
                    <a:pt x="1591376" y="1546796"/>
                    <a:pt x="1571774" y="1560490"/>
                  </a:cubicBezTo>
                  <a:lnTo>
                    <a:pt x="1429805" y="1659669"/>
                  </a:lnTo>
                  <a:cubicBezTo>
                    <a:pt x="1410202" y="1673363"/>
                    <a:pt x="1383211" y="1668573"/>
                    <a:pt x="1369517" y="1648971"/>
                  </a:cubicBezTo>
                  <a:lnTo>
                    <a:pt x="1046834" y="1187069"/>
                  </a:lnTo>
                  <a:lnTo>
                    <a:pt x="1046834" y="1713908"/>
                  </a:lnTo>
                  <a:lnTo>
                    <a:pt x="1046834" y="1832245"/>
                  </a:lnTo>
                  <a:lnTo>
                    <a:pt x="1046834" y="2624843"/>
                  </a:lnTo>
                  <a:cubicBezTo>
                    <a:pt x="1046834" y="2648755"/>
                    <a:pt x="1027450" y="2668139"/>
                    <a:pt x="1003538" y="2668139"/>
                  </a:cubicBezTo>
                  <a:lnTo>
                    <a:pt x="830357" y="2668139"/>
                  </a:lnTo>
                  <a:cubicBezTo>
                    <a:pt x="806445" y="2668139"/>
                    <a:pt x="787061" y="2648755"/>
                    <a:pt x="787061" y="2624843"/>
                  </a:cubicBezTo>
                  <a:lnTo>
                    <a:pt x="787061" y="1940775"/>
                  </a:lnTo>
                  <a:lnTo>
                    <a:pt x="655443" y="1940775"/>
                  </a:lnTo>
                  <a:lnTo>
                    <a:pt x="655443" y="2624843"/>
                  </a:lnTo>
                  <a:cubicBezTo>
                    <a:pt x="655443" y="2648755"/>
                    <a:pt x="636059" y="2668139"/>
                    <a:pt x="612147" y="2668139"/>
                  </a:cubicBezTo>
                  <a:lnTo>
                    <a:pt x="438966" y="2668139"/>
                  </a:lnTo>
                  <a:cubicBezTo>
                    <a:pt x="415054" y="2668139"/>
                    <a:pt x="395670" y="2648755"/>
                    <a:pt x="395670" y="2624843"/>
                  </a:cubicBezTo>
                  <a:lnTo>
                    <a:pt x="395670" y="1832245"/>
                  </a:lnTo>
                  <a:lnTo>
                    <a:pt x="395670" y="1713908"/>
                  </a:lnTo>
                  <a:lnTo>
                    <a:pt x="395670" y="1329499"/>
                  </a:lnTo>
                  <a:lnTo>
                    <a:pt x="233765" y="1629191"/>
                  </a:lnTo>
                  <a:cubicBezTo>
                    <a:pt x="222399" y="1650229"/>
                    <a:pt x="196131" y="1658070"/>
                    <a:pt x="175093" y="1646704"/>
                  </a:cubicBezTo>
                  <a:lnTo>
                    <a:pt x="22725" y="1564389"/>
                  </a:lnTo>
                  <a:cubicBezTo>
                    <a:pt x="1687" y="1553024"/>
                    <a:pt x="-6154" y="1526756"/>
                    <a:pt x="5212" y="1505718"/>
                  </a:cubicBezTo>
                  <a:lnTo>
                    <a:pt x="395670" y="782967"/>
                  </a:lnTo>
                  <a:lnTo>
                    <a:pt x="395670" y="781615"/>
                  </a:lnTo>
                  <a:cubicBezTo>
                    <a:pt x="395670" y="721676"/>
                    <a:pt x="444261" y="673085"/>
                    <a:pt x="504200" y="673085"/>
                  </a:cubicBezTo>
                  <a:lnTo>
                    <a:pt x="595147" y="673085"/>
                  </a:lnTo>
                  <a:lnTo>
                    <a:pt x="595147" y="582835"/>
                  </a:lnTo>
                  <a:lnTo>
                    <a:pt x="579378" y="577941"/>
                  </a:lnTo>
                  <a:cubicBezTo>
                    <a:pt x="471421" y="532278"/>
                    <a:pt x="395670" y="425380"/>
                    <a:pt x="395670" y="300789"/>
                  </a:cubicBezTo>
                  <a:cubicBezTo>
                    <a:pt x="395670" y="134668"/>
                    <a:pt x="530338" y="0"/>
                    <a:pt x="696459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6" name="Google Shape;266;p39"/>
            <p:cNvSpPr txBox="1"/>
            <p:nvPr/>
          </p:nvSpPr>
          <p:spPr>
            <a:xfrm>
              <a:off x="866947" y="3704974"/>
              <a:ext cx="880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Row</a:t>
              </a:r>
              <a:r>
                <a:rPr lang="en" sz="14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1</a:t>
              </a:r>
              <a:endParaRPr sz="1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7" name="Google Shape;267;p39"/>
            <p:cNvSpPr txBox="1"/>
            <p:nvPr/>
          </p:nvSpPr>
          <p:spPr>
            <a:xfrm>
              <a:off x="1866117" y="3704974"/>
              <a:ext cx="880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Row</a:t>
              </a:r>
              <a:r>
                <a:rPr lang="en" sz="14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2</a:t>
              </a:r>
              <a:endParaRPr sz="1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8" name="Google Shape;268;p39"/>
            <p:cNvSpPr txBox="1"/>
            <p:nvPr/>
          </p:nvSpPr>
          <p:spPr>
            <a:xfrm>
              <a:off x="2865286" y="3704974"/>
              <a:ext cx="880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Row</a:t>
              </a:r>
              <a:r>
                <a:rPr lang="en" sz="14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3</a:t>
              </a:r>
              <a:endParaRPr sz="1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69" name="Google Shape;269;p39"/>
          <p:cNvGrpSpPr/>
          <p:nvPr/>
        </p:nvGrpSpPr>
        <p:grpSpPr>
          <a:xfrm>
            <a:off x="3389090" y="835606"/>
            <a:ext cx="2569194" cy="1083832"/>
            <a:chOff x="4486574" y="3541039"/>
            <a:chExt cx="3425592" cy="1445110"/>
          </a:xfrm>
        </p:grpSpPr>
        <p:grpSp>
          <p:nvGrpSpPr>
            <p:cNvPr id="270" name="Google Shape;270;p39"/>
            <p:cNvGrpSpPr/>
            <p:nvPr/>
          </p:nvGrpSpPr>
          <p:grpSpPr>
            <a:xfrm>
              <a:off x="4499497" y="3979852"/>
              <a:ext cx="768376" cy="934116"/>
              <a:chOff x="4499497" y="4136968"/>
              <a:chExt cx="768376" cy="934116"/>
            </a:xfrm>
          </p:grpSpPr>
          <p:sp>
            <p:nvSpPr>
              <p:cNvPr id="271" name="Google Shape;271;p39"/>
              <p:cNvSpPr/>
              <p:nvPr/>
            </p:nvSpPr>
            <p:spPr>
              <a:xfrm>
                <a:off x="4670195" y="4136968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72" name="Google Shape;272;p39"/>
              <p:cNvSpPr/>
              <p:nvPr/>
            </p:nvSpPr>
            <p:spPr>
              <a:xfrm>
                <a:off x="4499497" y="4324005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73" name="Google Shape;273;p39"/>
              <p:cNvSpPr/>
              <p:nvPr/>
            </p:nvSpPr>
            <p:spPr>
              <a:xfrm>
                <a:off x="4822595" y="4289368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grpSp>
          <p:nvGrpSpPr>
            <p:cNvPr id="274" name="Google Shape;274;p39"/>
            <p:cNvGrpSpPr/>
            <p:nvPr/>
          </p:nvGrpSpPr>
          <p:grpSpPr>
            <a:xfrm>
              <a:off x="5925929" y="3907670"/>
              <a:ext cx="606206" cy="1078479"/>
              <a:chOff x="5941798" y="4256671"/>
              <a:chExt cx="606206" cy="1078479"/>
            </a:xfrm>
          </p:grpSpPr>
          <p:sp>
            <p:nvSpPr>
              <p:cNvPr id="275" name="Google Shape;275;p39"/>
              <p:cNvSpPr/>
              <p:nvPr/>
            </p:nvSpPr>
            <p:spPr>
              <a:xfrm>
                <a:off x="5950326" y="4256671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76" name="Google Shape;276;p39"/>
              <p:cNvSpPr/>
              <p:nvPr/>
            </p:nvSpPr>
            <p:spPr>
              <a:xfrm>
                <a:off x="6102726" y="4409071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77" name="Google Shape;277;p39"/>
              <p:cNvSpPr/>
              <p:nvPr/>
            </p:nvSpPr>
            <p:spPr>
              <a:xfrm>
                <a:off x="5941798" y="4588071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grpSp>
          <p:nvGrpSpPr>
            <p:cNvPr id="278" name="Google Shape;278;p39"/>
            <p:cNvGrpSpPr/>
            <p:nvPr/>
          </p:nvGrpSpPr>
          <p:grpSpPr>
            <a:xfrm>
              <a:off x="6921601" y="3909609"/>
              <a:ext cx="990565" cy="1074601"/>
              <a:chOff x="6799630" y="4213998"/>
              <a:chExt cx="990565" cy="1074601"/>
            </a:xfrm>
          </p:grpSpPr>
          <p:sp>
            <p:nvSpPr>
              <p:cNvPr id="279" name="Google Shape;279;p39"/>
              <p:cNvSpPr/>
              <p:nvPr/>
            </p:nvSpPr>
            <p:spPr>
              <a:xfrm>
                <a:off x="7078058" y="4213998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80" name="Google Shape;280;p39"/>
              <p:cNvSpPr/>
              <p:nvPr/>
            </p:nvSpPr>
            <p:spPr>
              <a:xfrm>
                <a:off x="7344917" y="4315971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81" name="Google Shape;281;p39"/>
              <p:cNvSpPr/>
              <p:nvPr/>
            </p:nvSpPr>
            <p:spPr>
              <a:xfrm>
                <a:off x="6799630" y="4366398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82" name="Google Shape;282;p39"/>
              <p:cNvSpPr/>
              <p:nvPr/>
            </p:nvSpPr>
            <p:spPr>
              <a:xfrm>
                <a:off x="7089205" y="4541520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283" name="Google Shape;283;p39"/>
            <p:cNvSpPr txBox="1"/>
            <p:nvPr/>
          </p:nvSpPr>
          <p:spPr>
            <a:xfrm>
              <a:off x="4486574" y="3541039"/>
              <a:ext cx="880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Row</a:t>
              </a:r>
              <a:r>
                <a:rPr lang="en" sz="14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1</a:t>
              </a:r>
              <a:endParaRPr sz="1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84" name="Google Shape;284;p39"/>
            <p:cNvSpPr txBox="1"/>
            <p:nvPr/>
          </p:nvSpPr>
          <p:spPr>
            <a:xfrm>
              <a:off x="5707832" y="3541039"/>
              <a:ext cx="880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Row</a:t>
              </a:r>
              <a:r>
                <a:rPr lang="en" sz="14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2</a:t>
              </a:r>
              <a:endParaRPr sz="1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85" name="Google Shape;285;p39"/>
            <p:cNvSpPr txBox="1"/>
            <p:nvPr/>
          </p:nvSpPr>
          <p:spPr>
            <a:xfrm>
              <a:off x="6982801" y="3541039"/>
              <a:ext cx="880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Row</a:t>
              </a:r>
              <a:r>
                <a:rPr lang="en" sz="14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3</a:t>
              </a:r>
              <a:endParaRPr sz="1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86" name="Google Shape;286;p39"/>
          <p:cNvGrpSpPr/>
          <p:nvPr/>
        </p:nvGrpSpPr>
        <p:grpSpPr>
          <a:xfrm>
            <a:off x="6743539" y="514027"/>
            <a:ext cx="1451225" cy="1405411"/>
            <a:chOff x="9227397" y="3290580"/>
            <a:chExt cx="1934967" cy="1873882"/>
          </a:xfrm>
        </p:grpSpPr>
        <p:grpSp>
          <p:nvGrpSpPr>
            <p:cNvPr id="287" name="Google Shape;287;p39"/>
            <p:cNvGrpSpPr/>
            <p:nvPr/>
          </p:nvGrpSpPr>
          <p:grpSpPr>
            <a:xfrm>
              <a:off x="9227397" y="3704974"/>
              <a:ext cx="1934967" cy="1459488"/>
              <a:chOff x="9227397" y="3704974"/>
              <a:chExt cx="1934967" cy="1459488"/>
            </a:xfrm>
          </p:grpSpPr>
          <p:sp>
            <p:nvSpPr>
              <p:cNvPr id="288" name="Google Shape;288;p39"/>
              <p:cNvSpPr/>
              <p:nvPr/>
            </p:nvSpPr>
            <p:spPr>
              <a:xfrm>
                <a:off x="9240655" y="3722614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89" name="Google Shape;289;p39"/>
              <p:cNvSpPr/>
              <p:nvPr/>
            </p:nvSpPr>
            <p:spPr>
              <a:xfrm>
                <a:off x="9556551" y="3879240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90" name="Google Shape;290;p39"/>
              <p:cNvSpPr/>
              <p:nvPr/>
            </p:nvSpPr>
            <p:spPr>
              <a:xfrm>
                <a:off x="9719768" y="4057011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91" name="Google Shape;291;p39"/>
              <p:cNvSpPr/>
              <p:nvPr/>
            </p:nvSpPr>
            <p:spPr>
              <a:xfrm>
                <a:off x="9227397" y="4108150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92" name="Google Shape;292;p39"/>
              <p:cNvSpPr/>
              <p:nvPr/>
            </p:nvSpPr>
            <p:spPr>
              <a:xfrm>
                <a:off x="9968745" y="3704974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93" name="Google Shape;293;p39"/>
              <p:cNvSpPr/>
              <p:nvPr/>
            </p:nvSpPr>
            <p:spPr>
              <a:xfrm>
                <a:off x="10717086" y="3868918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94" name="Google Shape;294;p39"/>
              <p:cNvSpPr/>
              <p:nvPr/>
            </p:nvSpPr>
            <p:spPr>
              <a:xfrm>
                <a:off x="10147341" y="3792448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95" name="Google Shape;295;p39"/>
              <p:cNvSpPr/>
              <p:nvPr/>
            </p:nvSpPr>
            <p:spPr>
              <a:xfrm>
                <a:off x="10412473" y="4078199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96" name="Google Shape;296;p39"/>
              <p:cNvSpPr/>
              <p:nvPr/>
            </p:nvSpPr>
            <p:spPr>
              <a:xfrm>
                <a:off x="9452772" y="4213998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97" name="Google Shape;297;p39"/>
              <p:cNvSpPr/>
              <p:nvPr/>
            </p:nvSpPr>
            <p:spPr>
              <a:xfrm>
                <a:off x="9696668" y="4400539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98" name="Google Shape;298;p39"/>
              <p:cNvSpPr/>
              <p:nvPr/>
            </p:nvSpPr>
            <p:spPr>
              <a:xfrm>
                <a:off x="10638565" y="4417383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299" name="Google Shape;299;p39"/>
              <p:cNvSpPr/>
              <p:nvPr/>
            </p:nvSpPr>
            <p:spPr>
              <a:xfrm>
                <a:off x="10081143" y="4274714"/>
                <a:ext cx="445278" cy="747079"/>
              </a:xfrm>
              <a:custGeom>
                <a:rect b="b" l="l" r="r" t="t"/>
                <a:pathLst>
                  <a:path extrusionOk="0" h="2668139" w="1590278">
                    <a:moveTo>
                      <a:pt x="696459" y="0"/>
                    </a:moveTo>
                    <a:cubicBezTo>
                      <a:pt x="862580" y="0"/>
                      <a:pt x="997248" y="134668"/>
                      <a:pt x="997248" y="300789"/>
                    </a:cubicBezTo>
                    <a:cubicBezTo>
                      <a:pt x="997248" y="425380"/>
                      <a:pt x="921498" y="532278"/>
                      <a:pt x="813540" y="577941"/>
                    </a:cubicBezTo>
                    <a:lnTo>
                      <a:pt x="797770" y="582836"/>
                    </a:lnTo>
                    <a:lnTo>
                      <a:pt x="797770" y="673085"/>
                    </a:lnTo>
                    <a:lnTo>
                      <a:pt x="938304" y="673085"/>
                    </a:lnTo>
                    <a:cubicBezTo>
                      <a:pt x="968274" y="673085"/>
                      <a:pt x="995406" y="685233"/>
                      <a:pt x="1015046" y="704873"/>
                    </a:cubicBezTo>
                    <a:lnTo>
                      <a:pt x="1037967" y="738868"/>
                    </a:lnTo>
                    <a:lnTo>
                      <a:pt x="1060789" y="753442"/>
                    </a:lnTo>
                    <a:lnTo>
                      <a:pt x="1582472" y="1500202"/>
                    </a:lnTo>
                    <a:cubicBezTo>
                      <a:pt x="1596166" y="1519804"/>
                      <a:pt x="1591376" y="1546796"/>
                      <a:pt x="1571774" y="1560490"/>
                    </a:cubicBezTo>
                    <a:lnTo>
                      <a:pt x="1429805" y="1659669"/>
                    </a:lnTo>
                    <a:cubicBezTo>
                      <a:pt x="1410202" y="1673363"/>
                      <a:pt x="1383211" y="1668573"/>
                      <a:pt x="1369517" y="1648971"/>
                    </a:cubicBezTo>
                    <a:lnTo>
                      <a:pt x="1046834" y="1187069"/>
                    </a:lnTo>
                    <a:lnTo>
                      <a:pt x="1046834" y="1713908"/>
                    </a:lnTo>
                    <a:lnTo>
                      <a:pt x="1046834" y="1832245"/>
                    </a:lnTo>
                    <a:lnTo>
                      <a:pt x="1046834" y="2624843"/>
                    </a:lnTo>
                    <a:cubicBezTo>
                      <a:pt x="1046834" y="2648755"/>
                      <a:pt x="1027450" y="2668139"/>
                      <a:pt x="1003538" y="2668139"/>
                    </a:cubicBezTo>
                    <a:lnTo>
                      <a:pt x="830357" y="2668139"/>
                    </a:lnTo>
                    <a:cubicBezTo>
                      <a:pt x="806445" y="2668139"/>
                      <a:pt x="787061" y="2648755"/>
                      <a:pt x="787061" y="2624843"/>
                    </a:cubicBezTo>
                    <a:lnTo>
                      <a:pt x="787061" y="1940775"/>
                    </a:lnTo>
                    <a:lnTo>
                      <a:pt x="655443" y="1940775"/>
                    </a:lnTo>
                    <a:lnTo>
                      <a:pt x="655443" y="2624843"/>
                    </a:lnTo>
                    <a:cubicBezTo>
                      <a:pt x="655443" y="2648755"/>
                      <a:pt x="636059" y="2668139"/>
                      <a:pt x="612147" y="2668139"/>
                    </a:cubicBezTo>
                    <a:lnTo>
                      <a:pt x="438966" y="2668139"/>
                    </a:lnTo>
                    <a:cubicBezTo>
                      <a:pt x="415054" y="2668139"/>
                      <a:pt x="395670" y="2648755"/>
                      <a:pt x="395670" y="2624843"/>
                    </a:cubicBezTo>
                    <a:lnTo>
                      <a:pt x="395670" y="1832245"/>
                    </a:lnTo>
                    <a:lnTo>
                      <a:pt x="395670" y="1713908"/>
                    </a:lnTo>
                    <a:lnTo>
                      <a:pt x="395670" y="1329499"/>
                    </a:lnTo>
                    <a:lnTo>
                      <a:pt x="233765" y="1629191"/>
                    </a:lnTo>
                    <a:cubicBezTo>
                      <a:pt x="222399" y="1650229"/>
                      <a:pt x="196131" y="1658070"/>
                      <a:pt x="175093" y="1646704"/>
                    </a:cubicBezTo>
                    <a:lnTo>
                      <a:pt x="22725" y="1564389"/>
                    </a:lnTo>
                    <a:cubicBezTo>
                      <a:pt x="1687" y="1553024"/>
                      <a:pt x="-6154" y="1526756"/>
                      <a:pt x="5212" y="1505718"/>
                    </a:cubicBezTo>
                    <a:lnTo>
                      <a:pt x="395670" y="782967"/>
                    </a:lnTo>
                    <a:lnTo>
                      <a:pt x="395670" y="781615"/>
                    </a:lnTo>
                    <a:cubicBezTo>
                      <a:pt x="395670" y="721676"/>
                      <a:pt x="444261" y="673085"/>
                      <a:pt x="504200" y="673085"/>
                    </a:cubicBezTo>
                    <a:lnTo>
                      <a:pt x="595147" y="673085"/>
                    </a:lnTo>
                    <a:lnTo>
                      <a:pt x="595147" y="582835"/>
                    </a:lnTo>
                    <a:lnTo>
                      <a:pt x="579378" y="577941"/>
                    </a:lnTo>
                    <a:cubicBezTo>
                      <a:pt x="471421" y="532278"/>
                      <a:pt x="395670" y="425380"/>
                      <a:pt x="395670" y="300789"/>
                    </a:cubicBezTo>
                    <a:cubicBezTo>
                      <a:pt x="395670" y="134668"/>
                      <a:pt x="530338" y="0"/>
                      <a:pt x="6964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300" name="Google Shape;300;p39"/>
            <p:cNvSpPr txBox="1"/>
            <p:nvPr/>
          </p:nvSpPr>
          <p:spPr>
            <a:xfrm>
              <a:off x="9779508" y="3290580"/>
              <a:ext cx="880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Row</a:t>
              </a:r>
              <a:r>
                <a:rPr lang="en" sz="14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1</a:t>
              </a:r>
              <a:endParaRPr sz="1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6" name="Google Shape;306;p40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307" name="Google Shape;307;p40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does each row of the `elections` dataset represent? In other words, what is granularity of `elections`?</a:t>
            </a:r>
            <a:endParaRPr b="1" sz="24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Google Shape;308;p40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9" name="Google Shape;309;p40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310" name="Google Shape;31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311" name="Google Shape;311;p40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312" name="Google Shape;312;p40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Granularity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elections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8" name="Google Shape;318;p4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row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elections</a:t>
            </a:r>
            <a:r>
              <a:rPr lang="en"/>
              <a:t> represents a unique combination of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candidate and year.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Assumptions: O</a:t>
            </a:r>
            <a:r>
              <a:rPr lang="en"/>
              <a:t>ne election per year and c</a:t>
            </a:r>
            <a:r>
              <a:rPr lang="en"/>
              <a:t>andidate represents one party per election.</a:t>
            </a:r>
            <a:endParaRPr/>
          </a:p>
        </p:txBody>
      </p:sp>
      <p:sp>
        <p:nvSpPr>
          <p:cNvPr id="319" name="Google Shape;31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0" name="Google Shape;32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200" y="1532424"/>
            <a:ext cx="7781951" cy="251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26" name="Google Shape;326;p42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327" name="Google Shape;327;p42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the granularity of the `babynames` dataset?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8" name="Google Shape;328;p42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29" name="Google Shape;329;p42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330" name="Google Shape;33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331" name="Google Shape;331;p42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332" name="Google Shape;332;p42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Granularity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babynames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" name="Google Shape;338;p4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row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babynames</a:t>
            </a:r>
            <a:r>
              <a:rPr lang="en"/>
              <a:t> represents a unique combination of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name, state, sex, and year</a:t>
            </a:r>
            <a:r>
              <a:rPr lang="en"/>
              <a:t>.</a:t>
            </a:r>
            <a:endParaRPr/>
          </a:p>
        </p:txBody>
      </p:sp>
      <p:sp>
        <p:nvSpPr>
          <p:cNvPr id="339" name="Google Shape;33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0" name="Google Shape;34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9375" y="1231225"/>
            <a:ext cx="4504351" cy="296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44"/>
          <p:cNvSpPr txBox="1"/>
          <p:nvPr>
            <p:ph idx="1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Structure </a:t>
            </a:r>
            <a:r>
              <a:rPr lang="en">
                <a:solidFill>
                  <a:schemeClr val="dk2"/>
                </a:solidFill>
              </a:rPr>
              <a:t>-- the "shape" of a data file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Granularity</a:t>
            </a:r>
            <a:r>
              <a:rPr lang="en">
                <a:solidFill>
                  <a:schemeClr val="dk2"/>
                </a:solidFill>
              </a:rPr>
              <a:t> -- how fine/coarse is each datum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Temporality</a:t>
            </a:r>
            <a:r>
              <a:rPr lang="en"/>
              <a:t> -- how is the data situated in time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Faithfulness</a:t>
            </a:r>
            <a:r>
              <a:rPr lang="en">
                <a:solidFill>
                  <a:schemeClr val="dk2"/>
                </a:solidFill>
              </a:rPr>
              <a:t> -- how well does the data capture "reality"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7" name="Google Shape;347;p44"/>
          <p:cNvSpPr txBox="1"/>
          <p:nvPr/>
        </p:nvSpPr>
        <p:spPr>
          <a:xfrm>
            <a:off x="177925" y="231385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Key Data Properties to Consider in EDA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id" id="352" name="Google Shape;352;p4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2020" y="508000"/>
            <a:ext cx="874500" cy="382594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353" name="Google Shape;353;p45"/>
          <p:cNvSpPr txBox="1"/>
          <p:nvPr/>
        </p:nvSpPr>
        <p:spPr>
          <a:xfrm>
            <a:off x="2590800" y="1928813"/>
            <a:ext cx="60453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What type of variable is a datetime (e.g., 01/01/2025 3:30pm)?</a:t>
            </a:r>
            <a:endParaRPr b="1" sz="3600">
              <a:solidFill>
                <a:srgbClr val="5B5B5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descr="footer-id" id="354" name="Google Shape;354;p45"/>
          <p:cNvSpPr txBox="1"/>
          <p:nvPr/>
        </p:nvSpPr>
        <p:spPr>
          <a:xfrm>
            <a:off x="2286000" y="4381500"/>
            <a:ext cx="304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ⓘ</a:t>
            </a:r>
            <a:endParaRPr b="1" sz="1300">
              <a:solidFill>
                <a:srgbClr val="5B5B5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descr="footer-id" id="355" name="Google Shape;355;p45"/>
          <p:cNvSpPr txBox="1"/>
          <p:nvPr/>
        </p:nvSpPr>
        <p:spPr>
          <a:xfrm>
            <a:off x="2590800" y="4381500"/>
            <a:ext cx="60453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Click </a:t>
            </a:r>
            <a:r>
              <a:rPr b="1" lang="en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Present with Slido</a:t>
            </a: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 or install our </a:t>
            </a:r>
            <a:r>
              <a:rPr lang="en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5"/>
              </a:rPr>
              <a:t>Chrome extension</a:t>
            </a: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 to activate this poll while presenting.</a:t>
            </a:r>
            <a:endParaRPr>
              <a:solidFill>
                <a:srgbClr val="5B5B5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descr="poll-type-id" id="356" name="Google Shape;356;p45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000" y="1657350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>
            <p:ph idx="1" type="body"/>
          </p:nvPr>
        </p:nvSpPr>
        <p:spPr>
          <a:xfrm>
            <a:off x="223850" y="580975"/>
            <a:ext cx="8797200" cy="3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humans, we write datetimes as strings: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01/01/2025 3:30pm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First try: store as 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categorical </a:t>
            </a:r>
            <a:r>
              <a:rPr lang="en"/>
              <a:t>string, e.g.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"010120250330p"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Problem</a:t>
            </a:r>
            <a:r>
              <a:rPr lang="en"/>
              <a:t>: difficult to make comparisons (before/after), do computation (how long between), etc.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Problem</a:t>
            </a:r>
            <a:r>
              <a:rPr lang="en"/>
              <a:t>: wastes space. Strings require more bits than numbers.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Better idea: store as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numerical values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Computing standard: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Unix/POSIX time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Number of seconds* since </a:t>
            </a:r>
            <a:r>
              <a:rPr b="1" lang="en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January 1st 1970 UTC </a:t>
            </a:r>
            <a:r>
              <a:rPr b="1" lang="en" sz="7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(Coordinated Universal Time)</a:t>
            </a:r>
            <a:endParaRPr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700"/>
              <a:t>Example: Feb 4, 2025 5:00pm PDT → </a:t>
            </a:r>
            <a:r>
              <a:rPr lang="en" sz="1700">
                <a:latin typeface="Roboto Mono Medium"/>
                <a:ea typeface="Roboto Mono Medium"/>
                <a:cs typeface="Roboto Mono Medium"/>
                <a:sym typeface="Roboto Mono Medium"/>
              </a:rPr>
              <a:t>1738674000</a:t>
            </a: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900"/>
              <a:t>(1,738,674,000 seconds)</a:t>
            </a:r>
            <a:endParaRPr sz="9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700"/>
              <a:t>Example: Feb 4, 1950 5:00pm PDT → </a:t>
            </a:r>
            <a:r>
              <a:rPr lang="en" sz="1700">
                <a:latin typeface="Roboto Mono Medium"/>
                <a:ea typeface="Roboto Mono Medium"/>
                <a:cs typeface="Roboto Mono Medium"/>
                <a:sym typeface="Roboto Mono Medium"/>
              </a:rPr>
              <a:t>-628167600</a:t>
            </a:r>
            <a:r>
              <a:rPr lang="en" sz="17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900"/>
              <a:t>(-628,167,600 seconds)</a:t>
            </a:r>
            <a:endParaRPr sz="9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Easy to make comparisons, calculate “time between X and Y,” etc.</a:t>
            </a:r>
            <a:endParaRPr/>
          </a:p>
        </p:txBody>
      </p:sp>
      <p:sp>
        <p:nvSpPr>
          <p:cNvPr id="362" name="Google Shape;36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Should We Store Datetimes?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47"/>
          <p:cNvSpPr txBox="1"/>
          <p:nvPr>
            <p:ph idx="1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Structure </a:t>
            </a:r>
            <a:r>
              <a:rPr lang="en"/>
              <a:t>-- the "shape" of a data file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Granularity</a:t>
            </a:r>
            <a:r>
              <a:rPr lang="en">
                <a:solidFill>
                  <a:schemeClr val="dk2"/>
                </a:solidFill>
              </a:rPr>
              <a:t> -- how fine/coarse is each datum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Temporality</a:t>
            </a:r>
            <a:r>
              <a:rPr lang="en">
                <a:solidFill>
                  <a:schemeClr val="dk2"/>
                </a:solidFill>
              </a:rPr>
              <a:t> -- how is the data situated in time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Faithfulness</a:t>
            </a:r>
            <a:r>
              <a:rPr lang="en">
                <a:solidFill>
                  <a:schemeClr val="dk2"/>
                </a:solidFill>
              </a:rPr>
              <a:t> -- how well does the data capture "reality"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70" name="Google Shape;370;p47"/>
          <p:cNvSpPr/>
          <p:nvPr/>
        </p:nvSpPr>
        <p:spPr>
          <a:xfrm flipH="1">
            <a:off x="3995325" y="398875"/>
            <a:ext cx="801300" cy="728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7"/>
          <p:cNvSpPr txBox="1"/>
          <p:nvPr/>
        </p:nvSpPr>
        <p:spPr>
          <a:xfrm>
            <a:off x="177925" y="231385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Key Data Properties to Consider in EDA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72" name="Google Shape;372;p47"/>
          <p:cNvSpPr txBox="1"/>
          <p:nvPr>
            <p:ph idx="2" type="body"/>
          </p:nvPr>
        </p:nvSpPr>
        <p:spPr>
          <a:xfrm>
            <a:off x="2307375" y="448050"/>
            <a:ext cx="2264700" cy="6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/>
              <a:t>Variable Type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Multiple Files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File Format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Tables About Cats</a:t>
            </a:r>
            <a:endParaRPr/>
          </a:p>
        </p:txBody>
      </p:sp>
      <p:sp>
        <p:nvSpPr>
          <p:cNvPr id="378" name="Google Shape;37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79" name="Google Shape;379;p48"/>
          <p:cNvGrpSpPr/>
          <p:nvPr/>
        </p:nvGrpSpPr>
        <p:grpSpPr>
          <a:xfrm>
            <a:off x="133875" y="907475"/>
            <a:ext cx="2553627" cy="2024750"/>
            <a:chOff x="133875" y="907475"/>
            <a:chExt cx="2553627" cy="2024750"/>
          </a:xfrm>
        </p:grpSpPr>
        <p:pic>
          <p:nvPicPr>
            <p:cNvPr id="380" name="Google Shape;380;p48"/>
            <p:cNvPicPr preferRelativeResize="0"/>
            <p:nvPr/>
          </p:nvPicPr>
          <p:blipFill rotWithShape="1">
            <a:blip r:embed="rId3">
              <a:alphaModFix/>
            </a:blip>
            <a:srcRect b="8636" l="6385" r="0" t="14806"/>
            <a:stretch/>
          </p:blipFill>
          <p:spPr>
            <a:xfrm>
              <a:off x="133875" y="907475"/>
              <a:ext cx="2553627" cy="1624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" name="Google Shape;381;p48"/>
            <p:cNvSpPr txBox="1"/>
            <p:nvPr/>
          </p:nvSpPr>
          <p:spPr>
            <a:xfrm>
              <a:off x="924688" y="2532025"/>
              <a:ext cx="972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Persian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82" name="Google Shape;382;p48"/>
          <p:cNvGrpSpPr/>
          <p:nvPr/>
        </p:nvGrpSpPr>
        <p:grpSpPr>
          <a:xfrm>
            <a:off x="3080806" y="907475"/>
            <a:ext cx="2819241" cy="2024750"/>
            <a:chOff x="3080806" y="907475"/>
            <a:chExt cx="2819241" cy="2024750"/>
          </a:xfrm>
        </p:grpSpPr>
        <p:pic>
          <p:nvPicPr>
            <p:cNvPr id="383" name="Google Shape;383;p48"/>
            <p:cNvPicPr preferRelativeResize="0"/>
            <p:nvPr/>
          </p:nvPicPr>
          <p:blipFill rotWithShape="1">
            <a:blip r:embed="rId4">
              <a:alphaModFix/>
            </a:blip>
            <a:srcRect b="4139" l="16156" r="18038" t="8357"/>
            <a:stretch/>
          </p:blipFill>
          <p:spPr>
            <a:xfrm>
              <a:off x="3080806" y="907475"/>
              <a:ext cx="2819241" cy="1624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48"/>
            <p:cNvSpPr txBox="1"/>
            <p:nvPr/>
          </p:nvSpPr>
          <p:spPr>
            <a:xfrm>
              <a:off x="3975375" y="2532025"/>
              <a:ext cx="972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Ragdoll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385" name="Google Shape;385;p48"/>
          <p:cNvGrpSpPr/>
          <p:nvPr/>
        </p:nvGrpSpPr>
        <p:grpSpPr>
          <a:xfrm>
            <a:off x="6293350" y="907474"/>
            <a:ext cx="2437440" cy="2024751"/>
            <a:chOff x="6293350" y="907474"/>
            <a:chExt cx="2437440" cy="2024751"/>
          </a:xfrm>
        </p:grpSpPr>
        <p:pic>
          <p:nvPicPr>
            <p:cNvPr id="386" name="Google Shape;386;p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293350" y="907474"/>
              <a:ext cx="2437440" cy="1624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7" name="Google Shape;387;p48"/>
            <p:cNvSpPr txBox="1"/>
            <p:nvPr/>
          </p:nvSpPr>
          <p:spPr>
            <a:xfrm>
              <a:off x="7026063" y="2532025"/>
              <a:ext cx="972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Bengal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pic>
        <p:nvPicPr>
          <p:cNvPr id="388" name="Google Shape;388;p48"/>
          <p:cNvPicPr preferRelativeResize="0"/>
          <p:nvPr/>
        </p:nvPicPr>
        <p:blipFill rotWithShape="1">
          <a:blip r:embed="rId6">
            <a:alphaModFix/>
          </a:blip>
          <a:srcRect b="0" l="0" r="53014" t="0"/>
          <a:stretch/>
        </p:blipFill>
        <p:spPr>
          <a:xfrm>
            <a:off x="2332425" y="3045900"/>
            <a:ext cx="4153174" cy="1981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8"/>
          <p:cNvSpPr/>
          <p:nvPr/>
        </p:nvSpPr>
        <p:spPr>
          <a:xfrm>
            <a:off x="3952675" y="3459600"/>
            <a:ext cx="777300" cy="138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0" name="Google Shape;390;p48"/>
          <p:cNvGrpSpPr/>
          <p:nvPr/>
        </p:nvGrpSpPr>
        <p:grpSpPr>
          <a:xfrm>
            <a:off x="6734682" y="3045900"/>
            <a:ext cx="2117425" cy="2066650"/>
            <a:chOff x="6734682" y="3045900"/>
            <a:chExt cx="2117425" cy="2066650"/>
          </a:xfrm>
        </p:grpSpPr>
        <p:sp>
          <p:nvSpPr>
            <p:cNvPr id="391" name="Google Shape;391;p48"/>
            <p:cNvSpPr txBox="1"/>
            <p:nvPr/>
          </p:nvSpPr>
          <p:spPr>
            <a:xfrm>
              <a:off x="7284388" y="4712350"/>
              <a:ext cx="972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Helios*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392" name="Google Shape;392;p4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734682" y="3045900"/>
              <a:ext cx="2117425" cy="16478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 Join</a:t>
            </a:r>
            <a:endParaRPr/>
          </a:p>
        </p:txBody>
      </p:sp>
      <p:sp>
        <p:nvSpPr>
          <p:cNvPr id="398" name="Google Shape;398;p49"/>
          <p:cNvSpPr txBox="1"/>
          <p:nvPr>
            <p:ph idx="1" type="body"/>
          </p:nvPr>
        </p:nvSpPr>
        <p:spPr>
          <a:xfrm>
            <a:off x="107050" y="402200"/>
            <a:ext cx="85206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Inner join:</a:t>
            </a:r>
            <a:r>
              <a:rPr lang="en"/>
              <a:t> Combine every row from the first table with its matching entry in the second table. If a row does not have a match, it is omitted.</a:t>
            </a:r>
            <a:endParaRPr/>
          </a:p>
        </p:txBody>
      </p:sp>
      <p:sp>
        <p:nvSpPr>
          <p:cNvPr id="399" name="Google Shape;39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0" name="Google Shape;400;p49"/>
          <p:cNvSpPr/>
          <p:nvPr/>
        </p:nvSpPr>
        <p:spPr>
          <a:xfrm>
            <a:off x="4019625" y="1794475"/>
            <a:ext cx="4926600" cy="138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1" name="Google Shape;401;p49"/>
          <p:cNvPicPr preferRelativeResize="0"/>
          <p:nvPr/>
        </p:nvPicPr>
        <p:blipFill rotWithShape="1">
          <a:blip r:embed="rId3">
            <a:alphaModFix/>
          </a:blip>
          <a:srcRect b="0" l="0" r="54361" t="0"/>
          <a:stretch/>
        </p:blipFill>
        <p:spPr>
          <a:xfrm>
            <a:off x="562473" y="1361575"/>
            <a:ext cx="4034050" cy="19819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9"/>
          <p:cNvSpPr/>
          <p:nvPr/>
        </p:nvSpPr>
        <p:spPr>
          <a:xfrm>
            <a:off x="2196800" y="1806500"/>
            <a:ext cx="769200" cy="130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 Join</a:t>
            </a:r>
            <a:endParaRPr/>
          </a:p>
        </p:txBody>
      </p:sp>
      <p:sp>
        <p:nvSpPr>
          <p:cNvPr id="408" name="Google Shape;408;p50"/>
          <p:cNvSpPr txBox="1"/>
          <p:nvPr>
            <p:ph idx="1" type="body"/>
          </p:nvPr>
        </p:nvSpPr>
        <p:spPr>
          <a:xfrm>
            <a:off x="107050" y="402200"/>
            <a:ext cx="85206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Inner join:</a:t>
            </a:r>
            <a:r>
              <a:rPr lang="en"/>
              <a:t> Combine every row from the first table with its matching entry in the second table. If a row does not have a match, it is omitted.</a:t>
            </a:r>
            <a:endParaRPr/>
          </a:p>
        </p:txBody>
      </p:sp>
      <p:sp>
        <p:nvSpPr>
          <p:cNvPr id="409" name="Google Shape;40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0" name="Google Shape;410;p50"/>
          <p:cNvPicPr preferRelativeResize="0"/>
          <p:nvPr/>
        </p:nvPicPr>
        <p:blipFill rotWithShape="1">
          <a:blip r:embed="rId3">
            <a:alphaModFix/>
          </a:blip>
          <a:srcRect b="0" l="0" r="44215" t="0"/>
          <a:stretch/>
        </p:blipFill>
        <p:spPr>
          <a:xfrm>
            <a:off x="562463" y="1361575"/>
            <a:ext cx="4930900" cy="19819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0"/>
          <p:cNvSpPr/>
          <p:nvPr/>
        </p:nvSpPr>
        <p:spPr>
          <a:xfrm>
            <a:off x="4499425" y="1746500"/>
            <a:ext cx="2294700" cy="138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2" name="Google Shape;412;p50"/>
          <p:cNvGrpSpPr/>
          <p:nvPr/>
        </p:nvGrpSpPr>
        <p:grpSpPr>
          <a:xfrm>
            <a:off x="4619975" y="1361575"/>
            <a:ext cx="3552262" cy="1981925"/>
            <a:chOff x="4619975" y="1361575"/>
            <a:chExt cx="3552262" cy="1981925"/>
          </a:xfrm>
        </p:grpSpPr>
        <p:pic>
          <p:nvPicPr>
            <p:cNvPr id="413" name="Google Shape;413;p50"/>
            <p:cNvPicPr preferRelativeResize="0"/>
            <p:nvPr/>
          </p:nvPicPr>
          <p:blipFill rotWithShape="1">
            <a:blip r:embed="rId3">
              <a:alphaModFix/>
            </a:blip>
            <a:srcRect b="0" l="69693" r="0" t="0"/>
            <a:stretch/>
          </p:blipFill>
          <p:spPr>
            <a:xfrm>
              <a:off x="5493362" y="1361575"/>
              <a:ext cx="2678875" cy="19819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14" name="Google Shape;414;p50"/>
            <p:cNvCxnSpPr/>
            <p:nvPr/>
          </p:nvCxnSpPr>
          <p:spPr>
            <a:xfrm>
              <a:off x="4619975" y="2437400"/>
              <a:ext cx="7593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 Syntax</a:t>
            </a:r>
            <a:endParaRPr/>
          </a:p>
        </p:txBody>
      </p:sp>
      <p:sp>
        <p:nvSpPr>
          <p:cNvPr id="420" name="Google Shape;420;p51"/>
          <p:cNvSpPr txBox="1"/>
          <p:nvPr>
            <p:ph idx="1" type="body"/>
          </p:nvPr>
        </p:nvSpPr>
        <p:spPr>
          <a:xfrm>
            <a:off x="107050" y="402200"/>
            <a:ext cx="85206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Specify joins between tables as part of the FROM statement</a:t>
            </a:r>
            <a:endParaRPr/>
          </a:p>
        </p:txBody>
      </p:sp>
      <p:sp>
        <p:nvSpPr>
          <p:cNvPr id="421" name="Google Shape;42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2" name="Google Shape;422;p51"/>
          <p:cNvSpPr txBox="1"/>
          <p:nvPr/>
        </p:nvSpPr>
        <p:spPr>
          <a:xfrm>
            <a:off x="211100" y="1165100"/>
            <a:ext cx="5508300" cy="11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FROM table1 INNER JOIN table2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		   ON table1.key = table2.key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3" name="Google Shape;423;p51"/>
          <p:cNvSpPr txBox="1"/>
          <p:nvPr/>
        </p:nvSpPr>
        <p:spPr>
          <a:xfrm>
            <a:off x="5719400" y="877225"/>
            <a:ext cx="24855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Desired type of join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4" name="Google Shape;424;p51"/>
          <p:cNvSpPr txBox="1"/>
          <p:nvPr/>
        </p:nvSpPr>
        <p:spPr>
          <a:xfrm>
            <a:off x="5719400" y="2374875"/>
            <a:ext cx="28011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What columns to use to determine matching entries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425" name="Google Shape;425;p51"/>
          <p:cNvCxnSpPr>
            <a:stCxn id="423" idx="1"/>
          </p:cNvCxnSpPr>
          <p:nvPr/>
        </p:nvCxnSpPr>
        <p:spPr>
          <a:xfrm flipH="1">
            <a:off x="3982400" y="1155925"/>
            <a:ext cx="1737000" cy="498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p51"/>
          <p:cNvCxnSpPr/>
          <p:nvPr/>
        </p:nvCxnSpPr>
        <p:spPr>
          <a:xfrm rot="10800000">
            <a:off x="4778750" y="1942400"/>
            <a:ext cx="950100" cy="700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27" name="Google Shape;42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75" y="3040300"/>
            <a:ext cx="8839199" cy="1981931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1"/>
          <p:cNvSpPr txBox="1"/>
          <p:nvPr/>
        </p:nvSpPr>
        <p:spPr>
          <a:xfrm>
            <a:off x="107050" y="2619525"/>
            <a:ext cx="522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table1.join(table2, on=key, how='inner')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Join</a:t>
            </a:r>
            <a:endParaRPr/>
          </a:p>
        </p:txBody>
      </p:sp>
      <p:sp>
        <p:nvSpPr>
          <p:cNvPr id="434" name="Google Shape;434;p52"/>
          <p:cNvSpPr txBox="1"/>
          <p:nvPr>
            <p:ph idx="1" type="body"/>
          </p:nvPr>
        </p:nvSpPr>
        <p:spPr>
          <a:xfrm>
            <a:off x="107050" y="402200"/>
            <a:ext cx="85206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Cross join</a:t>
            </a:r>
            <a:r>
              <a:rPr lang="en"/>
              <a:t>: </a:t>
            </a:r>
            <a:r>
              <a:rPr i="1" lang="en"/>
              <a:t>Every</a:t>
            </a:r>
            <a:r>
              <a:rPr lang="en"/>
              <a:t> combination of possible rows. Also called a cartesian product.</a:t>
            </a:r>
            <a:endParaRPr/>
          </a:p>
        </p:txBody>
      </p:sp>
      <p:sp>
        <p:nvSpPr>
          <p:cNvPr id="435" name="Google Shape;43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6" name="Google Shape;436;p52"/>
          <p:cNvPicPr preferRelativeResize="0"/>
          <p:nvPr/>
        </p:nvPicPr>
        <p:blipFill rotWithShape="1">
          <a:blip r:embed="rId3">
            <a:alphaModFix/>
          </a:blip>
          <a:srcRect b="0" l="0" r="55797" t="0"/>
          <a:stretch/>
        </p:blipFill>
        <p:spPr>
          <a:xfrm>
            <a:off x="1720975" y="1638225"/>
            <a:ext cx="1858350" cy="1867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7" name="Google Shape;437;p52"/>
          <p:cNvCxnSpPr/>
          <p:nvPr/>
        </p:nvCxnSpPr>
        <p:spPr>
          <a:xfrm>
            <a:off x="3368800" y="2283875"/>
            <a:ext cx="2168100" cy="0"/>
          </a:xfrm>
          <a:prstGeom prst="straightConnector1">
            <a:avLst/>
          </a:prstGeom>
          <a:noFill/>
          <a:ln cap="flat" cmpd="sng" w="28575">
            <a:solidFill>
              <a:srgbClr val="E6ADB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52"/>
          <p:cNvCxnSpPr/>
          <p:nvPr/>
        </p:nvCxnSpPr>
        <p:spPr>
          <a:xfrm>
            <a:off x="3445000" y="2283875"/>
            <a:ext cx="2149500" cy="355200"/>
          </a:xfrm>
          <a:prstGeom prst="straightConnector1">
            <a:avLst/>
          </a:prstGeom>
          <a:noFill/>
          <a:ln cap="flat" cmpd="sng" w="28575">
            <a:solidFill>
              <a:srgbClr val="E6ADB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52"/>
          <p:cNvCxnSpPr/>
          <p:nvPr/>
        </p:nvCxnSpPr>
        <p:spPr>
          <a:xfrm>
            <a:off x="3445000" y="2283875"/>
            <a:ext cx="2091900" cy="614100"/>
          </a:xfrm>
          <a:prstGeom prst="straightConnector1">
            <a:avLst/>
          </a:prstGeom>
          <a:noFill/>
          <a:ln cap="flat" cmpd="sng" w="28575">
            <a:solidFill>
              <a:srgbClr val="E6ADB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52"/>
          <p:cNvCxnSpPr/>
          <p:nvPr/>
        </p:nvCxnSpPr>
        <p:spPr>
          <a:xfrm>
            <a:off x="3445000" y="2283875"/>
            <a:ext cx="2082300" cy="921300"/>
          </a:xfrm>
          <a:prstGeom prst="straightConnector1">
            <a:avLst/>
          </a:prstGeom>
          <a:noFill/>
          <a:ln cap="flat" cmpd="sng" w="28575">
            <a:solidFill>
              <a:srgbClr val="E6ADB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52"/>
          <p:cNvCxnSpPr/>
          <p:nvPr/>
        </p:nvCxnSpPr>
        <p:spPr>
          <a:xfrm flipH="1" rot="10800000">
            <a:off x="3445000" y="2293475"/>
            <a:ext cx="2091900" cy="345600"/>
          </a:xfrm>
          <a:prstGeom prst="straightConnector1">
            <a:avLst/>
          </a:prstGeom>
          <a:noFill/>
          <a:ln cap="flat" cmpd="sng" w="28575">
            <a:solidFill>
              <a:srgbClr val="9CDB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52"/>
          <p:cNvCxnSpPr/>
          <p:nvPr/>
        </p:nvCxnSpPr>
        <p:spPr>
          <a:xfrm>
            <a:off x="3440325" y="2629350"/>
            <a:ext cx="2135100" cy="19200"/>
          </a:xfrm>
          <a:prstGeom prst="straightConnector1">
            <a:avLst/>
          </a:prstGeom>
          <a:noFill/>
          <a:ln cap="flat" cmpd="sng" w="28575">
            <a:solidFill>
              <a:srgbClr val="9CDB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52"/>
          <p:cNvCxnSpPr/>
          <p:nvPr/>
        </p:nvCxnSpPr>
        <p:spPr>
          <a:xfrm>
            <a:off x="3452200" y="2629350"/>
            <a:ext cx="2103900" cy="288000"/>
          </a:xfrm>
          <a:prstGeom prst="straightConnector1">
            <a:avLst/>
          </a:prstGeom>
          <a:noFill/>
          <a:ln cap="flat" cmpd="sng" w="28575">
            <a:solidFill>
              <a:srgbClr val="9CDB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52"/>
          <p:cNvCxnSpPr/>
          <p:nvPr/>
        </p:nvCxnSpPr>
        <p:spPr>
          <a:xfrm>
            <a:off x="3452200" y="2629350"/>
            <a:ext cx="2113500" cy="585300"/>
          </a:xfrm>
          <a:prstGeom prst="straightConnector1">
            <a:avLst/>
          </a:prstGeom>
          <a:noFill/>
          <a:ln cap="flat" cmpd="sng" w="28575">
            <a:solidFill>
              <a:srgbClr val="9CDB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52"/>
          <p:cNvCxnSpPr/>
          <p:nvPr/>
        </p:nvCxnSpPr>
        <p:spPr>
          <a:xfrm flipH="1" rot="10800000">
            <a:off x="3423400" y="2303100"/>
            <a:ext cx="2103900" cy="609300"/>
          </a:xfrm>
          <a:prstGeom prst="straightConnector1">
            <a:avLst/>
          </a:prstGeom>
          <a:noFill/>
          <a:ln cap="flat" cmpd="sng" w="28575">
            <a:solidFill>
              <a:srgbClr val="8BD3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52"/>
          <p:cNvCxnSpPr/>
          <p:nvPr/>
        </p:nvCxnSpPr>
        <p:spPr>
          <a:xfrm flipH="1" rot="10800000">
            <a:off x="3423400" y="2658275"/>
            <a:ext cx="2142300" cy="234900"/>
          </a:xfrm>
          <a:prstGeom prst="straightConnector1">
            <a:avLst/>
          </a:prstGeom>
          <a:noFill/>
          <a:ln cap="flat" cmpd="sng" w="28575">
            <a:solidFill>
              <a:srgbClr val="8BD3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52"/>
          <p:cNvCxnSpPr/>
          <p:nvPr/>
        </p:nvCxnSpPr>
        <p:spPr>
          <a:xfrm>
            <a:off x="3415000" y="2917350"/>
            <a:ext cx="2150700" cy="9600"/>
          </a:xfrm>
          <a:prstGeom prst="straightConnector1">
            <a:avLst/>
          </a:prstGeom>
          <a:noFill/>
          <a:ln cap="flat" cmpd="sng" w="28575">
            <a:solidFill>
              <a:srgbClr val="8BD3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52"/>
          <p:cNvCxnSpPr/>
          <p:nvPr/>
        </p:nvCxnSpPr>
        <p:spPr>
          <a:xfrm>
            <a:off x="3432525" y="2931625"/>
            <a:ext cx="2123700" cy="292800"/>
          </a:xfrm>
          <a:prstGeom prst="straightConnector1">
            <a:avLst/>
          </a:prstGeom>
          <a:noFill/>
          <a:ln cap="flat" cmpd="sng" w="28575">
            <a:solidFill>
              <a:srgbClr val="8BD3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52"/>
          <p:cNvCxnSpPr/>
          <p:nvPr/>
        </p:nvCxnSpPr>
        <p:spPr>
          <a:xfrm flipH="1" rot="10800000">
            <a:off x="3419200" y="2302950"/>
            <a:ext cx="2108100" cy="892800"/>
          </a:xfrm>
          <a:prstGeom prst="straightConnector1">
            <a:avLst/>
          </a:prstGeom>
          <a:noFill/>
          <a:ln cap="flat" cmpd="sng" w="28575">
            <a:solidFill>
              <a:srgbClr val="DDBE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52"/>
          <p:cNvCxnSpPr/>
          <p:nvPr/>
        </p:nvCxnSpPr>
        <p:spPr>
          <a:xfrm flipH="1" rot="10800000">
            <a:off x="3432100" y="2686925"/>
            <a:ext cx="2114400" cy="535200"/>
          </a:xfrm>
          <a:prstGeom prst="straightConnector1">
            <a:avLst/>
          </a:prstGeom>
          <a:noFill/>
          <a:ln cap="flat" cmpd="sng" w="28575">
            <a:solidFill>
              <a:srgbClr val="DDBE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52"/>
          <p:cNvCxnSpPr/>
          <p:nvPr/>
        </p:nvCxnSpPr>
        <p:spPr>
          <a:xfrm flipH="1" rot="10800000">
            <a:off x="3418150" y="2917325"/>
            <a:ext cx="2118900" cy="304800"/>
          </a:xfrm>
          <a:prstGeom prst="straightConnector1">
            <a:avLst/>
          </a:prstGeom>
          <a:noFill/>
          <a:ln cap="flat" cmpd="sng" w="28575">
            <a:solidFill>
              <a:srgbClr val="DDBEE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52"/>
          <p:cNvCxnSpPr/>
          <p:nvPr/>
        </p:nvCxnSpPr>
        <p:spPr>
          <a:xfrm>
            <a:off x="3415900" y="3222125"/>
            <a:ext cx="2101800" cy="2100"/>
          </a:xfrm>
          <a:prstGeom prst="straightConnector1">
            <a:avLst/>
          </a:prstGeom>
          <a:noFill/>
          <a:ln cap="flat" cmpd="sng" w="28575">
            <a:solidFill>
              <a:srgbClr val="DDBEE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3" name="Google Shape;453;p52"/>
          <p:cNvPicPr preferRelativeResize="0"/>
          <p:nvPr/>
        </p:nvPicPr>
        <p:blipFill rotWithShape="1">
          <a:blip r:embed="rId3">
            <a:alphaModFix/>
          </a:blip>
          <a:srcRect b="0" l="60003" r="0" t="0"/>
          <a:stretch/>
        </p:blipFill>
        <p:spPr>
          <a:xfrm>
            <a:off x="5517700" y="1619900"/>
            <a:ext cx="1714476" cy="19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Join</a:t>
            </a:r>
            <a:endParaRPr/>
          </a:p>
        </p:txBody>
      </p:sp>
      <p:sp>
        <p:nvSpPr>
          <p:cNvPr id="459" name="Google Shape;459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0" name="Google Shape;46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625" y="1781150"/>
            <a:ext cx="5507674" cy="17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4325" y="1190000"/>
            <a:ext cx="1953416" cy="3648702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3"/>
          <p:cNvSpPr txBox="1"/>
          <p:nvPr/>
        </p:nvSpPr>
        <p:spPr>
          <a:xfrm>
            <a:off x="355200" y="3861575"/>
            <a:ext cx="50532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Notice that there is no need to specify a matching key (i.e., the columns to use for merging)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63" name="Google Shape;463;p53"/>
          <p:cNvSpPr txBox="1"/>
          <p:nvPr>
            <p:ph idx="1" type="body"/>
          </p:nvPr>
        </p:nvSpPr>
        <p:spPr>
          <a:xfrm>
            <a:off x="107050" y="402200"/>
            <a:ext cx="85206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Cross join</a:t>
            </a:r>
            <a:r>
              <a:rPr lang="en"/>
              <a:t>: </a:t>
            </a:r>
            <a:r>
              <a:rPr i="1" lang="en"/>
              <a:t>Every</a:t>
            </a:r>
            <a:r>
              <a:rPr lang="en"/>
              <a:t> combination of possible rows. Also called a cartesian product.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 Join: Cross Join With Filtering</a:t>
            </a:r>
            <a:endParaRPr/>
          </a:p>
        </p:txBody>
      </p:sp>
      <p:sp>
        <p:nvSpPr>
          <p:cNvPr id="469" name="Google Shape;469;p54"/>
          <p:cNvSpPr txBox="1"/>
          <p:nvPr>
            <p:ph idx="1" type="body"/>
          </p:nvPr>
        </p:nvSpPr>
        <p:spPr>
          <a:xfrm>
            <a:off x="0" y="440050"/>
            <a:ext cx="8914200" cy="7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Conceptually, you can imagine an inner join as a cross join filtered to include only matching rows.</a:t>
            </a:r>
            <a:endParaRPr/>
          </a:p>
        </p:txBody>
      </p:sp>
      <p:sp>
        <p:nvSpPr>
          <p:cNvPr id="470" name="Google Shape;47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1" name="Google Shape;47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9825" y="1144150"/>
            <a:ext cx="1953416" cy="3648702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4"/>
          <p:cNvSpPr txBox="1"/>
          <p:nvPr/>
        </p:nvSpPr>
        <p:spPr>
          <a:xfrm>
            <a:off x="114600" y="2074025"/>
            <a:ext cx="26241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FROM s CROSS JOIN 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WHERE s.id = t.id;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73" name="Google Shape;47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2000" y="2074025"/>
            <a:ext cx="2468600" cy="109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4"/>
          <p:cNvSpPr txBox="1"/>
          <p:nvPr/>
        </p:nvSpPr>
        <p:spPr>
          <a:xfrm>
            <a:off x="6110900" y="3337900"/>
            <a:ext cx="26241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FROM s INNER JOIN 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ON s.id = t.id;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5" name="Google Shape;475;p54"/>
          <p:cNvSpPr txBox="1"/>
          <p:nvPr/>
        </p:nvSpPr>
        <p:spPr>
          <a:xfrm>
            <a:off x="4781575" y="2154100"/>
            <a:ext cx="9921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Equivalent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476" name="Google Shape;476;p54"/>
          <p:cNvCxnSpPr/>
          <p:nvPr/>
        </p:nvCxnSpPr>
        <p:spPr>
          <a:xfrm>
            <a:off x="4686575" y="2715700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77" name="Google Shape;477;p54"/>
          <p:cNvCxnSpPr/>
          <p:nvPr/>
        </p:nvCxnSpPr>
        <p:spPr>
          <a:xfrm>
            <a:off x="2624025" y="1455250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54"/>
          <p:cNvCxnSpPr/>
          <p:nvPr/>
        </p:nvCxnSpPr>
        <p:spPr>
          <a:xfrm>
            <a:off x="2624025" y="1653475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54"/>
          <p:cNvCxnSpPr/>
          <p:nvPr/>
        </p:nvCxnSpPr>
        <p:spPr>
          <a:xfrm>
            <a:off x="2624025" y="1886075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54"/>
          <p:cNvCxnSpPr/>
          <p:nvPr/>
        </p:nvCxnSpPr>
        <p:spPr>
          <a:xfrm>
            <a:off x="2624025" y="2074025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54"/>
          <p:cNvCxnSpPr/>
          <p:nvPr/>
        </p:nvCxnSpPr>
        <p:spPr>
          <a:xfrm>
            <a:off x="2624025" y="2515175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54"/>
          <p:cNvCxnSpPr/>
          <p:nvPr/>
        </p:nvCxnSpPr>
        <p:spPr>
          <a:xfrm>
            <a:off x="2624025" y="2715700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54"/>
          <p:cNvCxnSpPr/>
          <p:nvPr/>
        </p:nvCxnSpPr>
        <p:spPr>
          <a:xfrm>
            <a:off x="2632688" y="2896750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54"/>
          <p:cNvCxnSpPr/>
          <p:nvPr/>
        </p:nvCxnSpPr>
        <p:spPr>
          <a:xfrm>
            <a:off x="2624025" y="3106450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54"/>
          <p:cNvCxnSpPr/>
          <p:nvPr/>
        </p:nvCxnSpPr>
        <p:spPr>
          <a:xfrm>
            <a:off x="2632688" y="3533850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54"/>
          <p:cNvCxnSpPr/>
          <p:nvPr/>
        </p:nvCxnSpPr>
        <p:spPr>
          <a:xfrm>
            <a:off x="2632700" y="3725775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54"/>
          <p:cNvCxnSpPr/>
          <p:nvPr/>
        </p:nvCxnSpPr>
        <p:spPr>
          <a:xfrm>
            <a:off x="2624025" y="3918850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54"/>
          <p:cNvCxnSpPr/>
          <p:nvPr/>
        </p:nvCxnSpPr>
        <p:spPr>
          <a:xfrm>
            <a:off x="2624025" y="4151475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54"/>
          <p:cNvCxnSpPr/>
          <p:nvPr/>
        </p:nvCxnSpPr>
        <p:spPr>
          <a:xfrm>
            <a:off x="2632700" y="4555975"/>
            <a:ext cx="178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Outer Join</a:t>
            </a:r>
            <a:endParaRPr/>
          </a:p>
        </p:txBody>
      </p:sp>
      <p:sp>
        <p:nvSpPr>
          <p:cNvPr id="495" name="Google Shape;495;p55"/>
          <p:cNvSpPr txBox="1"/>
          <p:nvPr>
            <p:ph idx="1" type="body"/>
          </p:nvPr>
        </p:nvSpPr>
        <p:spPr>
          <a:xfrm>
            <a:off x="107050" y="402200"/>
            <a:ext cx="85206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left outer join </a:t>
            </a:r>
            <a:r>
              <a:rPr lang="en"/>
              <a:t>(or just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left join</a:t>
            </a:r>
            <a:r>
              <a:rPr lang="en"/>
              <a:t>), keep all rows from the left table and </a:t>
            </a:r>
            <a:r>
              <a:rPr i="1" lang="en"/>
              <a:t>only matching</a:t>
            </a:r>
            <a:r>
              <a:rPr lang="en"/>
              <a:t> rows from the right table. Fill NULL for any missing values. </a:t>
            </a:r>
            <a:endParaRPr/>
          </a:p>
        </p:txBody>
      </p:sp>
      <p:sp>
        <p:nvSpPr>
          <p:cNvPr id="496" name="Google Shape;49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7" name="Google Shape;497;p55"/>
          <p:cNvPicPr preferRelativeResize="0"/>
          <p:nvPr/>
        </p:nvPicPr>
        <p:blipFill rotWithShape="1">
          <a:blip r:embed="rId3">
            <a:alphaModFix/>
          </a:blip>
          <a:srcRect b="0" l="0" r="55797" t="0"/>
          <a:stretch/>
        </p:blipFill>
        <p:spPr>
          <a:xfrm>
            <a:off x="0" y="1482375"/>
            <a:ext cx="1858350" cy="1867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8" name="Google Shape;498;p55"/>
          <p:cNvCxnSpPr/>
          <p:nvPr/>
        </p:nvCxnSpPr>
        <p:spPr>
          <a:xfrm flipH="1" rot="10800000">
            <a:off x="1662625" y="1994825"/>
            <a:ext cx="712800" cy="186900"/>
          </a:xfrm>
          <a:prstGeom prst="straightConnector1">
            <a:avLst/>
          </a:prstGeom>
          <a:noFill/>
          <a:ln cap="flat" cmpd="sng" w="28575">
            <a:solidFill>
              <a:srgbClr val="E6ADB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55"/>
          <p:cNvCxnSpPr/>
          <p:nvPr/>
        </p:nvCxnSpPr>
        <p:spPr>
          <a:xfrm flipH="1" rot="10800000">
            <a:off x="1604200" y="2181800"/>
            <a:ext cx="1122900" cy="309300"/>
          </a:xfrm>
          <a:prstGeom prst="straightConnector1">
            <a:avLst/>
          </a:prstGeom>
          <a:noFill/>
          <a:ln cap="flat" cmpd="sng" w="28575">
            <a:solidFill>
              <a:srgbClr val="9CDB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55"/>
          <p:cNvCxnSpPr/>
          <p:nvPr/>
        </p:nvCxnSpPr>
        <p:spPr>
          <a:xfrm flipH="1" rot="10800000">
            <a:off x="1707350" y="2483100"/>
            <a:ext cx="973800" cy="260100"/>
          </a:xfrm>
          <a:prstGeom prst="straightConnector1">
            <a:avLst/>
          </a:prstGeom>
          <a:noFill/>
          <a:ln cap="flat" cmpd="sng" w="28575">
            <a:solidFill>
              <a:srgbClr val="8BD3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55"/>
          <p:cNvCxnSpPr/>
          <p:nvPr/>
        </p:nvCxnSpPr>
        <p:spPr>
          <a:xfrm flipH="1" rot="10800000">
            <a:off x="1647825" y="2743350"/>
            <a:ext cx="1113600" cy="300000"/>
          </a:xfrm>
          <a:prstGeom prst="straightConnector1">
            <a:avLst/>
          </a:prstGeom>
          <a:noFill/>
          <a:ln cap="flat" cmpd="sng" w="28575">
            <a:solidFill>
              <a:srgbClr val="DDBEE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02" name="Google Shape;502;p55"/>
          <p:cNvPicPr preferRelativeResize="0"/>
          <p:nvPr/>
        </p:nvPicPr>
        <p:blipFill rotWithShape="1">
          <a:blip r:embed="rId3">
            <a:alphaModFix/>
          </a:blip>
          <a:srcRect b="0" l="60003" r="0" t="0"/>
          <a:stretch/>
        </p:blipFill>
        <p:spPr>
          <a:xfrm>
            <a:off x="2681137" y="1464050"/>
            <a:ext cx="1714476" cy="190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0575" y="1773799"/>
            <a:ext cx="2661574" cy="1459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55"/>
          <p:cNvSpPr txBox="1"/>
          <p:nvPr/>
        </p:nvSpPr>
        <p:spPr>
          <a:xfrm>
            <a:off x="4311875" y="1895300"/>
            <a:ext cx="23112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FROM s LEFT JOIN t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ON s.id = t.id;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5" name="Google Shape;505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4797" y="2743208"/>
            <a:ext cx="1113600" cy="22272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5"/>
          <p:cNvSpPr txBox="1"/>
          <p:nvPr/>
        </p:nvSpPr>
        <p:spPr>
          <a:xfrm>
            <a:off x="878850" y="3980750"/>
            <a:ext cx="38799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The “left table” is whichever table is referenced first in the JOIN statement.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507" name="Google Shape;507;p55"/>
          <p:cNvCxnSpPr/>
          <p:nvPr/>
        </p:nvCxnSpPr>
        <p:spPr>
          <a:xfrm flipH="1" rot="5400000">
            <a:off x="773400" y="3436400"/>
            <a:ext cx="699000" cy="389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8" name="Google Shape;508;p55"/>
          <p:cNvSpPr txBox="1"/>
          <p:nvPr/>
        </p:nvSpPr>
        <p:spPr>
          <a:xfrm>
            <a:off x="6210563" y="3370038"/>
            <a:ext cx="2661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Fill values without matching entries in the right table with NULL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 Outer Join</a:t>
            </a:r>
            <a:endParaRPr/>
          </a:p>
        </p:txBody>
      </p:sp>
      <p:sp>
        <p:nvSpPr>
          <p:cNvPr id="514" name="Google Shape;514;p56"/>
          <p:cNvSpPr txBox="1"/>
          <p:nvPr>
            <p:ph idx="1" type="body"/>
          </p:nvPr>
        </p:nvSpPr>
        <p:spPr>
          <a:xfrm>
            <a:off x="107050" y="402200"/>
            <a:ext cx="8520600" cy="7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right outer join </a:t>
            </a:r>
            <a:r>
              <a:rPr lang="en"/>
              <a:t>(or just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right join</a:t>
            </a:r>
            <a:r>
              <a:rPr lang="en"/>
              <a:t>), keep all rows from the right table and </a:t>
            </a:r>
            <a:r>
              <a:rPr i="1" lang="en"/>
              <a:t>only matching</a:t>
            </a:r>
            <a:r>
              <a:rPr lang="en"/>
              <a:t> rows from the left table. Fill NULL for any missing values. </a:t>
            </a:r>
            <a:endParaRPr/>
          </a:p>
        </p:txBody>
      </p:sp>
      <p:sp>
        <p:nvSpPr>
          <p:cNvPr id="515" name="Google Shape;51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6" name="Google Shape;516;p56"/>
          <p:cNvPicPr preferRelativeResize="0"/>
          <p:nvPr/>
        </p:nvPicPr>
        <p:blipFill rotWithShape="1">
          <a:blip r:embed="rId3">
            <a:alphaModFix/>
          </a:blip>
          <a:srcRect b="0" l="0" r="55797" t="0"/>
          <a:stretch/>
        </p:blipFill>
        <p:spPr>
          <a:xfrm>
            <a:off x="0" y="1482375"/>
            <a:ext cx="1858350" cy="1867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7" name="Google Shape;517;p56"/>
          <p:cNvCxnSpPr/>
          <p:nvPr/>
        </p:nvCxnSpPr>
        <p:spPr>
          <a:xfrm flipH="1" rot="10800000">
            <a:off x="1968325" y="3043350"/>
            <a:ext cx="712800" cy="186900"/>
          </a:xfrm>
          <a:prstGeom prst="straightConnector1">
            <a:avLst/>
          </a:prstGeom>
          <a:noFill/>
          <a:ln cap="flat" cmpd="sng" w="28575">
            <a:solidFill>
              <a:srgbClr val="F1D69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56"/>
          <p:cNvCxnSpPr/>
          <p:nvPr/>
        </p:nvCxnSpPr>
        <p:spPr>
          <a:xfrm flipH="1" rot="10800000">
            <a:off x="1604200" y="2181800"/>
            <a:ext cx="1122900" cy="309300"/>
          </a:xfrm>
          <a:prstGeom prst="straightConnector1">
            <a:avLst/>
          </a:prstGeom>
          <a:noFill/>
          <a:ln cap="flat" cmpd="sng" w="28575">
            <a:solidFill>
              <a:srgbClr val="9CDB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56"/>
          <p:cNvCxnSpPr/>
          <p:nvPr/>
        </p:nvCxnSpPr>
        <p:spPr>
          <a:xfrm flipH="1" rot="10800000">
            <a:off x="1707350" y="2483100"/>
            <a:ext cx="973800" cy="260100"/>
          </a:xfrm>
          <a:prstGeom prst="straightConnector1">
            <a:avLst/>
          </a:prstGeom>
          <a:noFill/>
          <a:ln cap="flat" cmpd="sng" w="28575">
            <a:solidFill>
              <a:srgbClr val="8BD3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56"/>
          <p:cNvCxnSpPr/>
          <p:nvPr/>
        </p:nvCxnSpPr>
        <p:spPr>
          <a:xfrm flipH="1" rot="10800000">
            <a:off x="1647825" y="2743350"/>
            <a:ext cx="1113600" cy="300000"/>
          </a:xfrm>
          <a:prstGeom prst="straightConnector1">
            <a:avLst/>
          </a:prstGeom>
          <a:noFill/>
          <a:ln cap="flat" cmpd="sng" w="28575">
            <a:solidFill>
              <a:srgbClr val="DDBEE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1" name="Google Shape;521;p56"/>
          <p:cNvPicPr preferRelativeResize="0"/>
          <p:nvPr/>
        </p:nvPicPr>
        <p:blipFill rotWithShape="1">
          <a:blip r:embed="rId3">
            <a:alphaModFix/>
          </a:blip>
          <a:srcRect b="0" l="60003" r="0" t="0"/>
          <a:stretch/>
        </p:blipFill>
        <p:spPr>
          <a:xfrm>
            <a:off x="2681137" y="1464050"/>
            <a:ext cx="1714476" cy="1903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56"/>
          <p:cNvSpPr txBox="1"/>
          <p:nvPr/>
        </p:nvSpPr>
        <p:spPr>
          <a:xfrm>
            <a:off x="4311875" y="1895300"/>
            <a:ext cx="23112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FROM s RIGHT JOIN t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ON s.id = t.id;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23" name="Google Shape;52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4797" y="2743208"/>
            <a:ext cx="1113600" cy="22272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6"/>
          <p:cNvSpPr txBox="1"/>
          <p:nvPr/>
        </p:nvSpPr>
        <p:spPr>
          <a:xfrm>
            <a:off x="878850" y="3980750"/>
            <a:ext cx="38799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The “right table” is whichever table is referenced second in the JOIN statement.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525" name="Google Shape;525;p56"/>
          <p:cNvCxnSpPr/>
          <p:nvPr/>
        </p:nvCxnSpPr>
        <p:spPr>
          <a:xfrm rot="-5400000">
            <a:off x="2962000" y="3448050"/>
            <a:ext cx="721800" cy="389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26" name="Google Shape;526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5650" y="1810300"/>
            <a:ext cx="2685499" cy="147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Outer Join</a:t>
            </a:r>
            <a:endParaRPr/>
          </a:p>
        </p:txBody>
      </p:sp>
      <p:sp>
        <p:nvSpPr>
          <p:cNvPr id="532" name="Google Shape;532;p57"/>
          <p:cNvSpPr txBox="1"/>
          <p:nvPr>
            <p:ph idx="1" type="body"/>
          </p:nvPr>
        </p:nvSpPr>
        <p:spPr>
          <a:xfrm>
            <a:off x="107050" y="402200"/>
            <a:ext cx="8520600" cy="7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full outer join</a:t>
            </a:r>
            <a:r>
              <a:rPr lang="en"/>
              <a:t>, keep </a:t>
            </a:r>
            <a:r>
              <a:rPr i="1" lang="en"/>
              <a:t>all rows</a:t>
            </a:r>
            <a:r>
              <a:rPr lang="en"/>
              <a:t> from both the left and right tables. Pair any matching rows, then fill missing values with NULL. Conceptually similar to performing both left and right joins.</a:t>
            </a:r>
            <a:endParaRPr/>
          </a:p>
        </p:txBody>
      </p:sp>
      <p:sp>
        <p:nvSpPr>
          <p:cNvPr id="533" name="Google Shape;53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4" name="Google Shape;534;p57"/>
          <p:cNvPicPr preferRelativeResize="0"/>
          <p:nvPr/>
        </p:nvPicPr>
        <p:blipFill rotWithShape="1">
          <a:blip r:embed="rId3">
            <a:alphaModFix/>
          </a:blip>
          <a:srcRect b="0" l="0" r="55797" t="0"/>
          <a:stretch/>
        </p:blipFill>
        <p:spPr>
          <a:xfrm>
            <a:off x="0" y="1482375"/>
            <a:ext cx="1858350" cy="1867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5" name="Google Shape;535;p57"/>
          <p:cNvCxnSpPr/>
          <p:nvPr/>
        </p:nvCxnSpPr>
        <p:spPr>
          <a:xfrm flipH="1" rot="10800000">
            <a:off x="1968325" y="3043350"/>
            <a:ext cx="712800" cy="186900"/>
          </a:xfrm>
          <a:prstGeom prst="straightConnector1">
            <a:avLst/>
          </a:prstGeom>
          <a:noFill/>
          <a:ln cap="flat" cmpd="sng" w="28575">
            <a:solidFill>
              <a:srgbClr val="F1D69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57"/>
          <p:cNvCxnSpPr/>
          <p:nvPr/>
        </p:nvCxnSpPr>
        <p:spPr>
          <a:xfrm flipH="1" rot="10800000">
            <a:off x="1604200" y="2181800"/>
            <a:ext cx="1122900" cy="309300"/>
          </a:xfrm>
          <a:prstGeom prst="straightConnector1">
            <a:avLst/>
          </a:prstGeom>
          <a:noFill/>
          <a:ln cap="flat" cmpd="sng" w="28575">
            <a:solidFill>
              <a:srgbClr val="9CDBB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57"/>
          <p:cNvCxnSpPr/>
          <p:nvPr/>
        </p:nvCxnSpPr>
        <p:spPr>
          <a:xfrm flipH="1" rot="10800000">
            <a:off x="1707350" y="2483100"/>
            <a:ext cx="973800" cy="260100"/>
          </a:xfrm>
          <a:prstGeom prst="straightConnector1">
            <a:avLst/>
          </a:prstGeom>
          <a:noFill/>
          <a:ln cap="flat" cmpd="sng" w="28575">
            <a:solidFill>
              <a:srgbClr val="8BD3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57"/>
          <p:cNvCxnSpPr/>
          <p:nvPr/>
        </p:nvCxnSpPr>
        <p:spPr>
          <a:xfrm flipH="1" rot="10800000">
            <a:off x="1647825" y="2743350"/>
            <a:ext cx="1113600" cy="300000"/>
          </a:xfrm>
          <a:prstGeom prst="straightConnector1">
            <a:avLst/>
          </a:prstGeom>
          <a:noFill/>
          <a:ln cap="flat" cmpd="sng" w="28575">
            <a:solidFill>
              <a:srgbClr val="DDBEE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9" name="Google Shape;539;p57"/>
          <p:cNvPicPr preferRelativeResize="0"/>
          <p:nvPr/>
        </p:nvPicPr>
        <p:blipFill rotWithShape="1">
          <a:blip r:embed="rId3">
            <a:alphaModFix/>
          </a:blip>
          <a:srcRect b="0" l="60003" r="0" t="0"/>
          <a:stretch/>
        </p:blipFill>
        <p:spPr>
          <a:xfrm>
            <a:off x="2681137" y="1464050"/>
            <a:ext cx="1714476" cy="1903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57"/>
          <p:cNvSpPr txBox="1"/>
          <p:nvPr/>
        </p:nvSpPr>
        <p:spPr>
          <a:xfrm>
            <a:off x="4388075" y="1895300"/>
            <a:ext cx="23112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FROM s FULL JOIN t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ON s.id = t.id;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1" name="Google Shape;54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997" y="2743208"/>
            <a:ext cx="1113600" cy="2227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2" name="Google Shape;542;p57"/>
          <p:cNvCxnSpPr/>
          <p:nvPr/>
        </p:nvCxnSpPr>
        <p:spPr>
          <a:xfrm flipH="1" rot="10800000">
            <a:off x="1662625" y="1994825"/>
            <a:ext cx="712800" cy="186900"/>
          </a:xfrm>
          <a:prstGeom prst="straightConnector1">
            <a:avLst/>
          </a:prstGeom>
          <a:noFill/>
          <a:ln cap="flat" cmpd="sng" w="28575">
            <a:solidFill>
              <a:srgbClr val="E6ADBB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3" name="Google Shape;543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5373" y="1808111"/>
            <a:ext cx="2464600" cy="1610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8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49" name="Google Shape;549;p58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550" name="Google Shape;550;p58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of the following returns the same information as the SQL query at the top? Note: Column order does not matter.</a:t>
            </a:r>
            <a:endParaRPr b="1" sz="24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58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52" name="Google Shape;552;p58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553" name="Google Shape;553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554" name="Google Shape;554;p58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555" name="Google Shape;555;p58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Equivalent Joins Slido</a:t>
            </a:r>
            <a:endParaRPr/>
          </a:p>
        </p:txBody>
      </p:sp>
      <p:sp>
        <p:nvSpPr>
          <p:cNvPr id="561" name="Google Shape;56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2" name="Google Shape;562;p59"/>
          <p:cNvSpPr txBox="1"/>
          <p:nvPr/>
        </p:nvSpPr>
        <p:spPr>
          <a:xfrm>
            <a:off x="169225" y="676875"/>
            <a:ext cx="23112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FROM s LEFT JOIN t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ON s.id = t.id;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3" name="Google Shape;563;p59"/>
          <p:cNvSpPr txBox="1"/>
          <p:nvPr/>
        </p:nvSpPr>
        <p:spPr>
          <a:xfrm>
            <a:off x="656600" y="1689450"/>
            <a:ext cx="23112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FROM s LEFT JOIN t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ON t.id = </a:t>
            </a:r>
            <a:r>
              <a:rPr lang="en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s.id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4" name="Google Shape;564;p59"/>
          <p:cNvSpPr txBox="1"/>
          <p:nvPr/>
        </p:nvSpPr>
        <p:spPr>
          <a:xfrm>
            <a:off x="656600" y="2838325"/>
            <a:ext cx="23112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FROM t RIGHT JOIN s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ON s.id = </a:t>
            </a:r>
            <a:r>
              <a:rPr lang="en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t.id</a:t>
            </a: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5" name="Google Shape;565;p59"/>
          <p:cNvSpPr txBox="1"/>
          <p:nvPr/>
        </p:nvSpPr>
        <p:spPr>
          <a:xfrm>
            <a:off x="714600" y="3867600"/>
            <a:ext cx="23112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FROM s FULL JOIN t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ON s.id = t.id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WHERE s.id IS NOT NULL;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6" name="Google Shape;566;p59"/>
          <p:cNvSpPr txBox="1"/>
          <p:nvPr/>
        </p:nvSpPr>
        <p:spPr>
          <a:xfrm>
            <a:off x="127650" y="1891450"/>
            <a:ext cx="3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7" name="Google Shape;567;p59"/>
          <p:cNvSpPr txBox="1"/>
          <p:nvPr/>
        </p:nvSpPr>
        <p:spPr>
          <a:xfrm>
            <a:off x="127650" y="2983775"/>
            <a:ext cx="3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8" name="Google Shape;568;p59"/>
          <p:cNvSpPr txBox="1"/>
          <p:nvPr/>
        </p:nvSpPr>
        <p:spPr>
          <a:xfrm>
            <a:off x="127650" y="4076100"/>
            <a:ext cx="3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9" name="Google Shape;569;p59"/>
          <p:cNvSpPr txBox="1"/>
          <p:nvPr/>
        </p:nvSpPr>
        <p:spPr>
          <a:xfrm>
            <a:off x="2889450" y="1891450"/>
            <a:ext cx="336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✅ Equality order does not matter.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70" name="Google Shape;570;p59"/>
          <p:cNvSpPr txBox="1"/>
          <p:nvPr/>
        </p:nvSpPr>
        <p:spPr>
          <a:xfrm>
            <a:off x="2889400" y="3004125"/>
            <a:ext cx="558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✅ A right join is just a left join with the table order reversed. t.id and breed will now be the first two columns.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71" name="Google Shape;57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525" y="499100"/>
            <a:ext cx="2171119" cy="1190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2" name="Google Shape;572;p59"/>
          <p:cNvGrpSpPr/>
          <p:nvPr/>
        </p:nvGrpSpPr>
        <p:grpSpPr>
          <a:xfrm>
            <a:off x="3025800" y="3714663"/>
            <a:ext cx="2683325" cy="1304224"/>
            <a:chOff x="3025800" y="3714663"/>
            <a:chExt cx="2683325" cy="1304224"/>
          </a:xfrm>
        </p:grpSpPr>
        <p:sp>
          <p:nvSpPr>
            <p:cNvPr id="573" name="Google Shape;573;p59"/>
            <p:cNvSpPr txBox="1"/>
            <p:nvPr/>
          </p:nvSpPr>
          <p:spPr>
            <a:xfrm>
              <a:off x="3025800" y="4151225"/>
              <a:ext cx="453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✅ 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grpSp>
          <p:nvGrpSpPr>
            <p:cNvPr id="574" name="Google Shape;574;p59"/>
            <p:cNvGrpSpPr/>
            <p:nvPr/>
          </p:nvGrpSpPr>
          <p:grpSpPr>
            <a:xfrm>
              <a:off x="3504425" y="3714663"/>
              <a:ext cx="2204700" cy="1304224"/>
              <a:chOff x="3504425" y="3714663"/>
              <a:chExt cx="2204700" cy="1304224"/>
            </a:xfrm>
          </p:grpSpPr>
          <p:pic>
            <p:nvPicPr>
              <p:cNvPr id="575" name="Google Shape;575;p5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573806" y="3714663"/>
                <a:ext cx="1996394" cy="130422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576" name="Google Shape;576;p59"/>
              <p:cNvCxnSpPr/>
              <p:nvPr/>
            </p:nvCxnSpPr>
            <p:spPr>
              <a:xfrm flipH="1" rot="10800000">
                <a:off x="3504425" y="4873600"/>
                <a:ext cx="2204700" cy="11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2" name="Google Shape;582;p60"/>
          <p:cNvSpPr txBox="1"/>
          <p:nvPr>
            <p:ph idx="1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Structure </a:t>
            </a:r>
            <a:r>
              <a:rPr lang="en"/>
              <a:t>-- the "shape" of a data file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Granularity</a:t>
            </a:r>
            <a:r>
              <a:rPr lang="en">
                <a:solidFill>
                  <a:schemeClr val="dk2"/>
                </a:solidFill>
              </a:rPr>
              <a:t> -- how fine/coarse is each datum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Temporality</a:t>
            </a:r>
            <a:r>
              <a:rPr lang="en">
                <a:solidFill>
                  <a:schemeClr val="dk2"/>
                </a:solidFill>
              </a:rPr>
              <a:t> -- how is the data situated in time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Faithfulness</a:t>
            </a:r>
            <a:r>
              <a:rPr lang="en">
                <a:solidFill>
                  <a:schemeClr val="dk2"/>
                </a:solidFill>
              </a:rPr>
              <a:t> -- how well does the data capture "reality"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83" name="Google Shape;583;p60"/>
          <p:cNvSpPr/>
          <p:nvPr/>
        </p:nvSpPr>
        <p:spPr>
          <a:xfrm flipH="1">
            <a:off x="3995325" y="398875"/>
            <a:ext cx="801300" cy="7287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60"/>
          <p:cNvSpPr txBox="1"/>
          <p:nvPr/>
        </p:nvSpPr>
        <p:spPr>
          <a:xfrm>
            <a:off x="177925" y="231385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Key Data Properties to Consider in EDA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85" name="Google Shape;585;p60"/>
          <p:cNvSpPr txBox="1"/>
          <p:nvPr>
            <p:ph idx="2" type="body"/>
          </p:nvPr>
        </p:nvSpPr>
        <p:spPr>
          <a:xfrm>
            <a:off x="2307375" y="448050"/>
            <a:ext cx="22647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/>
              <a:t>Variable Type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/>
              <a:t>Multiple Files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File Format</a:t>
            </a:r>
            <a:endParaRPr sz="18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1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CSV: Comma-Separated Values</a:t>
            </a:r>
            <a:endParaRPr/>
          </a:p>
        </p:txBody>
      </p:sp>
      <p:sp>
        <p:nvSpPr>
          <p:cNvPr id="591" name="Google Shape;591;p61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Flu</a:t>
            </a:r>
            <a:r>
              <a:rPr lang="en"/>
              <a:t> data from CDC (</a:t>
            </a:r>
            <a:r>
              <a:rPr b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source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CSV is a very common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tabular file format</a:t>
            </a:r>
            <a:r>
              <a:rPr lang="en"/>
              <a:t>.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Records</a:t>
            </a:r>
            <a:r>
              <a:rPr lang="en"/>
              <a:t> (rows) are delimited by a newline: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'\n'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Fields</a:t>
            </a:r>
            <a:r>
              <a:rPr lang="en"/>
              <a:t> (columns) are delimited by commas: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','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Pandas: </a:t>
            </a:r>
            <a:r>
              <a:rPr b="1" lang="en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pd.read_csv</a:t>
            </a:r>
            <a:r>
              <a:rPr lang="en">
                <a:latin typeface="Roboto Mono Medium"/>
                <a:ea typeface="Roboto Mono Medium"/>
                <a:cs typeface="Roboto Mono Medium"/>
                <a:sym typeface="Roboto Mono Medium"/>
              </a:rPr>
              <a:t>(header=...)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592" name="Google Shape;59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3" name="Google Shape;593;p61"/>
          <p:cNvSpPr txBox="1"/>
          <p:nvPr/>
        </p:nvSpPr>
        <p:spPr>
          <a:xfrm rot="-5400000">
            <a:off x="4123054" y="3962904"/>
            <a:ext cx="1724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Records</a:t>
            </a: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/Rows</a:t>
            </a:r>
            <a:endParaRPr sz="13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94" name="Google Shape;594;p61"/>
          <p:cNvSpPr txBox="1"/>
          <p:nvPr/>
        </p:nvSpPr>
        <p:spPr>
          <a:xfrm>
            <a:off x="5138850" y="3273950"/>
            <a:ext cx="325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Fields</a:t>
            </a: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/Attributes/Features/Columns</a:t>
            </a:r>
            <a:endParaRPr sz="13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595" name="Google Shape;595;p61"/>
          <p:cNvGraphicFramePr/>
          <p:nvPr/>
        </p:nvGraphicFramePr>
        <p:xfrm>
          <a:off x="5138850" y="360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382850"/>
                <a:gridCol w="1569725"/>
                <a:gridCol w="1333800"/>
                <a:gridCol w="456875"/>
              </a:tblGrid>
              <a:tr h="3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U.S. jurisdiction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TB cases 2019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6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Total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8,900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6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Alabama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87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2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Another common table file format.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Fields</a:t>
            </a:r>
            <a:r>
              <a:rPr lang="en"/>
              <a:t> are delimited by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'\t'</a:t>
            </a:r>
            <a:r>
              <a:rPr lang="en"/>
              <a:t> (tab)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Like a CSV with tabs instead of commas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pd.read_csv</a:t>
            </a:r>
            <a:r>
              <a:rPr lang="en"/>
              <a:t>: Need to specify</a:t>
            </a:r>
            <a:br>
              <a:rPr lang="en"/>
            </a:br>
            <a:r>
              <a:rPr lang="en"/>
              <a:t>	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delimiter=</a:t>
            </a:r>
            <a:r>
              <a:rPr lang="en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'\t'</a:t>
            </a:r>
            <a:endParaRPr>
              <a:solidFill>
                <a:schemeClr val="accen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601" name="Google Shape;601;p62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TSV: Tab Separated Values</a:t>
            </a:r>
            <a:endParaRPr/>
          </a:p>
        </p:txBody>
      </p:sp>
      <p:sp>
        <p:nvSpPr>
          <p:cNvPr id="602" name="Google Shape;602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3" name="Google Shape;60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5975" y="3174626"/>
            <a:ext cx="2647975" cy="148877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62"/>
          <p:cNvSpPr txBox="1"/>
          <p:nvPr/>
        </p:nvSpPr>
        <p:spPr>
          <a:xfrm>
            <a:off x="4695150" y="4672000"/>
            <a:ext cx="377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TaB soda: Precursor to Diet Coke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605" name="Google Shape;605;p62"/>
          <p:cNvCxnSpPr/>
          <p:nvPr/>
        </p:nvCxnSpPr>
        <p:spPr>
          <a:xfrm flipH="1">
            <a:off x="5801525" y="1766950"/>
            <a:ext cx="32700" cy="37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3"/>
          <p:cNvSpPr txBox="1"/>
          <p:nvPr>
            <p:ph idx="2" type="body"/>
          </p:nvPr>
        </p:nvSpPr>
        <p:spPr>
          <a:xfrm>
            <a:off x="4667425" y="402200"/>
            <a:ext cx="43023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 Senators+Reps data</a:t>
            </a:r>
            <a:r>
              <a:rPr lang="en"/>
              <a:t> (</a:t>
            </a:r>
            <a:r>
              <a:rPr lang="en" u="sng">
                <a:solidFill>
                  <a:schemeClr val="hlink"/>
                </a:solidFill>
                <a:hlinkClick r:id="rId3"/>
              </a:rPr>
              <a:t>congress.gov API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Very similar to Python dictionaries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Self-documenting</a:t>
            </a:r>
            <a:r>
              <a:rPr lang="en"/>
              <a:t>: M</a:t>
            </a:r>
            <a:r>
              <a:rPr lang="en"/>
              <a:t>etadata (data about the data) + records in the same file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611" name="Google Shape;611;p63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JSON: JavaScript Object Notation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12" name="Google Shape;612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3" name="Google Shape;613;p63"/>
          <p:cNvSpPr txBox="1"/>
          <p:nvPr/>
        </p:nvSpPr>
        <p:spPr>
          <a:xfrm>
            <a:off x="4667425" y="2278550"/>
            <a:ext cx="37299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pd.read_json</a:t>
            </a:r>
            <a:r>
              <a:rPr b="1" lang="en" sz="16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1" lang="en" sz="16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pd.DataFrame(json_dict)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JSON is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non-rectangular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so good to inspect the file before importing.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Nested tables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Inconsistent fields across records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9" name="Google Shape;619;p64"/>
          <p:cNvSpPr txBox="1"/>
          <p:nvPr>
            <p:ph idx="1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Structure </a:t>
            </a:r>
            <a:r>
              <a:rPr lang="en">
                <a:solidFill>
                  <a:schemeClr val="dk2"/>
                </a:solidFill>
              </a:rPr>
              <a:t>-- the "shape" of a data file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Granularity</a:t>
            </a:r>
            <a:r>
              <a:rPr lang="en">
                <a:solidFill>
                  <a:schemeClr val="dk2"/>
                </a:solidFill>
              </a:rPr>
              <a:t> -- how fine/coarse is each datum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Temporality</a:t>
            </a:r>
            <a:r>
              <a:rPr lang="en">
                <a:solidFill>
                  <a:schemeClr val="dk2"/>
                </a:solidFill>
              </a:rPr>
              <a:t> -- how is the data situated in time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Faithfulness</a:t>
            </a:r>
            <a:r>
              <a:rPr lang="en"/>
              <a:t> -- how well does the data capture "reality"</a:t>
            </a:r>
            <a:endParaRPr/>
          </a:p>
        </p:txBody>
      </p:sp>
      <p:sp>
        <p:nvSpPr>
          <p:cNvPr id="620" name="Google Shape;620;p64"/>
          <p:cNvSpPr txBox="1"/>
          <p:nvPr/>
        </p:nvSpPr>
        <p:spPr>
          <a:xfrm>
            <a:off x="177925" y="231385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Key Data Properties to Consider in EDA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5"/>
          <p:cNvSpPr txBox="1"/>
          <p:nvPr>
            <p:ph idx="1" type="body"/>
          </p:nvPr>
        </p:nvSpPr>
        <p:spPr>
          <a:xfrm>
            <a:off x="107050" y="402200"/>
            <a:ext cx="8520600" cy="31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Key Questions</a:t>
            </a:r>
            <a:r>
              <a:rPr lang="en"/>
              <a:t>: How well does our data reflect reality? Are there discrepancies between what the data says and reality?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Some questions to help with the answers: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Are there any biases in the data collection process?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Who (or what) might not be represented in this data?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Would the data look different if it were collected by someone else?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Why is the data grouped/sliced the way it is?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Were there relevant limitations in the data-gathering process?</a:t>
            </a:r>
            <a:endParaRPr/>
          </a:p>
        </p:txBody>
      </p:sp>
      <p:sp>
        <p:nvSpPr>
          <p:cNvPr id="626" name="Google Shape;626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Faithfulness: Do I trust this data?</a:t>
            </a:r>
            <a:endParaRPr/>
          </a:p>
        </p:txBody>
      </p:sp>
      <p:sp>
        <p:nvSpPr>
          <p:cNvPr id="627" name="Google Shape;627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title-id" id="632" name="Google Shape;632;p66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are some potential issues with this dataset? You can answer more than once.</a:t>
            </a:r>
            <a:endParaRPr b="1" sz="32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logo-id" id="633" name="Google Shape;633;p6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sp>
        <p:nvSpPr>
          <p:cNvPr descr="footer-id" id="634" name="Google Shape;634;p66"/>
          <p:cNvSpPr txBox="1"/>
          <p:nvPr/>
        </p:nvSpPr>
        <p:spPr>
          <a:xfrm>
            <a:off x="2286000" y="4381500"/>
            <a:ext cx="3048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ⓘ</a:t>
            </a:r>
            <a:endParaRPr b="1" sz="1300">
              <a:solidFill>
                <a:srgbClr val="5B5B5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descr="footer-id" id="635" name="Google Shape;635;p66"/>
          <p:cNvSpPr txBox="1"/>
          <p:nvPr/>
        </p:nvSpPr>
        <p:spPr>
          <a:xfrm>
            <a:off x="2590800" y="4381500"/>
            <a:ext cx="60453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Click </a:t>
            </a:r>
            <a:r>
              <a:rPr b="1" lang="en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rPr>
              <a:t>Present with Slido</a:t>
            </a: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 or install our </a:t>
            </a:r>
            <a:r>
              <a:rPr lang="en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5"/>
              </a:rPr>
              <a:t>Chrome extension</a:t>
            </a:r>
            <a:r>
              <a:rPr lang="en">
                <a:solidFill>
                  <a:srgbClr val="5B5B5B"/>
                </a:solidFill>
                <a:latin typeface="Roboto Light"/>
                <a:ea typeface="Roboto Light"/>
                <a:cs typeface="Roboto Light"/>
                <a:sym typeface="Roboto Light"/>
              </a:rPr>
              <a:t> to activate this poll while presenting.</a:t>
            </a:r>
            <a:endParaRPr>
              <a:solidFill>
                <a:srgbClr val="5B5B5B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descr="poll-type-id" id="636" name="Google Shape;636;p66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2" name="Google Shape;642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Some Potential Issues with this Dataset?</a:t>
            </a:r>
            <a:endParaRPr/>
          </a:p>
        </p:txBody>
      </p:sp>
      <p:graphicFrame>
        <p:nvGraphicFramePr>
          <p:cNvPr id="643" name="Google Shape;643;p67"/>
          <p:cNvGraphicFramePr/>
          <p:nvPr/>
        </p:nvGraphicFramePr>
        <p:xfrm>
          <a:off x="1033475" y="51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528775"/>
                <a:gridCol w="1489800"/>
                <a:gridCol w="1018725"/>
                <a:gridCol w="960625"/>
                <a:gridCol w="698750"/>
                <a:gridCol w="1076500"/>
                <a:gridCol w="999050"/>
              </a:tblGrid>
              <a:tr h="696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Category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State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Location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Device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Purchased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…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</a:tr>
              <a:tr h="34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Shoes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CA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CA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</a:tr>
              <a:tr h="34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Socks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NM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NM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</a:tr>
              <a:tr h="34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Socks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XY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XY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</a:tr>
              <a:tr h="34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Shirts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NY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NY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NA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</a:tr>
              <a:tr h="34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4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Shoes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FL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FL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</a:tr>
              <a:tr h="34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4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Shoes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FL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FL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</a:tr>
              <a:tr h="34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5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Shirts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CA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CA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</a:tr>
              <a:tr h="34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Pnts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TX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TX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</a:tr>
              <a:tr h="34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7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Hats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CA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CA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-1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</a:tr>
              <a:tr h="34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13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E3"/>
                    </a:solidFill>
                  </a:tcPr>
                </a:tc>
              </a:tr>
            </a:tbl>
          </a:graphicData>
        </a:graphic>
      </p:graphicFrame>
      <p:sp>
        <p:nvSpPr>
          <p:cNvPr id="644" name="Google Shape;644;p67"/>
          <p:cNvSpPr/>
          <p:nvPr/>
        </p:nvSpPr>
        <p:spPr>
          <a:xfrm>
            <a:off x="852400" y="2634700"/>
            <a:ext cx="7042200" cy="939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5" name="Google Shape;645;p67"/>
          <p:cNvSpPr/>
          <p:nvPr/>
        </p:nvSpPr>
        <p:spPr>
          <a:xfrm>
            <a:off x="2964875" y="511300"/>
            <a:ext cx="2066400" cy="4545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6" name="Google Shape;646;p67"/>
          <p:cNvSpPr/>
          <p:nvPr/>
        </p:nvSpPr>
        <p:spPr>
          <a:xfrm>
            <a:off x="2964875" y="1895950"/>
            <a:ext cx="1171200" cy="5451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7" name="Google Shape;647;p67"/>
          <p:cNvSpPr/>
          <p:nvPr/>
        </p:nvSpPr>
        <p:spPr>
          <a:xfrm>
            <a:off x="5104750" y="511300"/>
            <a:ext cx="697500" cy="46980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8" name="Google Shape;648;p67"/>
          <p:cNvSpPr/>
          <p:nvPr/>
        </p:nvSpPr>
        <p:spPr>
          <a:xfrm flipH="1">
            <a:off x="5706175" y="2305375"/>
            <a:ext cx="1171200" cy="426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9" name="Google Shape;649;p67"/>
          <p:cNvSpPr/>
          <p:nvPr/>
        </p:nvSpPr>
        <p:spPr>
          <a:xfrm flipH="1">
            <a:off x="5706250" y="4210025"/>
            <a:ext cx="1100400" cy="426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0" name="Google Shape;650;p67"/>
          <p:cNvSpPr/>
          <p:nvPr/>
        </p:nvSpPr>
        <p:spPr>
          <a:xfrm>
            <a:off x="1720200" y="3778775"/>
            <a:ext cx="1171200" cy="5451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Faithfulness: Do I trust this data?</a:t>
            </a:r>
            <a:endParaRPr/>
          </a:p>
        </p:txBody>
      </p:sp>
      <p:sp>
        <p:nvSpPr>
          <p:cNvPr id="656" name="Google Shape;656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7" name="Google Shape;657;p68"/>
          <p:cNvSpPr txBox="1"/>
          <p:nvPr/>
        </p:nvSpPr>
        <p:spPr>
          <a:xfrm>
            <a:off x="203775" y="617075"/>
            <a:ext cx="24078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Fully</a:t>
            </a:r>
            <a:r>
              <a:rPr b="1" lang="en" sz="16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 Duplicated Records or Fields</a:t>
            </a:r>
            <a:endParaRPr b="1" sz="16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gnore/drop, if no reason for duplication.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8" name="Google Shape;658;p68"/>
          <p:cNvSpPr txBox="1"/>
          <p:nvPr/>
        </p:nvSpPr>
        <p:spPr>
          <a:xfrm>
            <a:off x="2842175" y="553550"/>
            <a:ext cx="22938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Labeling or Spelling Errors</a:t>
            </a:r>
            <a:endParaRPr b="1" sz="16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Apply corrections. Only ignore if you have to.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659" name="Google Shape;659;p68"/>
          <p:cNvGrpSpPr/>
          <p:nvPr/>
        </p:nvGrpSpPr>
        <p:grpSpPr>
          <a:xfrm>
            <a:off x="5283300" y="2038775"/>
            <a:ext cx="3003000" cy="1697250"/>
            <a:chOff x="5283300" y="1048175"/>
            <a:chExt cx="3003000" cy="1697250"/>
          </a:xfrm>
        </p:grpSpPr>
        <p:sp>
          <p:nvSpPr>
            <p:cNvPr id="660" name="Google Shape;660;p68"/>
            <p:cNvSpPr/>
            <p:nvPr/>
          </p:nvSpPr>
          <p:spPr>
            <a:xfrm>
              <a:off x="5283300" y="1048175"/>
              <a:ext cx="3003000" cy="12690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68"/>
            <p:cNvSpPr/>
            <p:nvPr/>
          </p:nvSpPr>
          <p:spPr>
            <a:xfrm>
              <a:off x="5283300" y="1107125"/>
              <a:ext cx="1467000" cy="126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latin typeface="Roboto Light"/>
                  <a:ea typeface="Roboto Light"/>
                  <a:cs typeface="Roboto Light"/>
                  <a:sym typeface="Roboto Light"/>
                </a:rPr>
                <a:t>Examples</a:t>
              </a:r>
              <a:endParaRPr sz="1600"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1600">
                  <a:latin typeface="Roboto Mono Light"/>
                  <a:ea typeface="Roboto Mono Light"/>
                  <a:cs typeface="Roboto Mono Light"/>
                  <a:sym typeface="Roboto Mono Light"/>
                </a:rPr>
                <a:t>" "</a:t>
              </a:r>
              <a:endParaRPr sz="1600">
                <a:latin typeface="Roboto Mono Light"/>
                <a:ea typeface="Roboto Mono Light"/>
                <a:cs typeface="Roboto Mono Light"/>
                <a:sym typeface="Roboto Mono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Roboto Mono"/>
                  <a:ea typeface="Roboto Mono"/>
                  <a:cs typeface="Roboto Mono"/>
                  <a:sym typeface="Roboto Mono"/>
                </a:rPr>
                <a:t>0</a:t>
              </a:r>
              <a:r>
                <a:rPr lang="en" sz="1600">
                  <a:latin typeface="Roboto Mono Light"/>
                  <a:ea typeface="Roboto Mono Light"/>
                  <a:cs typeface="Roboto Mono Light"/>
                  <a:sym typeface="Roboto Mono Light"/>
                </a:rPr>
                <a:t>, -1</a:t>
              </a:r>
              <a:br>
                <a:rPr lang="en" sz="1600">
                  <a:latin typeface="Roboto Mono Light"/>
                  <a:ea typeface="Roboto Mono Light"/>
                  <a:cs typeface="Roboto Mono Light"/>
                  <a:sym typeface="Roboto Mono Light"/>
                </a:rPr>
              </a:br>
              <a:r>
                <a:rPr lang="en" sz="1600">
                  <a:latin typeface="Roboto Mono Light"/>
                  <a:ea typeface="Roboto Mono Light"/>
                  <a:cs typeface="Roboto Mono Light"/>
                  <a:sym typeface="Roboto Mono Light"/>
                </a:rPr>
                <a:t>999, 12345</a:t>
              </a:r>
              <a:endParaRPr sz="16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62" name="Google Shape;662;p68"/>
            <p:cNvSpPr txBox="1"/>
            <p:nvPr/>
          </p:nvSpPr>
          <p:spPr>
            <a:xfrm>
              <a:off x="5283300" y="2376125"/>
              <a:ext cx="177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 Light"/>
                  <a:ea typeface="Roboto Light"/>
                  <a:cs typeface="Roboto Light"/>
                  <a:sym typeface="Roboto Light"/>
                </a:rPr>
                <a:t>NaN: "Not a Number"</a:t>
              </a:r>
              <a:endParaRPr sz="12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63" name="Google Shape;663;p68"/>
            <p:cNvSpPr/>
            <p:nvPr/>
          </p:nvSpPr>
          <p:spPr>
            <a:xfrm>
              <a:off x="6754625" y="1351625"/>
              <a:ext cx="1467000" cy="10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Roboto Mono Light"/>
                  <a:ea typeface="Roboto Mono Light"/>
                  <a:cs typeface="Roboto Mono Light"/>
                  <a:sym typeface="Roboto Mono Light"/>
                </a:rPr>
                <a:t>1970, 2000</a:t>
              </a:r>
              <a:endParaRPr sz="1600">
                <a:latin typeface="Roboto Mono Light"/>
                <a:ea typeface="Roboto Mono Light"/>
                <a:cs typeface="Roboto Mono Light"/>
                <a:sym typeface="Roboto Mono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Roboto Mono Light"/>
                  <a:ea typeface="Roboto Mono Light"/>
                  <a:cs typeface="Roboto Mono Light"/>
                  <a:sym typeface="Roboto Mono Light"/>
                </a:rPr>
                <a:t>NaN</a:t>
              </a:r>
              <a:endParaRPr sz="1600">
                <a:latin typeface="Roboto Mono Light"/>
                <a:ea typeface="Roboto Mono Light"/>
                <a:cs typeface="Roboto Mono Light"/>
                <a:sym typeface="Roboto Mono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Roboto Mono Light"/>
                  <a:ea typeface="Roboto Mono Light"/>
                  <a:cs typeface="Roboto Mono Light"/>
                  <a:sym typeface="Roboto Mono Light"/>
                </a:rPr>
                <a:t>Null</a:t>
              </a:r>
              <a:endParaRPr sz="16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664" name="Google Shape;664;p68"/>
          <p:cNvSpPr txBox="1"/>
          <p:nvPr/>
        </p:nvSpPr>
        <p:spPr>
          <a:xfrm>
            <a:off x="5283300" y="617075"/>
            <a:ext cx="3000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Missing data</a:t>
            </a:r>
            <a:endParaRPr b="1" sz="16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Need to think carefully about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the data is missing.</a:t>
            </a:r>
            <a:endParaRPr b="1" sz="16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65" name="Google Shape;665;p68"/>
          <p:cNvGrpSpPr/>
          <p:nvPr/>
        </p:nvGrpSpPr>
        <p:grpSpPr>
          <a:xfrm>
            <a:off x="-247350" y="2940125"/>
            <a:ext cx="5937600" cy="1540200"/>
            <a:chOff x="-247350" y="2940125"/>
            <a:chExt cx="5937600" cy="1540200"/>
          </a:xfrm>
        </p:grpSpPr>
        <p:cxnSp>
          <p:nvCxnSpPr>
            <p:cNvPr id="666" name="Google Shape;666;p68"/>
            <p:cNvCxnSpPr/>
            <p:nvPr/>
          </p:nvCxnSpPr>
          <p:spPr>
            <a:xfrm flipH="1" rot="10800000">
              <a:off x="3349050" y="2940125"/>
              <a:ext cx="1980900" cy="95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7" name="Google Shape;667;p68"/>
            <p:cNvSpPr txBox="1"/>
            <p:nvPr/>
          </p:nvSpPr>
          <p:spPr>
            <a:xfrm>
              <a:off x="163050" y="3837625"/>
              <a:ext cx="5116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Real zero or NaN placeholder? Sometimes both!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668" name="Google Shape;668;p68"/>
            <p:cNvSpPr txBox="1"/>
            <p:nvPr/>
          </p:nvSpPr>
          <p:spPr>
            <a:xfrm>
              <a:off x="-247350" y="4157225"/>
              <a:ext cx="59376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Roboto Light"/>
                  <a:ea typeface="Roboto Light"/>
                  <a:cs typeface="Roboto Light"/>
                  <a:sym typeface="Roboto Light"/>
                </a:rPr>
                <a:t>S</a:t>
              </a:r>
              <a:r>
                <a:rPr lang="en" sz="900">
                  <a:solidFill>
                    <a:srgbClr val="0000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ee footnote 12 in </a:t>
              </a:r>
              <a:r>
                <a:rPr lang="en" sz="900" u="sng">
                  <a:solidFill>
                    <a:srgbClr val="4A86E8"/>
                  </a:solidFill>
                  <a:latin typeface="Roboto Light"/>
                  <a:ea typeface="Roboto Light"/>
                  <a:cs typeface="Roboto Light"/>
                  <a:sym typeface="Roboto Light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onlinelibrary.wiley.com/doi/abs/10.1111/jels.12343</a:t>
              </a:r>
              <a:endParaRPr sz="9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Data: Approaches</a:t>
            </a:r>
            <a:endParaRPr/>
          </a:p>
        </p:txBody>
      </p:sp>
      <p:sp>
        <p:nvSpPr>
          <p:cNvPr id="674" name="Google Shape;674;p69"/>
          <p:cNvSpPr txBox="1"/>
          <p:nvPr>
            <p:ph idx="1" type="body"/>
          </p:nvPr>
        </p:nvSpPr>
        <p:spPr>
          <a:xfrm>
            <a:off x="107050" y="554600"/>
            <a:ext cx="8413500" cy="4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. Keep as </a:t>
            </a:r>
            <a:r>
              <a:rPr lang="en">
                <a:solidFill>
                  <a:schemeClr val="accent3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NaN</a:t>
            </a:r>
            <a:endParaRPr>
              <a:solidFill>
                <a:schemeClr val="accent3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good default. </a:t>
            </a:r>
            <a:endParaRPr/>
          </a:p>
          <a:p>
            <a:pPr indent="-330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If qualitative/categorical → Consider creating a "Missing" category.</a:t>
            </a:r>
            <a:endParaRPr>
              <a:solidFill>
                <a:schemeClr val="accent3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B.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Drop records</a:t>
            </a:r>
            <a:r>
              <a:rPr lang="en"/>
              <a:t> with missing values</a:t>
            </a:r>
            <a:endParaRPr/>
          </a:p>
          <a:p>
            <a:pPr indent="-330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Typically a </a:t>
            </a:r>
            <a:r>
              <a:rPr lang="en" u="sng"/>
              <a:t>bad</a:t>
            </a:r>
            <a:r>
              <a:rPr lang="en"/>
              <a:t> default!</a:t>
            </a:r>
            <a:endParaRPr/>
          </a:p>
          <a:p>
            <a:pPr indent="-330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Temperature probe went offline for a minute → Likely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issing at random </a:t>
            </a:r>
            <a:r>
              <a:rPr lang="en"/>
              <a:t>→ OK to drop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Police </a:t>
            </a:r>
            <a:r>
              <a:rPr lang="en"/>
              <a:t>officer</a:t>
            </a:r>
            <a:r>
              <a:rPr lang="en"/>
              <a:t> never records outcomes of vehicle stops → Likely </a:t>
            </a:r>
            <a:r>
              <a:rPr lang="en" u="sng"/>
              <a:t>n</a:t>
            </a:r>
            <a:r>
              <a:rPr lang="en" u="sng"/>
              <a:t>ot</a:t>
            </a:r>
            <a:r>
              <a:rPr lang="en"/>
              <a:t> missing at random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C. Imputation/Interpolation</a:t>
            </a:r>
            <a:r>
              <a:rPr b="1" lang="en"/>
              <a:t>:</a:t>
            </a:r>
            <a:r>
              <a:rPr lang="en"/>
              <a:t> Infer missing values</a:t>
            </a:r>
            <a:endParaRPr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Mean/median imputation</a:t>
            </a:r>
            <a:r>
              <a:rPr b="1" lang="en"/>
              <a:t>:</a:t>
            </a:r>
            <a:r>
              <a:rPr lang="en"/>
              <a:t> replace NaN with mean/median </a:t>
            </a:r>
            <a:endParaRPr/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Clr>
                <a:srgbClr val="9E9E9E"/>
              </a:buClr>
              <a:buSzPts val="1600"/>
              <a:buChar char="●"/>
            </a:pPr>
            <a:r>
              <a:rPr b="1" lang="en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Hot deck imputation</a:t>
            </a:r>
            <a:r>
              <a:rPr b="1" lang="en">
                <a:solidFill>
                  <a:srgbClr val="9E9E9E"/>
                </a:solidFill>
              </a:rPr>
              <a:t>:</a:t>
            </a:r>
            <a:r>
              <a:rPr lang="en">
                <a:solidFill>
                  <a:srgbClr val="9E9E9E"/>
                </a:solidFill>
              </a:rPr>
              <a:t> use a random non-NaN value </a:t>
            </a:r>
            <a:endParaRPr>
              <a:solidFill>
                <a:srgbClr val="9E9E9E"/>
              </a:solidFill>
            </a:endParaRPr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Clr>
                <a:srgbClr val="9E9E9E"/>
              </a:buClr>
              <a:buSzPts val="1600"/>
              <a:buChar char="●"/>
            </a:pPr>
            <a:r>
              <a:rPr b="1" lang="en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Regression imputation</a:t>
            </a:r>
            <a:r>
              <a:rPr b="1" lang="en">
                <a:solidFill>
                  <a:srgbClr val="9E9E9E"/>
                </a:solidFill>
              </a:rPr>
              <a:t>:</a:t>
            </a:r>
            <a:r>
              <a:rPr lang="en">
                <a:solidFill>
                  <a:srgbClr val="9E9E9E"/>
                </a:solidFill>
              </a:rPr>
              <a:t> use a model to predict value</a:t>
            </a:r>
            <a:endParaRPr>
              <a:solidFill>
                <a:srgbClr val="9E9E9E"/>
              </a:solidFill>
            </a:endParaRPr>
          </a:p>
          <a:p>
            <a:pPr indent="-330200" lvl="0" marL="457200" rtl="0" algn="l">
              <a:spcBef>
                <a:spcPts val="400"/>
              </a:spcBef>
              <a:spcAft>
                <a:spcPts val="0"/>
              </a:spcAft>
              <a:buClr>
                <a:srgbClr val="9E9E9E"/>
              </a:buClr>
              <a:buSzPts val="1600"/>
              <a:buChar char="●"/>
            </a:pPr>
            <a:r>
              <a:rPr b="1" lang="en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Multiple imputation</a:t>
            </a:r>
            <a:r>
              <a:rPr b="1" lang="en">
                <a:solidFill>
                  <a:srgbClr val="9E9E9E"/>
                </a:solidFill>
              </a:rPr>
              <a:t>:</a:t>
            </a:r>
            <a:r>
              <a:rPr lang="en">
                <a:solidFill>
                  <a:srgbClr val="9E9E9E"/>
                </a:solidFill>
              </a:rPr>
              <a:t> multiple random values + check sensitivity</a:t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6" name="Google Shape;676;p69"/>
          <p:cNvSpPr txBox="1"/>
          <p:nvPr/>
        </p:nvSpPr>
        <p:spPr>
          <a:xfrm>
            <a:off x="6745525" y="3856950"/>
            <a:ext cx="234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(beyond this course)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77" name="Google Shape;677;p69"/>
          <p:cNvSpPr/>
          <p:nvPr/>
        </p:nvSpPr>
        <p:spPr>
          <a:xfrm>
            <a:off x="6482200" y="3591150"/>
            <a:ext cx="188700" cy="931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0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Key Data Properties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Structure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Granularity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Temporality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Faithfulness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Databases: Why SQL?</a:t>
            </a:r>
            <a:endParaRPr/>
          </a:p>
        </p:txBody>
      </p:sp>
      <p:sp>
        <p:nvSpPr>
          <p:cNvPr id="683" name="Google Shape;683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4" name="Google Shape;684;p7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Brief Databases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71"/>
          <p:cNvSpPr txBox="1"/>
          <p:nvPr>
            <p:ph idx="1" type="body"/>
          </p:nvPr>
        </p:nvSpPr>
        <p:spPr>
          <a:xfrm>
            <a:off x="107050" y="402200"/>
            <a:ext cx="8520600" cy="19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database</a:t>
            </a:r>
            <a:r>
              <a:rPr b="1" lang="en"/>
              <a:t> </a:t>
            </a:r>
            <a:r>
              <a:rPr lang="en"/>
              <a:t>is an organized collection of data.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Database Management System (DBMS)</a:t>
            </a:r>
            <a:r>
              <a:rPr b="1" lang="en"/>
              <a:t> </a:t>
            </a:r>
            <a:r>
              <a:rPr lang="en"/>
              <a:t>is a software system that </a:t>
            </a:r>
            <a:r>
              <a:rPr b="1" lang="en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stores</a:t>
            </a:r>
            <a:r>
              <a:rPr lang="en"/>
              <a:t>, </a:t>
            </a:r>
            <a:r>
              <a:rPr b="1" lang="en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manages</a:t>
            </a:r>
            <a:r>
              <a:rPr lang="en"/>
              <a:t>, and </a:t>
            </a:r>
            <a:r>
              <a:rPr b="1" lang="en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facilitates access</a:t>
            </a:r>
            <a:r>
              <a:rPr b="1" lang="en"/>
              <a:t> </a:t>
            </a:r>
            <a:r>
              <a:rPr lang="en"/>
              <a:t>to one or more databases.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2" name="Google Shape;69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9250" y="2224825"/>
            <a:ext cx="243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71"/>
          <p:cNvSpPr txBox="1"/>
          <p:nvPr/>
        </p:nvSpPr>
        <p:spPr>
          <a:xfrm>
            <a:off x="107050" y="2425775"/>
            <a:ext cx="6189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Common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Large-Scale DBMS Systems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used in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: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Google BigQuery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Amazon Redshift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Snowflake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Databricks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Microsoft SQL Server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…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of DBMS over Raw Files (e.g., CSV)</a:t>
            </a:r>
            <a:endParaRPr/>
          </a:p>
        </p:txBody>
      </p:sp>
      <p:sp>
        <p:nvSpPr>
          <p:cNvPr id="699" name="Google Shape;699;p7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Storage: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Reliable storage</a:t>
            </a:r>
            <a:r>
              <a:rPr lang="en"/>
              <a:t> to survive system crashes and disk failures.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Optimize to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compute on data that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does not fit in memory</a:t>
            </a:r>
            <a:r>
              <a:rPr lang="en"/>
              <a:t>.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Special data structures to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improve performance</a:t>
            </a:r>
            <a:r>
              <a:rPr lang="en"/>
              <a:t> (see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CS (W)186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Management: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Configure how data is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logically organized</a:t>
            </a:r>
            <a:r>
              <a:rPr lang="en"/>
              <a:t> and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who has access</a:t>
            </a:r>
            <a:r>
              <a:rPr lang="en"/>
              <a:t>.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Can enforce guarantees on the data (e.g., non-negative age of person).</a:t>
            </a:r>
            <a:endParaRPr/>
          </a:p>
          <a:p>
            <a:pPr indent="-330200" lvl="1" marL="914400" rtl="0" algn="l"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Can be used to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prevent data anomalies</a:t>
            </a:r>
            <a:r>
              <a:rPr lang="en"/>
              <a:t>.</a:t>
            </a:r>
            <a:endParaRPr/>
          </a:p>
          <a:p>
            <a:pPr indent="-330200" lvl="1" marL="914400" rtl="0" algn="l"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Ensures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safe concurrent operations</a:t>
            </a:r>
            <a:r>
              <a:rPr lang="en"/>
              <a:t> on data (multiple users reading and writing simultaneously, e.g., ATM transactions).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9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A “typical” exploratory data analysis (EDA) workflow</a:t>
            </a:r>
            <a:endParaRPr/>
          </a:p>
        </p:txBody>
      </p:sp>
      <p:sp>
        <p:nvSpPr>
          <p:cNvPr id="705" name="Google Shape;705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6" name="Google Shape;706;p73"/>
          <p:cNvSpPr/>
          <p:nvPr/>
        </p:nvSpPr>
        <p:spPr>
          <a:xfrm>
            <a:off x="277650" y="895469"/>
            <a:ext cx="1239000" cy="19959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Database with </a:t>
            </a:r>
            <a:r>
              <a:rPr lang="en" u="sng">
                <a:latin typeface="Roboto Light"/>
                <a:ea typeface="Roboto Light"/>
                <a:cs typeface="Roboto Light"/>
                <a:sym typeface="Roboto Light"/>
              </a:rPr>
              <a:t>many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dynamic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 tables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707" name="Google Shape;707;p73"/>
          <p:cNvGraphicFramePr/>
          <p:nvPr/>
        </p:nvGraphicFramePr>
        <p:xfrm>
          <a:off x="3389975" y="13151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3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</a:tr>
              <a:tr h="21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</a:tr>
              <a:tr h="23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</a:tr>
              <a:tr h="23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</a:tr>
              <a:tr h="23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08" name="Google Shape;708;p73"/>
          <p:cNvGraphicFramePr/>
          <p:nvPr/>
        </p:nvGraphicFramePr>
        <p:xfrm>
          <a:off x="5583000" y="1242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382850"/>
                <a:gridCol w="382850"/>
              </a:tblGrid>
              <a:tr h="11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9" name="Google Shape;709;p73"/>
          <p:cNvGraphicFramePr/>
          <p:nvPr/>
        </p:nvGraphicFramePr>
        <p:xfrm>
          <a:off x="5583000" y="2104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382850"/>
                <a:gridCol w="382850"/>
              </a:tblGrid>
              <a:tr h="6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0" name="Google Shape;710;p73"/>
          <p:cNvSpPr txBox="1"/>
          <p:nvPr/>
        </p:nvSpPr>
        <p:spPr>
          <a:xfrm>
            <a:off x="58975" y="4004200"/>
            <a:ext cx="2359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Dynamic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: Updated frequently (e.g., after a customer purchase)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711" name="Google Shape;711;p73"/>
          <p:cNvGrpSpPr/>
          <p:nvPr/>
        </p:nvGrpSpPr>
        <p:grpSpPr>
          <a:xfrm>
            <a:off x="1516650" y="565857"/>
            <a:ext cx="4750300" cy="4244655"/>
            <a:chOff x="1516650" y="565857"/>
            <a:chExt cx="4750300" cy="4244655"/>
          </a:xfrm>
        </p:grpSpPr>
        <p:cxnSp>
          <p:nvCxnSpPr>
            <p:cNvPr id="712" name="Google Shape;712;p73"/>
            <p:cNvCxnSpPr/>
            <p:nvPr/>
          </p:nvCxnSpPr>
          <p:spPr>
            <a:xfrm>
              <a:off x="1606690" y="2000806"/>
              <a:ext cx="1572900" cy="7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13" name="Google Shape;713;p73"/>
            <p:cNvSpPr txBox="1"/>
            <p:nvPr/>
          </p:nvSpPr>
          <p:spPr>
            <a:xfrm>
              <a:off x="3772825" y="565857"/>
              <a:ext cx="22545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 few </a:t>
              </a: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snapshotted</a:t>
              </a: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tables (or just one!)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14" name="Google Shape;714;p73"/>
            <p:cNvSpPr txBox="1"/>
            <p:nvPr/>
          </p:nvSpPr>
          <p:spPr>
            <a:xfrm>
              <a:off x="3690625" y="2798481"/>
              <a:ext cx="2418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Manipulate with polars</a:t>
              </a:r>
              <a:b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</a:b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(or R, pandas, Excel…)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15" name="Google Shape;715;p73"/>
            <p:cNvSpPr txBox="1"/>
            <p:nvPr/>
          </p:nvSpPr>
          <p:spPr>
            <a:xfrm>
              <a:off x="1516650" y="1002856"/>
              <a:ext cx="18582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Basic table manipulations with </a:t>
              </a:r>
              <a:r>
                <a:rPr lang="en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SQL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16" name="Google Shape;716;p73"/>
            <p:cNvSpPr txBox="1"/>
            <p:nvPr/>
          </p:nvSpPr>
          <p:spPr>
            <a:xfrm>
              <a:off x="3251350" y="4133413"/>
              <a:ext cx="3015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Snapshot</a:t>
              </a: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: Version at some specific moment in time. 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717" name="Google Shape;717;p73"/>
          <p:cNvGrpSpPr/>
          <p:nvPr/>
        </p:nvGrpSpPr>
        <p:grpSpPr>
          <a:xfrm>
            <a:off x="6411950" y="710538"/>
            <a:ext cx="2778875" cy="3117000"/>
            <a:chOff x="6411950" y="710538"/>
            <a:chExt cx="2778875" cy="3117000"/>
          </a:xfrm>
        </p:grpSpPr>
        <p:pic>
          <p:nvPicPr>
            <p:cNvPr id="718" name="Google Shape;718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88050" y="1538375"/>
              <a:ext cx="2234799" cy="932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9" name="Google Shape;719;p73"/>
            <p:cNvSpPr txBox="1"/>
            <p:nvPr/>
          </p:nvSpPr>
          <p:spPr>
            <a:xfrm>
              <a:off x="6771925" y="2585444"/>
              <a:ext cx="24189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Visualize with seaborn</a:t>
              </a:r>
              <a:b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</a:b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(or R, matplotlib, Excel…)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20" name="Google Shape;720;p73"/>
            <p:cNvSpPr/>
            <p:nvPr/>
          </p:nvSpPr>
          <p:spPr>
            <a:xfrm>
              <a:off x="6494325" y="710538"/>
              <a:ext cx="765600" cy="510900"/>
            </a:xfrm>
            <a:prstGeom prst="uturnArrow">
              <a:avLst>
                <a:gd fmla="val 11308" name="adj1"/>
                <a:gd fmla="val 25000" name="adj2"/>
                <a:gd fmla="val 32384" name="adj3"/>
                <a:gd fmla="val 43750" name="adj4"/>
                <a:gd fmla="val 80507" name="adj5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721" name="Google Shape;721;p73"/>
            <p:cNvSpPr/>
            <p:nvPr/>
          </p:nvSpPr>
          <p:spPr>
            <a:xfrm rot="10800000">
              <a:off x="6411950" y="3316638"/>
              <a:ext cx="765600" cy="510900"/>
            </a:xfrm>
            <a:prstGeom prst="uturnArrow">
              <a:avLst>
                <a:gd fmla="val 11308" name="adj1"/>
                <a:gd fmla="val 25000" name="adj2"/>
                <a:gd fmla="val 32384" name="adj3"/>
                <a:gd fmla="val 43750" name="adj4"/>
                <a:gd fmla="val 80507" name="adj5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74"/>
          <p:cNvSpPr txBox="1"/>
          <p:nvPr>
            <p:ph idx="1" type="body"/>
          </p:nvPr>
        </p:nvSpPr>
        <p:spPr>
          <a:xfrm>
            <a:off x="107050" y="402200"/>
            <a:ext cx="8520600" cy="41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Use SQL to get a CSV for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analysis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/>
              <a:t>Write a SQL query to get the initial dataset you need for your analysis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/>
              <a:t>Save the dataset as CSV (or JSON, etc.)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/>
              <a:t>Use </a:t>
            </a:r>
            <a:r>
              <a:rPr lang="en">
                <a:latin typeface="Roboto Mono Light"/>
                <a:ea typeface="Roboto Mono Light"/>
                <a:cs typeface="Roboto Mono Light"/>
                <a:sym typeface="Roboto Mono Light"/>
              </a:rPr>
              <a:t>pandas</a:t>
            </a:r>
            <a:r>
              <a:rPr lang="en"/>
              <a:t> to explore and analyze the data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Interact directly with a DBMS using SQL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/>
              <a:t>Write SQL queries to explore and analyze your data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/>
              <a:t>Save final results to CSV 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/>
              <a:t>Generate figures and summary info (using </a:t>
            </a:r>
            <a:r>
              <a:rPr lang="en">
                <a:latin typeface="Roboto Mono Light"/>
                <a:ea typeface="Roboto Mono Light"/>
                <a:cs typeface="Roboto Mono Light"/>
                <a:sym typeface="Roboto Mono Light"/>
              </a:rPr>
              <a:t>pandas</a:t>
            </a:r>
            <a:r>
              <a:rPr lang="en"/>
              <a:t> or other tools)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Use an ORM (object relational mapping) to write Python code that gets automatically translated into SQL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/>
              <a:t>Most often used in large-scale software systems: not as common in data science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Write SQL queries that automatically run periodically (semi-automated version of (2))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…and many more!</a:t>
            </a:r>
            <a:endParaRPr/>
          </a:p>
        </p:txBody>
      </p:sp>
      <p:sp>
        <p:nvSpPr>
          <p:cNvPr id="727" name="Google Shape;727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Data Scientists Use SQL?</a:t>
            </a:r>
            <a:endParaRPr/>
          </a:p>
        </p:txBody>
      </p:sp>
      <p:sp>
        <p:nvSpPr>
          <p:cNvPr id="728" name="Google Shape;728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5"/>
          <p:cNvSpPr txBox="1"/>
          <p:nvPr>
            <p:ph idx="1" type="body"/>
          </p:nvPr>
        </p:nvSpPr>
        <p:spPr>
          <a:xfrm>
            <a:off x="107050" y="3374000"/>
            <a:ext cx="9036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SQL tables </a:t>
            </a:r>
            <a:r>
              <a:rPr lang="en"/>
              <a:t>are also called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relations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Terminology</a:t>
            </a:r>
            <a:endParaRPr/>
          </a:p>
        </p:txBody>
      </p:sp>
      <p:sp>
        <p:nvSpPr>
          <p:cNvPr id="735" name="Google Shape;735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36" name="Google Shape;736;p75"/>
          <p:cNvGraphicFramePr/>
          <p:nvPr/>
        </p:nvGraphicFramePr>
        <p:xfrm>
          <a:off x="3206950" y="109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904325"/>
                <a:gridCol w="904325"/>
                <a:gridCol w="904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Type</a:t>
                      </a:r>
                      <a:endParaRPr b="1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</a:rPr>
                        <a:t>TEXT, PK</a:t>
                      </a:r>
                      <a:endParaRPr b="1" sz="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Legs</a:t>
                      </a:r>
                      <a:endParaRPr b="1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</a:rPr>
                        <a:t>INT, &gt;=0</a:t>
                      </a:r>
                      <a:endParaRPr b="1" sz="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00"/>
                          </a:solidFill>
                        </a:rPr>
                        <a:t>Weight</a:t>
                      </a:r>
                      <a:endParaRPr b="1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</a:rPr>
                        <a:t>INT, &gt;=0</a:t>
                      </a:r>
                      <a:endParaRPr b="1" sz="8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Corgi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T-Rex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Penguin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7" name="Google Shape;737;p75"/>
          <p:cNvGraphicFramePr/>
          <p:nvPr/>
        </p:nvGraphicFramePr>
        <p:xfrm>
          <a:off x="2566970" y="109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1197450"/>
                <a:gridCol w="1029600"/>
                <a:gridCol w="665600"/>
                <a:gridCol w="1117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name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PK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year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&gt;=1900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cute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endParaRPr b="1" sz="8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setting_id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FK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toothless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drogon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dragon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38" name="Google Shape;738;p75"/>
          <p:cNvGrpSpPr/>
          <p:nvPr/>
        </p:nvGrpSpPr>
        <p:grpSpPr>
          <a:xfrm>
            <a:off x="682725" y="1576250"/>
            <a:ext cx="1651425" cy="1259450"/>
            <a:chOff x="682725" y="2262050"/>
            <a:chExt cx="1651425" cy="1259450"/>
          </a:xfrm>
        </p:grpSpPr>
        <p:sp>
          <p:nvSpPr>
            <p:cNvPr id="739" name="Google Shape;739;p75"/>
            <p:cNvSpPr/>
            <p:nvPr/>
          </p:nvSpPr>
          <p:spPr>
            <a:xfrm>
              <a:off x="2165850" y="2347000"/>
              <a:ext cx="168300" cy="11745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40" name="Google Shape;740;p75"/>
            <p:cNvSpPr txBox="1"/>
            <p:nvPr/>
          </p:nvSpPr>
          <p:spPr>
            <a:xfrm>
              <a:off x="682725" y="2262050"/>
              <a:ext cx="14058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latin typeface="Roboto"/>
                  <a:ea typeface="Roboto"/>
                  <a:cs typeface="Roboto"/>
                  <a:sym typeface="Roboto"/>
                </a:rPr>
                <a:t>Row</a:t>
              </a:r>
              <a:r>
                <a:rPr lang="en" sz="2200">
                  <a:latin typeface="Roboto"/>
                  <a:ea typeface="Roboto"/>
                  <a:cs typeface="Roboto"/>
                  <a:sym typeface="Roboto"/>
                </a:rPr>
                <a:t> or </a:t>
              </a:r>
              <a:r>
                <a:rPr b="1" lang="en" sz="2200">
                  <a:latin typeface="Roboto"/>
                  <a:ea typeface="Roboto"/>
                  <a:cs typeface="Roboto"/>
                  <a:sym typeface="Roboto"/>
                </a:rPr>
                <a:t>Record</a:t>
              </a:r>
              <a:r>
                <a:rPr lang="en" sz="2200">
                  <a:latin typeface="Roboto"/>
                  <a:ea typeface="Roboto"/>
                  <a:cs typeface="Roboto"/>
                  <a:sym typeface="Roboto"/>
                </a:rPr>
                <a:t> or </a:t>
              </a:r>
              <a:r>
                <a:rPr b="1" lang="en" sz="2200">
                  <a:latin typeface="Roboto"/>
                  <a:ea typeface="Roboto"/>
                  <a:cs typeface="Roboto"/>
                  <a:sym typeface="Roboto"/>
                </a:rPr>
                <a:t>Tuple</a:t>
              </a:r>
              <a:endParaRPr b="1" sz="2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41" name="Google Shape;741;p75"/>
          <p:cNvGrpSpPr/>
          <p:nvPr/>
        </p:nvGrpSpPr>
        <p:grpSpPr>
          <a:xfrm>
            <a:off x="2241400" y="413657"/>
            <a:ext cx="4768200" cy="630993"/>
            <a:chOff x="2241400" y="794657"/>
            <a:chExt cx="4768200" cy="630993"/>
          </a:xfrm>
        </p:grpSpPr>
        <p:sp>
          <p:nvSpPr>
            <p:cNvPr id="742" name="Google Shape;742;p75"/>
            <p:cNvSpPr/>
            <p:nvPr/>
          </p:nvSpPr>
          <p:spPr>
            <a:xfrm rot="5400000">
              <a:off x="4488925" y="-666400"/>
              <a:ext cx="168300" cy="40158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743" name="Google Shape;743;p75"/>
            <p:cNvSpPr txBox="1"/>
            <p:nvPr/>
          </p:nvSpPr>
          <p:spPr>
            <a:xfrm>
              <a:off x="2241400" y="794657"/>
              <a:ext cx="4768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latin typeface="Roboto"/>
                  <a:ea typeface="Roboto"/>
                  <a:cs typeface="Roboto"/>
                  <a:sym typeface="Roboto"/>
                </a:rPr>
                <a:t>Column</a:t>
              </a:r>
              <a:r>
                <a:rPr lang="en" sz="2200">
                  <a:latin typeface="Roboto"/>
                  <a:ea typeface="Roboto"/>
                  <a:cs typeface="Roboto"/>
                  <a:sym typeface="Roboto"/>
                </a:rPr>
                <a:t> or </a:t>
              </a:r>
              <a:r>
                <a:rPr b="1" lang="en" sz="2200">
                  <a:latin typeface="Roboto"/>
                  <a:ea typeface="Roboto"/>
                  <a:cs typeface="Roboto"/>
                  <a:sym typeface="Roboto"/>
                </a:rPr>
                <a:t>Attribute</a:t>
              </a:r>
              <a:r>
                <a:rPr lang="en" sz="2200">
                  <a:latin typeface="Roboto"/>
                  <a:ea typeface="Roboto"/>
                  <a:cs typeface="Roboto"/>
                  <a:sym typeface="Roboto"/>
                </a:rPr>
                <a:t> or </a:t>
              </a:r>
              <a:r>
                <a:rPr b="1" lang="en" sz="2200">
                  <a:latin typeface="Roboto"/>
                  <a:ea typeface="Roboto"/>
                  <a:cs typeface="Roboto"/>
                  <a:sym typeface="Roboto"/>
                </a:rPr>
                <a:t>Field</a:t>
              </a:r>
              <a:endParaRPr b="1" sz="2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44" name="Google Shape;744;p75"/>
          <p:cNvSpPr txBox="1"/>
          <p:nvPr/>
        </p:nvSpPr>
        <p:spPr>
          <a:xfrm>
            <a:off x="3206975" y="2798375"/>
            <a:ext cx="271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Dragon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75"/>
          <p:cNvSpPr txBox="1"/>
          <p:nvPr/>
        </p:nvSpPr>
        <p:spPr>
          <a:xfrm>
            <a:off x="6712250" y="3108350"/>
            <a:ext cx="237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Relation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 (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table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) name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46" name="Google Shape;746;p75"/>
          <p:cNvSpPr/>
          <p:nvPr/>
        </p:nvSpPr>
        <p:spPr>
          <a:xfrm>
            <a:off x="5247175" y="2988825"/>
            <a:ext cx="1506382" cy="330781"/>
          </a:xfrm>
          <a:custGeom>
            <a:rect b="b" l="l" r="r" t="t"/>
            <a:pathLst>
              <a:path extrusionOk="0" h="15759" w="54441">
                <a:moveTo>
                  <a:pt x="54441" y="15741"/>
                </a:moveTo>
                <a:cubicBezTo>
                  <a:pt x="45527" y="15741"/>
                  <a:pt x="30820" y="16025"/>
                  <a:pt x="29070" y="7284"/>
                </a:cubicBezTo>
                <a:cubicBezTo>
                  <a:pt x="28245" y="3163"/>
                  <a:pt x="35739" y="-1148"/>
                  <a:pt x="39641" y="413"/>
                </a:cubicBezTo>
                <a:cubicBezTo>
                  <a:pt x="41470" y="1144"/>
                  <a:pt x="41742" y="4556"/>
                  <a:pt x="40698" y="6227"/>
                </a:cubicBezTo>
                <a:cubicBezTo>
                  <a:pt x="33501" y="17748"/>
                  <a:pt x="13584" y="4113"/>
                  <a:pt x="0" y="4113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47" name="Google Shape;747;p75"/>
          <p:cNvSpPr txBox="1"/>
          <p:nvPr/>
        </p:nvSpPr>
        <p:spPr>
          <a:xfrm>
            <a:off x="107050" y="3928850"/>
            <a:ext cx="7822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Every column has three properties: </a:t>
            </a:r>
            <a: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ColName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" sz="16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Type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and zero or more </a:t>
            </a:r>
            <a:r>
              <a:rPr b="1"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Constraints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(Contrast with 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polars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: 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Series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have names and types, but no constraints.)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Schema</a:t>
            </a:r>
            <a:endParaRPr/>
          </a:p>
        </p:txBody>
      </p:sp>
      <p:sp>
        <p:nvSpPr>
          <p:cNvPr id="753" name="Google Shape;753;p76"/>
          <p:cNvSpPr txBox="1"/>
          <p:nvPr>
            <p:ph idx="1" type="body"/>
          </p:nvPr>
        </p:nvSpPr>
        <p:spPr>
          <a:xfrm>
            <a:off x="107050" y="402200"/>
            <a:ext cx="85206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schema </a:t>
            </a:r>
            <a:r>
              <a:rPr lang="en"/>
              <a:t>describes the logical structure of a table. Whenever a new table is created, the creator must declare its schema.</a:t>
            </a:r>
            <a:endParaRPr/>
          </a:p>
        </p:txBody>
      </p:sp>
      <p:sp>
        <p:nvSpPr>
          <p:cNvPr id="754" name="Google Shape;754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5" name="Google Shape;755;p76"/>
          <p:cNvSpPr txBox="1"/>
          <p:nvPr/>
        </p:nvSpPr>
        <p:spPr>
          <a:xfrm>
            <a:off x="3062350" y="1289300"/>
            <a:ext cx="6051300" cy="18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CREATE TABLE dragon (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name VARCHAR PRIMARY KEY,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yr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CHECK (yr &gt;= 1900)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cute INTEGER,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setting_id INTEGER,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6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FOREIGN KEY (setting_id) REFERENCES setting(id)</a:t>
            </a:r>
            <a:endParaRPr sz="16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6" name="Google Shape;756;p76"/>
          <p:cNvSpPr txBox="1"/>
          <p:nvPr/>
        </p:nvSpPr>
        <p:spPr>
          <a:xfrm>
            <a:off x="182300" y="1289300"/>
            <a:ext cx="3013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For each column, specify the: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●"/>
            </a:pPr>
            <a: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Column name</a:t>
            </a:r>
            <a:endParaRPr b="1"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Roboto"/>
              <a:buChar char="●"/>
            </a:pPr>
            <a:r>
              <a:rPr b="1" lang="en" sz="16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Data type</a:t>
            </a:r>
            <a:endParaRPr b="1" sz="16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Roboto"/>
              <a:buChar char="●"/>
            </a:pPr>
            <a:r>
              <a:rPr b="1"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Constraint(s) on values</a:t>
            </a:r>
            <a:endParaRPr b="1"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7" name="Google Shape;757;p76"/>
          <p:cNvPicPr preferRelativeResize="0"/>
          <p:nvPr/>
        </p:nvPicPr>
        <p:blipFill rotWithShape="1">
          <a:blip r:embed="rId3">
            <a:alphaModFix/>
          </a:blip>
          <a:srcRect b="4424" l="0" r="0" t="7268"/>
          <a:stretch/>
        </p:blipFill>
        <p:spPr>
          <a:xfrm>
            <a:off x="405725" y="3613200"/>
            <a:ext cx="8014602" cy="11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Multiple Tables in a Database?</a:t>
            </a:r>
            <a:endParaRPr/>
          </a:p>
        </p:txBody>
      </p:sp>
      <p:sp>
        <p:nvSpPr>
          <p:cNvPr id="763" name="Google Shape;763;p77"/>
          <p:cNvSpPr txBox="1"/>
          <p:nvPr>
            <p:ph idx="1" type="body"/>
          </p:nvPr>
        </p:nvSpPr>
        <p:spPr>
          <a:xfrm>
            <a:off x="107050" y="402200"/>
            <a:ext cx="88653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want to add a column describing the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setting</a:t>
            </a:r>
            <a:r>
              <a:rPr lang="en"/>
              <a:t> that each dragon comes from.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65" name="Google Shape;765;p77"/>
          <p:cNvGraphicFramePr/>
          <p:nvPr/>
        </p:nvGraphicFramePr>
        <p:xfrm>
          <a:off x="1097857" y="1035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904325"/>
                <a:gridCol w="904325"/>
                <a:gridCol w="904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name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PK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year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&gt;=2000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cute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endParaRPr b="1" sz="8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toothless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drogon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dragon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rhaegal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-80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Multiple Tables in a Database?</a:t>
            </a:r>
            <a:endParaRPr/>
          </a:p>
        </p:txBody>
      </p:sp>
      <p:sp>
        <p:nvSpPr>
          <p:cNvPr id="771" name="Google Shape;771;p78"/>
          <p:cNvSpPr txBox="1"/>
          <p:nvPr>
            <p:ph idx="1" type="body"/>
          </p:nvPr>
        </p:nvSpPr>
        <p:spPr>
          <a:xfrm>
            <a:off x="107050" y="402200"/>
            <a:ext cx="88653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want to add a column describing the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setting</a:t>
            </a:r>
            <a:r>
              <a:rPr lang="en"/>
              <a:t> that each dragon comes from.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73" name="Google Shape;773;p78"/>
          <p:cNvGraphicFramePr/>
          <p:nvPr/>
        </p:nvGraphicFramePr>
        <p:xfrm>
          <a:off x="1097857" y="1035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904325"/>
                <a:gridCol w="904325"/>
                <a:gridCol w="904325"/>
                <a:gridCol w="915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name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PK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year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&gt;=2000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cute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endParaRPr b="1" sz="8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place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toothless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Berk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drogon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Essos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dragon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rhaegal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-80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Essos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Multiple Tables in a Database?</a:t>
            </a:r>
            <a:endParaRPr/>
          </a:p>
        </p:txBody>
      </p:sp>
      <p:sp>
        <p:nvSpPr>
          <p:cNvPr id="779" name="Google Shape;779;p79"/>
          <p:cNvSpPr txBox="1"/>
          <p:nvPr>
            <p:ph idx="1" type="body"/>
          </p:nvPr>
        </p:nvSpPr>
        <p:spPr>
          <a:xfrm>
            <a:off x="107050" y="402200"/>
            <a:ext cx="88653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want to add a column describing the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setting</a:t>
            </a:r>
            <a:r>
              <a:rPr lang="en"/>
              <a:t> that each dragon comes from.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1" name="Google Shape;781;p79"/>
          <p:cNvSpPr txBox="1"/>
          <p:nvPr>
            <p:ph idx="1" type="body"/>
          </p:nvPr>
        </p:nvSpPr>
        <p:spPr>
          <a:xfrm>
            <a:off x="107050" y="3218450"/>
            <a:ext cx="8865300" cy="15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we add more columns, we start to run into problems:</a:t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Redundant information</a:t>
            </a:r>
            <a:r>
              <a:rPr lang="en"/>
              <a:t>: every time we have multiple dragons from the same setting, all their information is duplicated!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Column bloat</a:t>
            </a:r>
            <a:r>
              <a:rPr lang="en"/>
              <a:t>: at some point, this table isn’t really about </a:t>
            </a:r>
            <a:r>
              <a:rPr lang="en">
                <a:latin typeface="Roboto Mono Light"/>
                <a:ea typeface="Roboto Mono Light"/>
                <a:cs typeface="Roboto Mono Light"/>
                <a:sym typeface="Roboto Mono Light"/>
              </a:rPr>
              <a:t>Dragon</a:t>
            </a:r>
            <a:r>
              <a:rPr lang="en"/>
              <a:t>s anymore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Solution: split the information into multiple tables!</a:t>
            </a:r>
            <a:endParaRPr i="1"/>
          </a:p>
        </p:txBody>
      </p:sp>
      <p:graphicFrame>
        <p:nvGraphicFramePr>
          <p:cNvPr id="782" name="Google Shape;782;p79"/>
          <p:cNvGraphicFramePr/>
          <p:nvPr/>
        </p:nvGraphicFramePr>
        <p:xfrm>
          <a:off x="1097857" y="1035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904325"/>
                <a:gridCol w="904325"/>
                <a:gridCol w="904325"/>
                <a:gridCol w="915925"/>
                <a:gridCol w="2376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name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PK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year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&gt;=2000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cute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endParaRPr b="1" sz="8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place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source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toothless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Berk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How to Train Your Dragon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drogon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Essos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Game of Thrones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dragon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IRL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rhaegal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-80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Essos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Game of Thrones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Multiple Tables to Store Information</a:t>
            </a:r>
            <a:endParaRPr/>
          </a:p>
        </p:txBody>
      </p:sp>
      <p:sp>
        <p:nvSpPr>
          <p:cNvPr id="788" name="Google Shape;788;p80"/>
          <p:cNvSpPr txBox="1"/>
          <p:nvPr>
            <p:ph idx="1" type="body"/>
          </p:nvPr>
        </p:nvSpPr>
        <p:spPr>
          <a:xfrm>
            <a:off x="107050" y="402200"/>
            <a:ext cx="88653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add a new table with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settings</a:t>
            </a:r>
            <a:r>
              <a:rPr lang="en"/>
              <a:t> (locations, fictional or otherwise)</a:t>
            </a:r>
            <a:endParaRPr/>
          </a:p>
        </p:txBody>
      </p:sp>
      <p:sp>
        <p:nvSpPr>
          <p:cNvPr id="789" name="Google Shape;789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90" name="Google Shape;790;p80"/>
          <p:cNvGraphicFramePr/>
          <p:nvPr/>
        </p:nvGraphicFramePr>
        <p:xfrm>
          <a:off x="139357" y="15606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904325"/>
                <a:gridCol w="904325"/>
                <a:gridCol w="672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name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PK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year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&gt;=2000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cute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endParaRPr b="1" sz="8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toothless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drogon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dragon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rhaegal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-80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1" name="Google Shape;791;p80"/>
          <p:cNvGraphicFramePr/>
          <p:nvPr/>
        </p:nvGraphicFramePr>
        <p:xfrm>
          <a:off x="4174807" y="15606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622100"/>
                <a:gridCol w="1169850"/>
                <a:gridCol w="1500750"/>
                <a:gridCol w="1112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id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PK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place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source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endParaRPr b="1" sz="8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mediatype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Berk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How to Train Your Dragon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movie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Essos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Game of Thrones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tv show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International Space Station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IRL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/>
                        <a:t>None</a:t>
                      </a:r>
                      <a:endParaRPr i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Lonely Mountain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The Hobbit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book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2" name="Google Shape;792;p80"/>
          <p:cNvSpPr txBox="1"/>
          <p:nvPr/>
        </p:nvSpPr>
        <p:spPr>
          <a:xfrm>
            <a:off x="139388" y="1006525"/>
            <a:ext cx="271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Dragon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80"/>
          <p:cNvSpPr txBox="1"/>
          <p:nvPr/>
        </p:nvSpPr>
        <p:spPr>
          <a:xfrm>
            <a:off x="5020825" y="1006525"/>
            <a:ext cx="271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Setting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80"/>
          <p:cNvSpPr txBox="1"/>
          <p:nvPr>
            <p:ph idx="1" type="body"/>
          </p:nvPr>
        </p:nvSpPr>
        <p:spPr>
          <a:xfrm>
            <a:off x="139350" y="4170325"/>
            <a:ext cx="88653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tell SQL which setting each dragon comes from?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Multiple Tables to Store Information</a:t>
            </a:r>
            <a:endParaRPr/>
          </a:p>
        </p:txBody>
      </p:sp>
      <p:sp>
        <p:nvSpPr>
          <p:cNvPr id="800" name="Google Shape;800;p81"/>
          <p:cNvSpPr txBox="1"/>
          <p:nvPr>
            <p:ph idx="1" type="body"/>
          </p:nvPr>
        </p:nvSpPr>
        <p:spPr>
          <a:xfrm>
            <a:off x="107050" y="402200"/>
            <a:ext cx="88653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add a new table with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settings</a:t>
            </a:r>
            <a:r>
              <a:rPr lang="en"/>
              <a:t> (locations, fictional or otherwise)</a:t>
            </a:r>
            <a:endParaRPr/>
          </a:p>
        </p:txBody>
      </p:sp>
      <p:sp>
        <p:nvSpPr>
          <p:cNvPr id="801" name="Google Shape;801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02" name="Google Shape;802;p81"/>
          <p:cNvGraphicFramePr/>
          <p:nvPr/>
        </p:nvGraphicFramePr>
        <p:xfrm>
          <a:off x="139357" y="15606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904325"/>
                <a:gridCol w="904325"/>
                <a:gridCol w="672475"/>
                <a:gridCol w="1209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name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PK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year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&gt;=2000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cute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endParaRPr b="1" sz="8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setting_id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FK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toothless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drogon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dragon 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rhaegal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-80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3" name="Google Shape;803;p81"/>
          <p:cNvGraphicFramePr/>
          <p:nvPr/>
        </p:nvGraphicFramePr>
        <p:xfrm>
          <a:off x="4174807" y="15606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{270C5282-CED4-486A-A198-B9B5E61A5648}</a:tableStyleId>
              </a:tblPr>
              <a:tblGrid>
                <a:gridCol w="622100"/>
                <a:gridCol w="1169850"/>
                <a:gridCol w="1500750"/>
                <a:gridCol w="1112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id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r>
                        <a:rPr b="1" lang="en" sz="800"/>
                        <a:t>, </a:t>
                      </a:r>
                      <a:r>
                        <a:rPr b="1" lang="en" sz="800">
                          <a:solidFill>
                            <a:schemeClr val="accent2"/>
                          </a:solidFill>
                        </a:rPr>
                        <a:t>PK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place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endParaRPr b="1" sz="800">
                        <a:solidFill>
                          <a:schemeClr val="accen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source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INT</a:t>
                      </a:r>
                      <a:endParaRPr b="1" sz="8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</a:rPr>
                        <a:t>mediatype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4"/>
                          </a:solidFill>
                        </a:rPr>
                        <a:t>TEXT</a:t>
                      </a:r>
                      <a:endParaRPr b="1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Berk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How to Train Your Dragon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movie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Essos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Game of Thrones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tv show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International Space Station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IRL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/>
                        <a:t>NULL</a:t>
                      </a:r>
                      <a:endParaRPr i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Lonely Mountain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The Hobbit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book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4" name="Google Shape;804;p81"/>
          <p:cNvSpPr txBox="1"/>
          <p:nvPr/>
        </p:nvSpPr>
        <p:spPr>
          <a:xfrm>
            <a:off x="628138" y="1006525"/>
            <a:ext cx="271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Dragon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81"/>
          <p:cNvSpPr txBox="1"/>
          <p:nvPr/>
        </p:nvSpPr>
        <p:spPr>
          <a:xfrm>
            <a:off x="5020825" y="1006525"/>
            <a:ext cx="271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Setting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81"/>
          <p:cNvSpPr txBox="1"/>
          <p:nvPr>
            <p:ph idx="1" type="body"/>
          </p:nvPr>
        </p:nvSpPr>
        <p:spPr>
          <a:xfrm>
            <a:off x="139350" y="4113925"/>
            <a:ext cx="8865300" cy="10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foreign key</a:t>
            </a:r>
            <a:r>
              <a:rPr lang="en"/>
              <a:t> refers to the primary key of another table, and tells us about the relationships between different tables.</a:t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These are usually what we use when </a:t>
            </a:r>
            <a:r>
              <a:rPr lang="en">
                <a:latin typeface="Roboto Mono Light"/>
                <a:ea typeface="Roboto Mono Light"/>
                <a:cs typeface="Roboto Mono Light"/>
                <a:sym typeface="Roboto Mono Light"/>
              </a:rPr>
              <a:t>JOIN</a:t>
            </a:r>
            <a:r>
              <a:rPr lang="en"/>
              <a:t>ing tables together!</a:t>
            </a:r>
            <a:endParaRPr/>
          </a:p>
        </p:txBody>
      </p:sp>
      <p:sp>
        <p:nvSpPr>
          <p:cNvPr id="807" name="Google Shape;807;p81"/>
          <p:cNvSpPr/>
          <p:nvPr/>
        </p:nvSpPr>
        <p:spPr>
          <a:xfrm>
            <a:off x="2647175" y="1560575"/>
            <a:ext cx="2178000" cy="2489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Multidimensional Data</a:t>
            </a:r>
            <a:endParaRPr/>
          </a:p>
        </p:txBody>
      </p:sp>
      <p:sp>
        <p:nvSpPr>
          <p:cNvPr id="813" name="Google Shape;813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4" name="Google Shape;814;p82"/>
          <p:cNvSpPr txBox="1"/>
          <p:nvPr/>
        </p:nvSpPr>
        <p:spPr>
          <a:xfrm>
            <a:off x="95950" y="489400"/>
            <a:ext cx="83487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To minimize redundant storage, databases store data across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fact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 and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dimension tables.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This is called a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star schema.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82"/>
          <p:cNvSpPr txBox="1"/>
          <p:nvPr/>
        </p:nvSpPr>
        <p:spPr>
          <a:xfrm>
            <a:off x="95950" y="1498525"/>
            <a:ext cx="3872700" cy="3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Fact table: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 Central table w/ info to link its entries to other dimension tables. Few columns,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many records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Dimension table: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 More detailed information about each type of fact.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More columns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 and fewer records.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16" name="Google Shape;816;p82"/>
          <p:cNvPicPr preferRelativeResize="0"/>
          <p:nvPr/>
        </p:nvPicPr>
        <p:blipFill rotWithShape="1">
          <a:blip r:embed="rId3">
            <a:alphaModFix/>
          </a:blip>
          <a:srcRect b="0" l="0" r="16957" t="0"/>
          <a:stretch/>
        </p:blipFill>
        <p:spPr>
          <a:xfrm>
            <a:off x="3968800" y="1045650"/>
            <a:ext cx="5114549" cy="3915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7" name="Google Shape;817;p82"/>
          <p:cNvGrpSpPr/>
          <p:nvPr/>
        </p:nvGrpSpPr>
        <p:grpSpPr>
          <a:xfrm>
            <a:off x="3930050" y="3428000"/>
            <a:ext cx="2615400" cy="1163275"/>
            <a:chOff x="3930050" y="3428000"/>
            <a:chExt cx="2615400" cy="1163275"/>
          </a:xfrm>
        </p:grpSpPr>
        <p:sp>
          <p:nvSpPr>
            <p:cNvPr id="818" name="Google Shape;818;p82"/>
            <p:cNvSpPr txBox="1"/>
            <p:nvPr/>
          </p:nvSpPr>
          <p:spPr>
            <a:xfrm>
              <a:off x="3930050" y="3806175"/>
              <a:ext cx="26154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Granularity: Every possible drink+topping combinations across all stores. Lots of rows!</a:t>
              </a:r>
              <a:endParaRPr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19" name="Google Shape;819;p82"/>
            <p:cNvSpPr txBox="1"/>
            <p:nvPr/>
          </p:nvSpPr>
          <p:spPr>
            <a:xfrm>
              <a:off x="4916000" y="3428000"/>
              <a:ext cx="548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. . .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20" name="Google Shape;820;p82"/>
            <p:cNvSpPr txBox="1"/>
            <p:nvPr/>
          </p:nvSpPr>
          <p:spPr>
            <a:xfrm>
              <a:off x="5449400" y="3428000"/>
              <a:ext cx="548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. . .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21" name="Google Shape;821;p82"/>
            <p:cNvSpPr txBox="1"/>
            <p:nvPr/>
          </p:nvSpPr>
          <p:spPr>
            <a:xfrm>
              <a:off x="4306400" y="3428000"/>
              <a:ext cx="548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. . .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8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accent3"/>
                </a:solidFill>
              </a:rPr>
              <a:t>Exploratory Data Analysis (EDA) V</a:t>
            </a:r>
            <a:endParaRPr/>
          </a:p>
        </p:txBody>
      </p:sp>
      <p:sp>
        <p:nvSpPr>
          <p:cNvPr id="827" name="Google Shape;827;p83"/>
          <p:cNvSpPr txBox="1"/>
          <p:nvPr>
            <p:ph idx="1" type="subTitle"/>
          </p:nvPr>
        </p:nvSpPr>
        <p:spPr>
          <a:xfrm>
            <a:off x="311700" y="2797175"/>
            <a:ext cx="85206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Data C100/Data C200, Fall @ UC Berkeley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Ramesh Sridharan and Jeremy Sanchez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Content credit: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Acknowledgments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828" name="Google Shape;828;p83"/>
          <p:cNvSpPr txBox="1"/>
          <p:nvPr/>
        </p:nvSpPr>
        <p:spPr>
          <a:xfrm>
            <a:off x="345775" y="1825900"/>
            <a:ext cx="1150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6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29" name="Google Shape;829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