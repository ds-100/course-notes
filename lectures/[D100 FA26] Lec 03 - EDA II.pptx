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  <p:sldMasterId id="214748369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embeddedFontLst>
    <p:embeddedFont>
      <p:font typeface="Roboto Medium"/>
      <p:regular r:id="rId56"/>
      <p:bold r:id="rId57"/>
      <p:italic r:id="rId58"/>
      <p:boldItalic r:id="rId59"/>
    </p:embeddedFont>
    <p:embeddedFont>
      <p:font typeface="Roboto"/>
      <p:regular r:id="rId60"/>
      <p:bold r:id="rId61"/>
      <p:italic r:id="rId62"/>
      <p:boldItalic r:id="rId63"/>
    </p:embeddedFont>
    <p:embeddedFont>
      <p:font typeface="Inter Light"/>
      <p:regular r:id="rId64"/>
      <p:bold r:id="rId65"/>
      <p:italic r:id="rId66"/>
      <p:boldItalic r:id="rId67"/>
    </p:embeddedFont>
    <p:embeddedFont>
      <p:font typeface="Inter"/>
      <p:regular r:id="rId68"/>
      <p:bold r:id="rId69"/>
      <p:italic r:id="rId70"/>
      <p:boldItalic r:id="rId71"/>
    </p:embeddedFont>
    <p:embeddedFont>
      <p:font typeface="Roboto Mono Light"/>
      <p:regular r:id="rId72"/>
      <p:bold r:id="rId73"/>
      <p:italic r:id="rId74"/>
      <p:boldItalic r:id="rId75"/>
    </p:embeddedFont>
    <p:embeddedFont>
      <p:font typeface="Roboto Light"/>
      <p:regular r:id="rId76"/>
      <p:bold r:id="rId77"/>
      <p:italic r:id="rId78"/>
      <p:boldItalic r:id="rId79"/>
    </p:embeddedFont>
    <p:embeddedFont>
      <p:font typeface="Helvetica Neue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B9B084-964A-44C9-96E6-E94D14E253E6}">
  <a:tblStyle styleId="{7AB9B084-964A-44C9-96E6-E94D14E25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HelveticaNeue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HelveticaNeue-regular.fntdata"/><Relationship Id="rId82" Type="http://schemas.openxmlformats.org/officeDocument/2006/relationships/font" Target="fonts/HelveticaNeue-italic.fntdata"/><Relationship Id="rId81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Light-bold.fntdata"/><Relationship Id="rId72" Type="http://schemas.openxmlformats.org/officeDocument/2006/relationships/font" Target="fonts/RobotoMonoLight-regular.fntdata"/><Relationship Id="rId31" Type="http://schemas.openxmlformats.org/officeDocument/2006/relationships/slide" Target="slides/slide25.xml"/><Relationship Id="rId75" Type="http://schemas.openxmlformats.org/officeDocument/2006/relationships/font" Target="fonts/RobotoMonoLight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Light-italic.fntdata"/><Relationship Id="rId33" Type="http://schemas.openxmlformats.org/officeDocument/2006/relationships/slide" Target="slides/slide27.xml"/><Relationship Id="rId77" Type="http://schemas.openxmlformats.org/officeDocument/2006/relationships/font" Target="fonts/RobotoLight-bold.fntdata"/><Relationship Id="rId32" Type="http://schemas.openxmlformats.org/officeDocument/2006/relationships/slide" Target="slides/slide26.xml"/><Relationship Id="rId76" Type="http://schemas.openxmlformats.org/officeDocument/2006/relationships/font" Target="fonts/RobotoLight-regular.fntdata"/><Relationship Id="rId35" Type="http://schemas.openxmlformats.org/officeDocument/2006/relationships/slide" Target="slides/slide29.xml"/><Relationship Id="rId79" Type="http://schemas.openxmlformats.org/officeDocument/2006/relationships/font" Target="fonts/RobotoLight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Light-italic.fntdata"/><Relationship Id="rId71" Type="http://schemas.openxmlformats.org/officeDocument/2006/relationships/font" Target="fonts/Inter-boldItalic.fntdata"/><Relationship Id="rId70" Type="http://schemas.openxmlformats.org/officeDocument/2006/relationships/font" Target="fonts/Inter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4.xml"/><Relationship Id="rId64" Type="http://schemas.openxmlformats.org/officeDocument/2006/relationships/font" Target="fonts/InterLight-regular.fntdata"/><Relationship Id="rId63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66" Type="http://schemas.openxmlformats.org/officeDocument/2006/relationships/font" Target="fonts/InterLight-italic.fntdata"/><Relationship Id="rId21" Type="http://schemas.openxmlformats.org/officeDocument/2006/relationships/slide" Target="slides/slide15.xml"/><Relationship Id="rId65" Type="http://schemas.openxmlformats.org/officeDocument/2006/relationships/font" Target="fonts/InterLight-bold.fntdata"/><Relationship Id="rId24" Type="http://schemas.openxmlformats.org/officeDocument/2006/relationships/slide" Target="slides/slide18.xml"/><Relationship Id="rId68" Type="http://schemas.openxmlformats.org/officeDocument/2006/relationships/font" Target="fonts/Inter-regular.fntdata"/><Relationship Id="rId23" Type="http://schemas.openxmlformats.org/officeDocument/2006/relationships/slide" Target="slides/slide17.xml"/><Relationship Id="rId67" Type="http://schemas.openxmlformats.org/officeDocument/2006/relationships/font" Target="fonts/InterLight-boldItalic.fntdata"/><Relationship Id="rId60" Type="http://schemas.openxmlformats.org/officeDocument/2006/relationships/font" Target="fonts/Robot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nter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6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SLIDES_API19272937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SLIDES_API1927293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f0eb868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f0eb868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f0eb868b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f0eb868b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formalized in wording, but still mostly the same: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World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24c4587e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b24c4587e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24c4587e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b24c4587e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b24c4587e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b24c4587e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24c4587e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b24c4587e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b24c4587e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b24c4587e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9dce68e9b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9dce68e9b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9dce68e9b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9dce68e9b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dce68e9b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9dce68e9b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9dce68e9b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9dce68e9b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9dce68e9b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f9dce68e9b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SLIDES_API1338056459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SLIDES_API13380564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dce68e9b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9dce68e9b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9dce68e9b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9dce68e9b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9dce68e9b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9dce68e9b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9dce68e9b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9dce68e9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9dce68e9b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9dce68e9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SLIDES_API1061685454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SLIDES_API106168545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9dce68e9b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9dce68e9b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9dce68e9b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9dce68e9b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dce68e9b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9dce68e9b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9dce68e9b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9dce68e9b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9dce68e9b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9dce68e9b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9dce68e9b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9dce68e9b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f0eb868bc_33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f0eb868bc_3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f0eb868bc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ef0eb868bc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f0eb868bc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f0eb868bc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f0eb868bc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ef0eb868bc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SLIDES_API2023544326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SLIDES_API20235443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f0eb868b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ef0eb868b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SLIDES_API213465399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SLIDES_API21346539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ef0eb868bc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ef0eb868bc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f0eb868bc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ef0eb868bc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ef0eb868bc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ef0eb868bc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ef0eb868b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ef0eb868b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52537586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52537586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b239a427c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fb239a427c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ef0eb868b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ef0eb868b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SLIDES_API1828586219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SLIDES_API18285862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f0eb868bc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f0eb868bc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ef0eb868bc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ef0eb868bc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f0eb868bc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ef0eb868bc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9dce68e9b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9dce68e9b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f0eb868bc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ef0eb868bc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ef0eb868bc_0_5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ef0eb868bc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f0eb868bc_0_5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ef0eb868bc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ef0eb868bc_102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ef0eb868bc_10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95431" y="402210"/>
            <a:ext cx="8391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667431" y="402210"/>
            <a:ext cx="3819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95431" y="402210"/>
            <a:ext cx="83913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" name="Google Shape;59;p9"/>
          <p:cNvCxnSpPr/>
          <p:nvPr/>
        </p:nvCxnSpPr>
        <p:spPr>
          <a:xfrm flipH="1" rot="10800000">
            <a:off x="95431" y="396210"/>
            <a:ext cx="8371800" cy="60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72" name="Google Shape;72;p12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" name="Google Shape;9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17" name="Google Shape;11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9" name="Google Shape;119;p22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30" name="Google Shape;130;p24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6"/>
          <p:cNvCxnSpPr/>
          <p:nvPr/>
        </p:nvCxnSpPr>
        <p:spPr>
          <a:xfrm>
            <a:off x="95431" y="402210"/>
            <a:ext cx="83781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45" name="Google Shape;14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47" name="Google Shape;147;p2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8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6" name="Google Shape;156;p28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0" name="Google Shape;160;p29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9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2" name="Google Shape;162;p29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3" name="Google Shape;163;p29"/>
          <p:cNvCxnSpPr/>
          <p:nvPr/>
        </p:nvCxnSpPr>
        <p:spPr>
          <a:xfrm>
            <a:off x="4667431" y="402210"/>
            <a:ext cx="37977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4" name="Google Shape;16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30"/>
          <p:cNvCxnSpPr/>
          <p:nvPr/>
        </p:nvCxnSpPr>
        <p:spPr>
          <a:xfrm>
            <a:off x="95431" y="402210"/>
            <a:ext cx="8378100" cy="189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30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31"/>
          <p:cNvCxnSpPr/>
          <p:nvPr/>
        </p:nvCxnSpPr>
        <p:spPr>
          <a:xfrm>
            <a:off x="95431" y="402210"/>
            <a:ext cx="8369700" cy="24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2" name="Google Shape;182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3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4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188" name="Google Shape;188;p34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2" name="Google Shape;202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" name="Google Shape;203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4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09" name="Google Shape;209;p4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1" name="Google Shape;21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8" name="Google Shape;218;p4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219" name="Google Shape;21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27" name="Google Shape;227;p4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228" name="Google Shape;228;p4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SECTION_HEADER_1_1">
    <p:bg>
      <p:bgPr>
        <a:solidFill>
          <a:srgbClr val="4A86E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2" name="Google Shape;232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3" name="Google Shape;233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4" name="Google Shape;234;p44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39" name="Google Shape;23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1" name="Google Shape;241;p4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22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8.xml"/><Relationship Id="rId21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1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42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15100" y="594350"/>
            <a:ext cx="61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2568271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600" y="456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/>
        </p:nvSpPr>
        <p:spPr>
          <a:xfrm>
            <a:off x="8510312" y="594345"/>
            <a:ext cx="627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33856439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0600" y="240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hyperlink" Target="https://www.sli.do/features-google-slides?payload=eyJwcmVzZW50YXRpb25JZCI6IjFnNW1fVlMyci1Ha2pZRXBNbm01Qk9LbjNQcC1sa1FxZmQydy1Ka2xzTDdNIiwic2xpZGVJZCI6IlNMSURFU19BUEkxOTI3MjkzNzFfMCIsInR5cGUiOiJTbGlkb0pvaW5pbmcifQ%3D%3D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www.sli.do/features-google-slides?interaction-type=Sm9pbg%3D%3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s100.org/sp26/ack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dstem.org/us/courses/102680/discussion/8220612" TargetMode="External"/><Relationship Id="rId4" Type="http://schemas.openxmlformats.org/officeDocument/2006/relationships/hyperlink" Target="https://us.prairietest.com/" TargetMode="External"/><Relationship Id="rId5" Type="http://schemas.openxmlformats.org/officeDocument/2006/relationships/hyperlink" Target="https://edstem.org/us/courses/102680/discussion/8228677" TargetMode="External"/><Relationship Id="rId6" Type="http://schemas.openxmlformats.org/officeDocument/2006/relationships/hyperlink" Target="https://calendar.app.google/C6cqy8vKgYrSh1m66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://www.askademia.or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hyperlink" Target="http://www.askademia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hyperlink" Target="http://www.askademia.or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hyperlink" Target="http://www.askademia.or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hyperlink" Target="http://www.askademia.or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8.png"/><Relationship Id="rId8" Type="http://schemas.openxmlformats.org/officeDocument/2006/relationships/hyperlink" Target="https://www.sli.do/features-google-slides?payload=eyJwb2xsVXVpZCI6IjAxMTBmZjVjLTk2NGEtNDQzMi05ZWYyLWMxODE3ZmQxMWU2NCIsInByZXNlbnRhdGlvbklkIjoiMWc1bV9WUzJyLUdrallFcE1ubTVCT0tuM1BwLWxrUXFmZDJ3LUprbHNMN00iLCJzbGlkZUlkIjoiU0xJREVTX0FQSTEzMzgwNTY0NTlfMCIsInRpbWVsaW5lIjpbeyJwb2xsUXVlc3Rpb25VdWlkIjoiMDgwNGYzYTktZjJmZi00ZjFhLWEyOTctY2M5MTJjNWQyNDI5Iiwic2hvd1Jlc3VsdHMiOnRydWV9XSwidHlwZSI6IlNsaWRvUG9sbCJ9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8.png"/><Relationship Id="rId8" Type="http://schemas.openxmlformats.org/officeDocument/2006/relationships/hyperlink" Target="https://www.sli.do/features-google-slides?payload=eyJwb2xsVXVpZCI6Ijg3YTIzZmUwLWNiNmYtNGMyZi04YWFhLTlmMjI5N2QwMWMzNCIsInByZXNlbnRhdGlvbklkIjoiMWc1bV9WUzJyLUdrallFcE1ubTVCT0tuM1BwLWxrUXFmZDJ3LUprbHNMN00iLCJzbGlkZUlkIjoiU0xJREVTX0FQSTEwNjE2ODU0NTRfMCIsInRpbWVsaW5lIjpbeyJzaG93UmVzdWx0cyI6dHJ1ZSwicG9sbFF1ZXN0aW9uVXVpZCI6ImFlODE2ODQxLTVkMDYtNDQwYi04NzY2LTAxMTMxMmUwZjYzNiJ9XSwidHlwZSI6IlNsaWRvUG9sbCJ9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media.mit.edu/publications/your-brain-on-chatgpt/" TargetMode="External"/><Relationship Id="rId4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38.png"/><Relationship Id="rId5" Type="http://schemas.openxmlformats.org/officeDocument/2006/relationships/image" Target="../media/image8.png"/><Relationship Id="rId6" Type="http://schemas.openxmlformats.org/officeDocument/2006/relationships/hyperlink" Target="https://www.sli.do/features-google-slides?payload=eyJwb2xsVXVpZCI6IjUxMzUzZmQ1LTllMDAtNGZmMC1iNmZlLTVkODg1M2FmODkyMCIsInByZXNlbnRhdGlvbklkIjoiMWc1bV9WUzJyLUdrallFcE1ubTVCT0tuM1BwLWxrUXFmZDJ3LUprbHNMN00iLCJzbGlkZUlkIjoiU0xJREVTX0FQSTIwMjM1NDQzMjZfMCIsInRpbWVsaW5lIjpbeyJwb2xsUXVlc3Rpb25VdWlkIjoiNjMyNTExMTctZTVlOC00NTA3LTk4NmYtMWZkM2Q1MjI5ZDBmIiwic2hvd1Jlc3VsdHMiOmZhbHNlfSx7InNob3dSZXN1bHRzIjp0cnVlLCJwb2xsUXVlc3Rpb25VdWlkIjoiNjMyNTExMTctZTVlOC00NTA3LTk4NmYtMWZkM2Q1MjI5ZDBmIn1dLCJ0eXBlIjoiU2xpZG9Qb2xsIn0%3D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www.sli.do/features-google-slides?interaction-type=TXVsdGlwbGVDaG9pY2U%3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38.png"/><Relationship Id="rId5" Type="http://schemas.openxmlformats.org/officeDocument/2006/relationships/image" Target="../media/image8.png"/><Relationship Id="rId6" Type="http://schemas.openxmlformats.org/officeDocument/2006/relationships/hyperlink" Target="https://www.sli.do/features-google-slides?payload=eyJwb2xsVXVpZCI6IjhkMzBlN2UwLTEwMWItNDRiZi1hODY1LTM3YThkYjg3OTRhYyIsInByZXNlbnRhdGlvbklkIjoiMWc1bV9WUzJyLUdrallFcE1ubTVCT0tuM1BwLWxrUXFmZDJ3LUprbHNMN00iLCJzbGlkZUlkIjoiU0xJREVTX0FQSTIxMzQ2NTM5OV8wIiwidGltZWxpbmUiOlt7InNob3dSZXN1bHRzIjpmYWxzZSwicG9sbFF1ZXN0aW9uVXVpZCI6ImRiZDdjMzEyLWIwZDYtNDBiOC04YmRmLWZhMThjMWI1NGY2YyJ9LHsicG9sbFF1ZXN0aW9uVXVpZCI6ImRiZDdjMzEyLWIwZDYtNDBiOC04YmRmLWZhMThjMWI1NGY2YyIsInNob3dSZXN1bHRzIjp0cnVlfV0sInR5cGUiOiJTbGlkb1BvbGwifQ%3D%3D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www.sli.do/features-google-slides?interaction-type=TXVsdGlwbGVDaG9pY2U%3D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8.png"/><Relationship Id="rId8" Type="http://schemas.openxmlformats.org/officeDocument/2006/relationships/hyperlink" Target="https://www.sli.do/features-google-slides?payload=eyJrZWVwUG9sbEFjdGl2ZSI6ZmFsc2UsInBvbGxVdWlkIjoiZTZmNDUwMmItNTA3My00M2E2LWE2NDAtNDE1ZmEyODliMjg1IiwicHJlc2VudGF0aW9uSWQiOiIxZzVtX1ZTMnItR2tqWUVwTW5tNUJPS24zUHAtbGtRcWZkMnctSmtsc0w3TSIsInNsaWRlSWQiOiJTTElERVNfQVBJNTI1Mzc1ODYwXzAiLCJ0aW1lbGluZSI6W3sic2hvd1Jlc3VsdHMiOmZhbHNlLCJwb2xsUXVlc3Rpb25VdWlkIjoiYjE5ODAyOTYtZDVlYi00Mjc1LWE5ZDItYTcwOGFiMjYwZDRhIn1dLCJ0eXBlIjoiU2xpZG9Qb2xsIn0%3D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38.png"/><Relationship Id="rId5" Type="http://schemas.openxmlformats.org/officeDocument/2006/relationships/image" Target="../media/image8.png"/><Relationship Id="rId6" Type="http://schemas.openxmlformats.org/officeDocument/2006/relationships/hyperlink" Target="https://www.sli.do/features-google-slides?payload=eyJwb2xsVXVpZCI6IjBkYzI4OWQ2LWIwYjktNDRjYS05NTU1LTU4ZjlhZDE0YjBlMyIsInByZXNlbnRhdGlvbklkIjoiMWc1bV9WUzJyLUdrallFcE1ubTVCT0tuM1BwLWxrUXFmZDJ3LUprbHNMN00iLCJzbGlkZUlkIjoiU0xJREVTX0FQSTE4Mjg1ODYyMTlfMCIsInRpbWVsaW5lIjpbeyJzaG93UmVzdWx0cyI6ZmFsc2UsInBvbGxRdWVzdGlvblV1aWQiOiIzMmI0MTBiZi1jZWNmLTRkOTUtYjViNC02NzA1OWRkNmYzMWIifSx7InBvbGxRdWVzdGlvblV1aWQiOiIzMmI0MTBiZi1jZWNmLTRkOTUtYjViNC02NzA1OWRkNmYzMWIiLCJzaG93UmVzdWx0cyI6dHJ1ZX1dLCJ0eXBlIjoiU2xpZG9Qb2xsIn0%3D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www.sli.do/features-google-slides?interaction-type=TXVsdGlwbGVDaG9pY2U%3D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tidyr.tidyverse.org/articles/tidy-data.html#tidy-data" TargetMode="External"/><Relationship Id="rId4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ds100.org/sp26/ack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8" name="Google Shape;248;p4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249" name="Google Shape;249;p46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Join at slido.com</a:t>
            </a:r>
            <a:b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#2568271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4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1" name="Google Shape;251;p4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52" name="Google Shape;25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253" name="Google Shape;253;p4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254" name="Google Shape;254;p46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ctrTitle"/>
          </p:nvPr>
        </p:nvSpPr>
        <p:spPr>
          <a:xfrm>
            <a:off x="311700" y="744575"/>
            <a:ext cx="876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</a:t>
            </a:r>
            <a:r>
              <a:rPr lang="en"/>
              <a:t> Data Analysis (EDA) II</a:t>
            </a:r>
            <a:endParaRPr/>
          </a:p>
        </p:txBody>
      </p:sp>
      <p:sp>
        <p:nvSpPr>
          <p:cNvPr id="260" name="Google Shape;260;p47"/>
          <p:cNvSpPr txBox="1"/>
          <p:nvPr>
            <p:ph idx="1" type="subTitle"/>
          </p:nvPr>
        </p:nvSpPr>
        <p:spPr>
          <a:xfrm>
            <a:off x="311700" y="279717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Fundamental tabular manipulations and visualizations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261" name="Google Shape;261;p47"/>
          <p:cNvSpPr txBox="1"/>
          <p:nvPr>
            <p:ph idx="1" type="subTitle"/>
          </p:nvPr>
        </p:nvSpPr>
        <p:spPr>
          <a:xfrm>
            <a:off x="311700" y="3854350"/>
            <a:ext cx="8520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2" name="Google Shape;262;p47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3" name="Google Shape;26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47"/>
          <p:cNvSpPr txBox="1"/>
          <p:nvPr/>
        </p:nvSpPr>
        <p:spPr>
          <a:xfrm>
            <a:off x="174350" y="193700"/>
            <a:ext cx="557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⚠️ Reminder to start the Zoom recording!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5" name="Google Shape;265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Announcements!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72" name="Google Shape;272;p48"/>
          <p:cNvSpPr txBox="1"/>
          <p:nvPr/>
        </p:nvSpPr>
        <p:spPr>
          <a:xfrm>
            <a:off x="129450" y="547225"/>
            <a:ext cx="8343000" cy="4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Prerequisite Quiz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logistics are on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Ed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testing window is Tuesday 9/8 to Thursday 9/10.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Sign up for a slot on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PrairieTest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ASAP!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Homework 00 due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tomorrow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Homework 1 will be released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tomorrow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Need a refresher on SQL? See linked materials from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#94 on Ed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Want to talk 1:1 with Ramesh about grad school, career, life? </a:t>
            </a:r>
            <a:r>
              <a:rPr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6"/>
              </a:rPr>
              <a:t>Sign up here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for a 15-minute slot!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Priority for slots before 10/15 goes to juniors/seniors (graduation date ≤ Spring ‘28)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9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9" title="Screenshot 2026-08-27 at 10.02.1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410"/>
            <a:ext cx="9144003" cy="458093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9"/>
          <p:cNvSpPr txBox="1"/>
          <p:nvPr/>
        </p:nvSpPr>
        <p:spPr>
          <a:xfrm>
            <a:off x="1714475" y="0"/>
            <a:ext cx="53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www.askademia.org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0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50" title="Screenshot 2026-09-03 at 11.46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155"/>
            <a:ext cx="9144003" cy="471934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0"/>
          <p:cNvSpPr txBox="1"/>
          <p:nvPr/>
        </p:nvSpPr>
        <p:spPr>
          <a:xfrm>
            <a:off x="1714475" y="0"/>
            <a:ext cx="53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www.askademia.org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51" title="Screenshot 2026-09-03 at 11.46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3095"/>
            <a:ext cx="9144003" cy="471041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51"/>
          <p:cNvSpPr txBox="1"/>
          <p:nvPr/>
        </p:nvSpPr>
        <p:spPr>
          <a:xfrm>
            <a:off x="1714475" y="0"/>
            <a:ext cx="53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www.askademia.org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52" title="Screenshot 2026-09-03 at 11.47.27 AM.png"/>
          <p:cNvPicPr preferRelativeResize="0"/>
          <p:nvPr/>
        </p:nvPicPr>
        <p:blipFill rotWithShape="1">
          <a:blip r:embed="rId3">
            <a:alphaModFix/>
          </a:blip>
          <a:srcRect b="0" l="408" r="0" t="0"/>
          <a:stretch/>
        </p:blipFill>
        <p:spPr>
          <a:xfrm>
            <a:off x="0" y="413807"/>
            <a:ext cx="9144003" cy="472968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2"/>
          <p:cNvSpPr txBox="1"/>
          <p:nvPr/>
        </p:nvSpPr>
        <p:spPr>
          <a:xfrm>
            <a:off x="1714475" y="0"/>
            <a:ext cx="53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www.askademia.org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3" title="Screenshot 2026-09-03 at 11.49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5240"/>
            <a:ext cx="9144003" cy="472827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3"/>
          <p:cNvSpPr txBox="1"/>
          <p:nvPr/>
        </p:nvSpPr>
        <p:spPr>
          <a:xfrm>
            <a:off x="1714475" y="0"/>
            <a:ext cx="53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www.askademia.org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Relevant questions about the admissions dataset</a:t>
            </a:r>
            <a:endParaRPr/>
          </a:p>
        </p:txBody>
      </p:sp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193900" y="1551125"/>
            <a:ext cx="8520600" cy="30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you trust the data? How closely does it correspond to the truth?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schools have the highest application/admission/attendance rates?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Extremes.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r>
              <a:rPr lang="en"/>
              <a:t>How much do application/admission/attendance rates differ across schools?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Are other school characteristics related to the rates above?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Correlation.</a:t>
            </a:r>
            <a:endParaRPr/>
          </a:p>
        </p:txBody>
      </p:sp>
      <p:sp>
        <p:nvSpPr>
          <p:cNvPr id="318" name="Google Shape;31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54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Recap: Our Task and Our First Answer</a:t>
            </a:r>
            <a:endParaRPr/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We got an answer (by sorting by our new app_rate column):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what haven’t we covered yet?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low application rates, admission/attendance, define "typical pattern", etc.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One school is small / another is specialized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🧙 One of the key tasks of a data scientist is to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define "success"</a:t>
            </a:r>
            <a:r>
              <a:rPr lang="en"/>
              <a:t>. You'll often need to transform fuzzy instructions into concrete goals or metrics.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7" name="Google Shape;32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125" y="1182675"/>
            <a:ext cx="4480698" cy="14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5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Google Shape;333;p56"/>
          <p:cNvGraphicFramePr/>
          <p:nvPr/>
        </p:nvGraphicFramePr>
        <p:xfrm>
          <a:off x="107075" y="48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1905200"/>
                <a:gridCol w="4130250"/>
                <a:gridCol w="2430275"/>
              </a:tblGrid>
              <a:tr h="14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i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i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i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i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Load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in the dataset.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Show a preview of the data.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 = pl.read_csv('pivoted-ucb-admissions.csv')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Select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just the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'</a:t>
                      </a:r>
                      <a:r>
                        <a:rPr lang="en" sz="1100"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school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'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and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'</a:t>
                      </a:r>
                      <a:r>
                        <a:rPr lang="en" sz="1100"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admitted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'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columns.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df.select(pl.col(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school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 pl.col(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admitted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df.select(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school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admitted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school, admitted </a:t>
                      </a:r>
                      <a:b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the minimum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of the </a:t>
                      </a:r>
                      <a:r>
                        <a:rPr lang="en" sz="1100">
                          <a:latin typeface="Roboto Mono Light"/>
                          <a:ea typeface="Roboto Mono Light"/>
                          <a:cs typeface="Roboto Mono Light"/>
                          <a:sym typeface="Roboto Mono Light"/>
                        </a:rPr>
                        <a:t>'applied'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column.</a:t>
                      </a:r>
                      <a:endParaRPr b="1"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df['applied'].min()</a:t>
                      </a:r>
                      <a:endParaRPr sz="1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MIN(applied)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Sort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the dataset in ascending order by the 'applied' column.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</a:t>
                      </a: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.sort('applied', descending=False)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applied ASC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the number of rows in the dataset.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len(df)</a:t>
                      </a:r>
                      <a:r>
                        <a:rPr lang="en" sz="10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       </a:t>
                      </a:r>
                      <a:r>
                        <a:rPr i="1" lang="en" sz="10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OR</a:t>
                      </a:r>
                      <a:r>
                        <a:rPr lang="en" sz="10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         </a:t>
                      </a:r>
                      <a:r>
                        <a:rPr lang="en" sz="1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df.shape[0]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COUNT(*)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 a new column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with the application rate for each school.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 = df.with_columns(</a:t>
                      </a:r>
                      <a:endParaRPr sz="9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app_rate=pl.col('applied') / pl.col('grade_12')</a:t>
                      </a:r>
                      <a:endParaRPr sz="9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9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 </a:t>
                      </a:r>
                      <a:r>
                        <a:rPr i="1"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OR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 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 = df.with_columns(</a:t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(pl.col('applied') / pl.col('grade_12')).alias('app_rate')</a:t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applied / grade_12 AS app_rate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Filter</a:t>
                      </a: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data to rows where app_rate &lt;= 1.</a:t>
                      </a:r>
                      <a:endParaRPr b="1"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df_new</a:t>
                      </a: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df.filter(pl.col('app_rate') &lt;= 1)</a:t>
                      </a:r>
                      <a:endParaRPr sz="1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applied/grade_12 AS app_rate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 app_rate &lt;= 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Recap: </a:t>
            </a:r>
            <a:r>
              <a:rPr lang="en">
                <a:solidFill>
                  <a:schemeClr val="accent3"/>
                </a:solidFill>
              </a:rPr>
              <a:t>Learning</a:t>
            </a:r>
            <a:r>
              <a:rPr lang="en">
                <a:solidFill>
                  <a:schemeClr val="accent3"/>
                </a:solidFill>
              </a:rPr>
              <a:t> Polars and SQL</a:t>
            </a:r>
            <a:endParaRPr/>
          </a:p>
        </p:txBody>
      </p:sp>
      <p:sp>
        <p:nvSpPr>
          <p:cNvPr id="335" name="Google Shape;33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Interpreting Histograms</a:t>
            </a:r>
            <a:endParaRPr/>
          </a:p>
        </p:txBody>
      </p:sp>
      <p:sp>
        <p:nvSpPr>
          <p:cNvPr id="341" name="Google Shape;341;p57"/>
          <p:cNvSpPr txBox="1"/>
          <p:nvPr>
            <p:ph idx="1" type="body"/>
          </p:nvPr>
        </p:nvSpPr>
        <p:spPr>
          <a:xfrm>
            <a:off x="107050" y="402200"/>
            <a:ext cx="8520600" cy="14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mode</a:t>
            </a:r>
            <a:r>
              <a:rPr lang="en"/>
              <a:t> is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</a:t>
            </a:r>
            <a:r>
              <a:rPr lang="en"/>
              <a:t>st frequent value of a distribution.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distribution with one clear peak is called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unimodal</a:t>
            </a:r>
            <a:r>
              <a:rPr lang="en"/>
              <a:t>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peaks: bimodal.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More peaks: multimodal.</a:t>
            </a:r>
            <a:endParaRPr/>
          </a:p>
        </p:txBody>
      </p:sp>
      <p:sp>
        <p:nvSpPr>
          <p:cNvPr id="342" name="Google Shape;3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0" y="1895800"/>
            <a:ext cx="3782997" cy="276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900" y="1895788"/>
            <a:ext cx="4036699" cy="2766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57"/>
          <p:cNvCxnSpPr/>
          <p:nvPr/>
        </p:nvCxnSpPr>
        <p:spPr>
          <a:xfrm flipH="1">
            <a:off x="2032625" y="2281400"/>
            <a:ext cx="1068000" cy="17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57"/>
          <p:cNvSpPr txBox="1"/>
          <p:nvPr/>
        </p:nvSpPr>
        <p:spPr>
          <a:xfrm>
            <a:off x="3072650" y="2057600"/>
            <a:ext cx="15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Unimodal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347" name="Google Shape;347;p57"/>
          <p:cNvCxnSpPr/>
          <p:nvPr/>
        </p:nvCxnSpPr>
        <p:spPr>
          <a:xfrm rot="-5400000">
            <a:off x="6061350" y="1705900"/>
            <a:ext cx="705000" cy="508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8" name="Google Shape;348;p57"/>
          <p:cNvCxnSpPr/>
          <p:nvPr/>
        </p:nvCxnSpPr>
        <p:spPr>
          <a:xfrm flipH="1" rot="-5400000">
            <a:off x="6470875" y="2042850"/>
            <a:ext cx="912600" cy="10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57"/>
          <p:cNvSpPr txBox="1"/>
          <p:nvPr/>
        </p:nvSpPr>
        <p:spPr>
          <a:xfrm>
            <a:off x="6460675" y="12376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Bimodal?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pattern exist?</a:t>
            </a:r>
            <a:endParaRPr/>
          </a:p>
        </p:txBody>
      </p:sp>
      <p:sp>
        <p:nvSpPr>
          <p:cNvPr id="355" name="Google Shape;355;p58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7" name="Google Shape;35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122" y="1117950"/>
            <a:ext cx="4292375" cy="319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63" name="Google Shape;363;p5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364" name="Google Shape;364;p5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365" name="Google Shape;365;p59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Why is there so much variation in application rates across schools?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5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67" name="Google Shape;367;p5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68" name="Google Shape;368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69" name="Google Shape;369;p5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this pattern exist?</a:t>
            </a:r>
            <a:endParaRPr/>
          </a:p>
        </p:txBody>
      </p:sp>
      <p:sp>
        <p:nvSpPr>
          <p:cNvPr id="375" name="Google Shape;375;p60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60"/>
          <p:cNvSpPr txBox="1"/>
          <p:nvPr/>
        </p:nvSpPr>
        <p:spPr>
          <a:xfrm>
            <a:off x="291025" y="3672575"/>
            <a:ext cx="856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Lots of reasons. The decision to apply is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complex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Money, distance, academic resources, individual and family priorities … do we have this data?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037" y="950225"/>
            <a:ext cx="3516774" cy="26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4" name="Google Shape;3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75" y="152400"/>
            <a:ext cx="781534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82875" cy="460009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1" name="Google Shape;3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350" y="825800"/>
            <a:ext cx="4182874" cy="105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8250" y="3978628"/>
            <a:ext cx="5274201" cy="1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2"/>
          <p:cNvSpPr/>
          <p:nvPr/>
        </p:nvSpPr>
        <p:spPr>
          <a:xfrm>
            <a:off x="4937125" y="545625"/>
            <a:ext cx="2248800" cy="507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This is where we got the 12th grade count!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4" name="Google Shape;394;p62"/>
          <p:cNvSpPr/>
          <p:nvPr/>
        </p:nvSpPr>
        <p:spPr>
          <a:xfrm>
            <a:off x="6036750" y="1884450"/>
            <a:ext cx="2248800" cy="507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Proxy for average socioeconomic status.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5" name="Google Shape;395;p62"/>
          <p:cNvSpPr/>
          <p:nvPr/>
        </p:nvSpPr>
        <p:spPr>
          <a:xfrm>
            <a:off x="5838875" y="3182475"/>
            <a:ext cx="3093600" cy="1130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Latitude/longitude of each school → Calculate distance to Berkeley?</a:t>
            </a:r>
            <a:br>
              <a:rPr lang="en">
                <a:latin typeface="Roboto Light"/>
                <a:ea typeface="Roboto Light"/>
                <a:cs typeface="Roboto Light"/>
                <a:sym typeface="Roboto Light"/>
              </a:rPr>
            </a:b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Identify charter schools (i.e., more flexible/specialized)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96" name="Google Shape;396;p62" title="free_reduced_lunch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1625" y="2482100"/>
            <a:ext cx="5274199" cy="61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13" y="2396975"/>
            <a:ext cx="8758774" cy="2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in More New Data</a:t>
            </a:r>
            <a:endParaRPr/>
          </a:p>
        </p:txBody>
      </p:sp>
      <p:sp>
        <p:nvSpPr>
          <p:cNvPr id="403" name="Google Shape;403;p63"/>
          <p:cNvSpPr txBox="1"/>
          <p:nvPr>
            <p:ph idx="1" type="body"/>
          </p:nvPr>
        </p:nvSpPr>
        <p:spPr>
          <a:xfrm>
            <a:off x="107050" y="402200"/>
            <a:ext cx="8520600" cy="22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Join the UC admissions data to the expanded California public schools data. 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🧑‍💻 Personal project idea: Reproduce these joins from scratch. Download the raw data and talk to an LLM! </a:t>
            </a:r>
            <a:endParaRPr i="1"/>
          </a:p>
        </p:txBody>
      </p:sp>
      <p:sp>
        <p:nvSpPr>
          <p:cNvPr id="404" name="Google Shape;40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63"/>
          <p:cNvSpPr/>
          <p:nvPr/>
        </p:nvSpPr>
        <p:spPr>
          <a:xfrm>
            <a:off x="4798053" y="2319050"/>
            <a:ext cx="54300" cy="2216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Distances to UC Berkeley from each school</a:t>
            </a:r>
            <a:endParaRPr/>
          </a:p>
        </p:txBody>
      </p:sp>
      <p:sp>
        <p:nvSpPr>
          <p:cNvPr id="411" name="Google Shape;411;p64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variation in distance to UC Berkeley across schools?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13" name="Google Shape;413;p64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3116900"/>
                <a:gridCol w="5320750"/>
              </a:tblGrid>
              <a:tr h="1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boxplot of the values in dist_to_ucb.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sns.boxplot(df_new, x='dist_to_ucb')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414" name="Google Shape;41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500" y="861775"/>
            <a:ext cx="4125025" cy="34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0" name="Google Shape;420;p6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421" name="Google Shape;421;p6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422" name="Google Shape;422;p65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Here is the boxplot of dist_to_ucb_miles. Describe the shape of the histogram of dist_to_ucb_miles.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6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4" name="Google Shape;424;p6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25" name="Google Shape;425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426" name="Google Shape;426;p65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Boxplots and histograms are not interchangeable</a:t>
            </a:r>
            <a:endParaRPr/>
          </a:p>
        </p:txBody>
      </p:sp>
      <p:sp>
        <p:nvSpPr>
          <p:cNvPr id="432" name="Google Shape;432;p66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Boxplots cannot show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modality</a:t>
            </a:r>
            <a:r>
              <a:rPr lang="en"/>
              <a:t> </a:t>
            </a:r>
            <a:r>
              <a:rPr lang="en"/>
              <a:t>(i.e., number of peaks). But they are easier to glance at.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34" name="Google Shape;434;p66"/>
          <p:cNvGraphicFramePr/>
          <p:nvPr/>
        </p:nvGraphicFramePr>
        <p:xfrm>
          <a:off x="107050" y="455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3468725"/>
                <a:gridCol w="4968925"/>
              </a:tblGrid>
              <a:tr h="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/>
                </a:tc>
              </a:tr>
              <a:tr h="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histogram of the values in dist_to_ucb.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sns.histplot(df, x='dist_to_ucb')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/>
                </a:tc>
              </a:tr>
            </a:tbl>
          </a:graphicData>
        </a:graphic>
      </p:graphicFrame>
      <p:pic>
        <p:nvPicPr>
          <p:cNvPr id="435" name="Google Shape;43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350" y="1130062"/>
            <a:ext cx="3464650" cy="26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25" y="1130049"/>
            <a:ext cx="3128174" cy="25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bins → More detail</a:t>
            </a:r>
            <a:endParaRPr/>
          </a:p>
        </p:txBody>
      </p:sp>
      <p:sp>
        <p:nvSpPr>
          <p:cNvPr id="442" name="Google Shape;442;p67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more bins to see more detail.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44" name="Google Shape;444;p67"/>
          <p:cNvGraphicFramePr/>
          <p:nvPr/>
        </p:nvGraphicFramePr>
        <p:xfrm>
          <a:off x="128500" y="4479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4371500"/>
                <a:gridCol w="4066150"/>
              </a:tblGrid>
              <a:tr h="10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histogram of the values in dist_to_ucb, using 50 bins.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sns.histplot(df, x='dist_to_ucb', bins=50)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445" name="Google Shape;44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625" y="1079738"/>
            <a:ext cx="3616199" cy="274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350" y="1130062"/>
            <a:ext cx="3464650" cy="26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plots to real-world phenomena</a:t>
            </a:r>
            <a:endParaRPr/>
          </a:p>
        </p:txBody>
      </p:sp>
      <p:sp>
        <p:nvSpPr>
          <p:cNvPr id="452" name="Google Shape;45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68"/>
          <p:cNvSpPr txBox="1"/>
          <p:nvPr>
            <p:ph idx="1" type="body"/>
          </p:nvPr>
        </p:nvSpPr>
        <p:spPr>
          <a:xfrm>
            <a:off x="82850" y="3936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are there three peaks (i.e., three modes, or trimodal)?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25" y="1446425"/>
            <a:ext cx="3835874" cy="29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025" y="1200438"/>
            <a:ext cx="2675923" cy="32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2645" y="2542020"/>
            <a:ext cx="259200" cy="20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850" y="828250"/>
            <a:ext cx="1491150" cy="32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Connecting plots to real-world phenomena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9"/>
          <p:cNvSpPr txBox="1"/>
          <p:nvPr>
            <p:ph idx="1" type="body"/>
          </p:nvPr>
        </p:nvSpPr>
        <p:spPr>
          <a:xfrm>
            <a:off x="93150" y="399525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three population hubs in California: Bay Area, LA/Orange County, and San Diego.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65" name="Google Shape;465;p69"/>
          <p:cNvGraphicFramePr/>
          <p:nvPr/>
        </p:nvGraphicFramePr>
        <p:xfrm>
          <a:off x="156175" y="423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1733500"/>
                <a:gridCol w="3352075"/>
                <a:gridCol w="3352075"/>
              </a:tblGrid>
              <a:tr h="7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</a:t>
                      </a: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2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For each city, count the number of rows.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f['city']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.value_counts()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.sort('count', descending=True).head(10)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COUNT(*)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city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466" name="Google Shape;46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50" y="1046300"/>
            <a:ext cx="3652625" cy="276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3625" y="1046300"/>
            <a:ext cx="1950218" cy="23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5145" y="1980345"/>
            <a:ext cx="259200" cy="207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application rates</a:t>
            </a:r>
            <a:endParaRPr/>
          </a:p>
        </p:txBody>
      </p:sp>
      <p:sp>
        <p:nvSpPr>
          <p:cNvPr id="474" name="Google Shape;474;p70"/>
          <p:cNvSpPr txBox="1"/>
          <p:nvPr>
            <p:ph idx="1" type="body"/>
          </p:nvPr>
        </p:nvSpPr>
        <p:spPr>
          <a:xfrm>
            <a:off x="107050" y="402200"/>
            <a:ext cx="8810700" cy="45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there so much variation in application rates across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70"/>
          <p:cNvSpPr txBox="1"/>
          <p:nvPr/>
        </p:nvSpPr>
        <p:spPr>
          <a:xfrm>
            <a:off x="285475" y="3338675"/>
            <a:ext cx="8603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Lots of reasons. This is a hard issue.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Money, distance, academic resources, individual and family priorities, …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Starting point: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 application rates correlate with free reduced lunch (FRL) percentage?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7" name="Google Shape;47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25" y="875850"/>
            <a:ext cx="3110526" cy="23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questions about the admissions dataset</a:t>
            </a:r>
            <a:endParaRPr/>
          </a:p>
        </p:txBody>
      </p:sp>
      <p:sp>
        <p:nvSpPr>
          <p:cNvPr id="483" name="Google Shape;483;p71"/>
          <p:cNvSpPr txBox="1"/>
          <p:nvPr>
            <p:ph idx="1" type="body"/>
          </p:nvPr>
        </p:nvSpPr>
        <p:spPr>
          <a:xfrm>
            <a:off x="107050" y="550600"/>
            <a:ext cx="8520600" cy="4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Do you trust the data? How closely does it correspond to the truth?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 and inspection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Which schools have the highest application/admission/attendance rates?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Extremes.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>
                <a:solidFill>
                  <a:schemeClr val="dk2"/>
                </a:solidFill>
              </a:rPr>
              <a:t>How much do application/admission/attendance rates differ across schools? 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Distributions and variation.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How are distance from UC Berkeley, average socioeconomic status, free/reduced lunch percentage, and charter status related to the rates above?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Correlation.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More on this one next time!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Reminder: The (augmented) admissions dataset</a:t>
            </a:r>
            <a:endParaRPr/>
          </a:p>
        </p:txBody>
      </p:sp>
      <p:sp>
        <p:nvSpPr>
          <p:cNvPr id="490" name="Google Shape;49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1" name="Google Shape;49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13" y="1513250"/>
            <a:ext cx="8758774" cy="21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the driver, not the LLM</a:t>
            </a:r>
            <a:endParaRPr/>
          </a:p>
        </p:txBody>
      </p:sp>
      <p:sp>
        <p:nvSpPr>
          <p:cNvPr id="497" name="Google Shape;49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98" name="Google Shape;498;p73"/>
          <p:cNvGraphicFramePr/>
          <p:nvPr/>
        </p:nvGraphicFramePr>
        <p:xfrm>
          <a:off x="207125" y="404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3376600"/>
                <a:gridCol w="5144000"/>
              </a:tblGrid>
              <a:tr h="9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scatter plot with pct_free_reduced on the x-axis and app_rate on the y-axis, and add a red LOWESS line.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sns.regplot(df_new, x='pct_free_reduced', y='app_rate',\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lowess=True, line_kws={"color": "red"})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499" name="Google Shape;499;p73"/>
          <p:cNvSpPr txBox="1"/>
          <p:nvPr/>
        </p:nvSpPr>
        <p:spPr>
          <a:xfrm>
            <a:off x="4371300" y="1048300"/>
            <a:ext cx="4030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Do not let LLMs do the thinking for you.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You do the thinking, and then you can let an LLM help implement </a:t>
            </a:r>
            <a:r>
              <a:rPr lang="en" sz="16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your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ideas.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Cognitive offloading is becoming a huge problem: </a:t>
            </a:r>
            <a:r>
              <a:rPr i="1" lang="en" sz="1600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"Over four months, LLM users consistently underperformed at neural, linguistic, and behavioral levels."</a:t>
            </a:r>
            <a:endParaRPr i="1"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0" name="Google Shape;500;p73"/>
          <p:cNvSpPr txBox="1"/>
          <p:nvPr/>
        </p:nvSpPr>
        <p:spPr>
          <a:xfrm>
            <a:off x="634200" y="4789500"/>
            <a:ext cx="11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kws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" sz="11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k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ey</a:t>
            </a:r>
            <a:r>
              <a:rPr lang="en" sz="11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</a:t>
            </a:r>
            <a:r>
              <a:rPr lang="en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</a:t>
            </a:r>
            <a:r>
              <a:rPr lang="en" sz="11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</a:t>
            </a:r>
            <a:endParaRPr sz="1100" u="sng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01" name="Google Shape;50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975" y="732125"/>
            <a:ext cx="4066499" cy="3033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01" y="1075182"/>
            <a:ext cx="3938276" cy="293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LOWESS intuition</a:t>
            </a:r>
            <a:endParaRPr/>
          </a:p>
        </p:txBody>
      </p:sp>
      <p:sp>
        <p:nvSpPr>
          <p:cNvPr id="508" name="Google Shape;50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74"/>
          <p:cNvSpPr/>
          <p:nvPr/>
        </p:nvSpPr>
        <p:spPr>
          <a:xfrm>
            <a:off x="15694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0" name="Google Shape;510;p74"/>
          <p:cNvSpPr/>
          <p:nvPr/>
        </p:nvSpPr>
        <p:spPr>
          <a:xfrm>
            <a:off x="22267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1" name="Google Shape;511;p74"/>
          <p:cNvSpPr/>
          <p:nvPr/>
        </p:nvSpPr>
        <p:spPr>
          <a:xfrm>
            <a:off x="2884050" y="1097225"/>
            <a:ext cx="6807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2" name="Google Shape;512;p74"/>
          <p:cNvSpPr/>
          <p:nvPr/>
        </p:nvSpPr>
        <p:spPr>
          <a:xfrm>
            <a:off x="3564750" y="1097225"/>
            <a:ext cx="6807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3" name="Google Shape;513;p74"/>
          <p:cNvSpPr txBox="1"/>
          <p:nvPr/>
        </p:nvSpPr>
        <p:spPr>
          <a:xfrm>
            <a:off x="4727125" y="1020688"/>
            <a:ext cx="322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4" name="Google Shape;514;p74"/>
          <p:cNvSpPr/>
          <p:nvPr/>
        </p:nvSpPr>
        <p:spPr>
          <a:xfrm>
            <a:off x="9121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5" name="Google Shape;515;p74"/>
          <p:cNvSpPr txBox="1"/>
          <p:nvPr/>
        </p:nvSpPr>
        <p:spPr>
          <a:xfrm>
            <a:off x="4580275" y="1164225"/>
            <a:ext cx="3522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You can think of LOWESS as finding the average of all points within each "bin" of the data, and then connecting the dots.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rPr>
              <a:t>[ This is an over-simplification. ]</a:t>
            </a:r>
            <a:endParaRPr sz="1600">
              <a:solidFill>
                <a:srgbClr val="88888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88888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Should every point in this plot equally influence the shape of the line?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6" name="Google Shape;516;p74"/>
          <p:cNvSpPr/>
          <p:nvPr/>
        </p:nvSpPr>
        <p:spPr>
          <a:xfrm>
            <a:off x="1243525" y="273867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7" name="Google Shape;517;p74"/>
          <p:cNvSpPr/>
          <p:nvPr/>
        </p:nvSpPr>
        <p:spPr>
          <a:xfrm>
            <a:off x="1870100" y="304107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8" name="Google Shape;518;p74"/>
          <p:cNvSpPr/>
          <p:nvPr/>
        </p:nvSpPr>
        <p:spPr>
          <a:xfrm>
            <a:off x="2509050" y="3222500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9" name="Google Shape;519;p74"/>
          <p:cNvSpPr/>
          <p:nvPr/>
        </p:nvSpPr>
        <p:spPr>
          <a:xfrm>
            <a:off x="3166350" y="3244250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0" name="Google Shape;520;p74"/>
          <p:cNvSpPr/>
          <p:nvPr/>
        </p:nvSpPr>
        <p:spPr>
          <a:xfrm>
            <a:off x="3847050" y="319342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Weights of data points</a:t>
            </a:r>
            <a:endParaRPr/>
          </a:p>
        </p:txBody>
      </p:sp>
      <p:sp>
        <p:nvSpPr>
          <p:cNvPr id="526" name="Google Shape;526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75"/>
          <p:cNvSpPr txBox="1"/>
          <p:nvPr/>
        </p:nvSpPr>
        <p:spPr>
          <a:xfrm>
            <a:off x="232250" y="597175"/>
            <a:ext cx="799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Should every data point contribute equally to the LOWESS line?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8" name="Google Shape;528;p75"/>
          <p:cNvSpPr txBox="1"/>
          <p:nvPr/>
        </p:nvSpPr>
        <p:spPr>
          <a:xfrm>
            <a:off x="4572000" y="1313900"/>
            <a:ext cx="3621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Probably not.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Some schools have many more students than other schools.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Bigger schools should have greater weight than smaller schools.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29" name="Google Shape;52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01" y="1075182"/>
            <a:ext cx="3938276" cy="293789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75"/>
          <p:cNvSpPr/>
          <p:nvPr/>
        </p:nvSpPr>
        <p:spPr>
          <a:xfrm>
            <a:off x="15694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1" name="Google Shape;531;p75"/>
          <p:cNvSpPr/>
          <p:nvPr/>
        </p:nvSpPr>
        <p:spPr>
          <a:xfrm>
            <a:off x="22267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2" name="Google Shape;532;p75"/>
          <p:cNvSpPr/>
          <p:nvPr/>
        </p:nvSpPr>
        <p:spPr>
          <a:xfrm>
            <a:off x="2884050" y="1097225"/>
            <a:ext cx="6807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3" name="Google Shape;533;p75"/>
          <p:cNvSpPr/>
          <p:nvPr/>
        </p:nvSpPr>
        <p:spPr>
          <a:xfrm>
            <a:off x="3564750" y="1097225"/>
            <a:ext cx="6807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4" name="Google Shape;534;p75"/>
          <p:cNvSpPr/>
          <p:nvPr/>
        </p:nvSpPr>
        <p:spPr>
          <a:xfrm>
            <a:off x="912150" y="1097225"/>
            <a:ext cx="657300" cy="258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5" name="Google Shape;535;p75"/>
          <p:cNvSpPr/>
          <p:nvPr/>
        </p:nvSpPr>
        <p:spPr>
          <a:xfrm>
            <a:off x="1243525" y="273867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6" name="Google Shape;536;p75"/>
          <p:cNvSpPr/>
          <p:nvPr/>
        </p:nvSpPr>
        <p:spPr>
          <a:xfrm>
            <a:off x="1870100" y="304107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7" name="Google Shape;537;p75"/>
          <p:cNvSpPr/>
          <p:nvPr/>
        </p:nvSpPr>
        <p:spPr>
          <a:xfrm>
            <a:off x="2509050" y="3222500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8" name="Google Shape;538;p75"/>
          <p:cNvSpPr/>
          <p:nvPr/>
        </p:nvSpPr>
        <p:spPr>
          <a:xfrm>
            <a:off x="3166350" y="3244250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9" name="Google Shape;539;p75"/>
          <p:cNvSpPr/>
          <p:nvPr/>
        </p:nvSpPr>
        <p:spPr>
          <a:xfrm>
            <a:off x="3847050" y="3193425"/>
            <a:ext cx="116100" cy="125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0" name="Google Shape;540;p75"/>
          <p:cNvSpPr txBox="1"/>
          <p:nvPr/>
        </p:nvSpPr>
        <p:spPr>
          <a:xfrm>
            <a:off x="496025" y="4783825"/>
            <a:ext cx="790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Note: We would have to use more specialized tools than Seaborn to introduce different weights to LOWESS.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6" name="Google Shape;546;p7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547" name="Google Shape;547;p76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should be our choice of weight for each data point?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7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9" name="Google Shape;549;p7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50" name="Google Shape;5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551" name="Google Shape;551;p7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552" name="Google Shape;552;p76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each plot communicate?</a:t>
            </a:r>
            <a:endParaRPr/>
          </a:p>
        </p:txBody>
      </p:sp>
      <p:pic>
        <p:nvPicPr>
          <p:cNvPr id="559" name="Google Shape;55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900" y="507850"/>
            <a:ext cx="2870401" cy="21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024" y="507850"/>
            <a:ext cx="2825465" cy="21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00" y="2706088"/>
            <a:ext cx="2820838" cy="215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1150" y="2706100"/>
            <a:ext cx="2833920" cy="215642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7"/>
          <p:cNvSpPr txBox="1"/>
          <p:nvPr/>
        </p:nvSpPr>
        <p:spPr>
          <a:xfrm>
            <a:off x="2392400" y="73542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4" name="Google Shape;564;p77"/>
          <p:cNvSpPr txBox="1"/>
          <p:nvPr/>
        </p:nvSpPr>
        <p:spPr>
          <a:xfrm>
            <a:off x="2075175" y="283817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5" name="Google Shape;565;p77"/>
          <p:cNvSpPr txBox="1"/>
          <p:nvPr/>
        </p:nvSpPr>
        <p:spPr>
          <a:xfrm>
            <a:off x="5277400" y="62582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6" name="Google Shape;566;p77"/>
          <p:cNvSpPr txBox="1"/>
          <p:nvPr/>
        </p:nvSpPr>
        <p:spPr>
          <a:xfrm>
            <a:off x="5332650" y="283817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7" name="Google Shape;567;p77"/>
          <p:cNvSpPr txBox="1"/>
          <p:nvPr/>
        </p:nvSpPr>
        <p:spPr>
          <a:xfrm>
            <a:off x="6253050" y="884575"/>
            <a:ext cx="270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- Misleading. The schools towards the top right are actually quite small!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8" name="Google Shape;568;p77"/>
          <p:cNvSpPr txBox="1"/>
          <p:nvPr/>
        </p:nvSpPr>
        <p:spPr>
          <a:xfrm>
            <a:off x="6139500" y="2007875"/>
            <a:ext cx="300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B/C - Mostly identical to each other. Differences from dropout rates and # grades offered.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9" name="Google Shape;569;p77"/>
          <p:cNvSpPr txBox="1"/>
          <p:nvPr/>
        </p:nvSpPr>
        <p:spPr>
          <a:xfrm>
            <a:off x="6200250" y="3131150"/>
            <a:ext cx="2820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 - Somewhat redundant with y-axis. Schools with low app_rate will have lower counts of students who applied.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5" name="Google Shape;575;p7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576" name="Google Shape;576;p78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plot is better?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7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8" name="Google Shape;578;p7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79" name="Google Shape;57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580" name="Google Shape;580;p7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581" name="Google Shape;581;p7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 stand!</a:t>
            </a:r>
            <a:endParaRPr/>
          </a:p>
        </p:txBody>
      </p:sp>
      <p:sp>
        <p:nvSpPr>
          <p:cNvPr id="587" name="Google Shape;587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9"/>
          <p:cNvSpPr txBox="1"/>
          <p:nvPr/>
        </p:nvSpPr>
        <p:spPr>
          <a:xfrm>
            <a:off x="232250" y="597175"/>
            <a:ext cx="799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Which plot is "better"?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9" name="Google Shape;589;p79"/>
          <p:cNvSpPr txBox="1"/>
          <p:nvPr/>
        </p:nvSpPr>
        <p:spPr>
          <a:xfrm>
            <a:off x="232250" y="3986125"/>
            <a:ext cx="828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Depends on what you're trying to communicate. Do you want to know where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possible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applicants exist, or do you want to know where most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applicants come from?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90" name="Google Shape;59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124" y="1335875"/>
            <a:ext cx="2825465" cy="21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425" y="1335875"/>
            <a:ext cx="2833920" cy="2156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9"/>
          <p:cNvSpPr txBox="1"/>
          <p:nvPr/>
        </p:nvSpPr>
        <p:spPr>
          <a:xfrm>
            <a:off x="3411925" y="147027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3" name="Google Shape;593;p79"/>
          <p:cNvSpPr txBox="1"/>
          <p:nvPr/>
        </p:nvSpPr>
        <p:spPr>
          <a:xfrm>
            <a:off x="6490300" y="1470275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75" y="928825"/>
            <a:ext cx="3442031" cy="2620637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Scatterplot sized by a third variable</a:t>
            </a:r>
            <a:endParaRPr/>
          </a:p>
        </p:txBody>
      </p:sp>
      <p:sp>
        <p:nvSpPr>
          <p:cNvPr id="600" name="Google Shape;600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01" name="Google Shape;601;p80"/>
          <p:cNvGraphicFramePr/>
          <p:nvPr/>
        </p:nvGraphicFramePr>
        <p:xfrm>
          <a:off x="349850" y="395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2819225"/>
                <a:gridCol w="5451525"/>
              </a:tblGrid>
              <a:tr h="1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scatter plot with pct_free_reduced on the x-axis and app_rate on the y-axis, with points sized by 12th grade enrollment.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sns.scatterplot(df_new, x='pct_free_reduced', y='app_rate',  size='grade_12')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602" name="Google Shape;602;p80"/>
          <p:cNvSpPr txBox="1"/>
          <p:nvPr/>
        </p:nvSpPr>
        <p:spPr>
          <a:xfrm>
            <a:off x="4133425" y="1275838"/>
            <a:ext cx="4417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One logical possibility is to resize the points by the number of "potential" applicants.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There is no correct answer here. This decision is yours to make as the storyteller!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Scatterplot sized by a third variable</a:t>
            </a:r>
            <a:endParaRPr/>
          </a:p>
        </p:txBody>
      </p:sp>
      <p:sp>
        <p:nvSpPr>
          <p:cNvPr id="608" name="Google Shape;608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09" name="Google Shape;609;p81"/>
          <p:cNvGraphicFramePr/>
          <p:nvPr/>
        </p:nvGraphicFramePr>
        <p:xfrm>
          <a:off x="349850" y="3953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2819225"/>
                <a:gridCol w="5451525"/>
              </a:tblGrid>
              <a:tr h="1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English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0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Make a scatter plot with pct_free_reduced on the x-axis and app_rate on the y-axis, with points sized by 12th grade enrollment.</a:t>
                      </a:r>
                      <a:endParaRPr sz="12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sns.scatterplot(df_new, x='pct_free_reduced', y='app_rate',  size='grade_12',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sizes=(1,100)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610" name="Google Shape;610;p81"/>
          <p:cNvSpPr txBox="1"/>
          <p:nvPr/>
        </p:nvSpPr>
        <p:spPr>
          <a:xfrm>
            <a:off x="4102800" y="1536838"/>
            <a:ext cx="4417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It can be helpful to play with different sizings.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 had to ask an LLM what the argument was for modifying the range of sizes!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11" name="Google Shape;6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25" y="883575"/>
            <a:ext cx="3509475" cy="26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you picking the same five schools?</a:t>
            </a:r>
            <a:endParaRPr/>
          </a:p>
        </p:txBody>
      </p:sp>
      <p:sp>
        <p:nvSpPr>
          <p:cNvPr id="617" name="Google Shape;61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550" y="1674175"/>
            <a:ext cx="3778899" cy="28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2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20" name="Google Shape;620;p82"/>
          <p:cNvGrpSpPr/>
          <p:nvPr/>
        </p:nvGrpSpPr>
        <p:grpSpPr>
          <a:xfrm>
            <a:off x="408975" y="1489225"/>
            <a:ext cx="3823425" cy="3009151"/>
            <a:chOff x="420025" y="1254500"/>
            <a:chExt cx="3823425" cy="3009151"/>
          </a:xfrm>
        </p:grpSpPr>
        <p:pic>
          <p:nvPicPr>
            <p:cNvPr id="621" name="Google Shape;621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0025" y="1449000"/>
              <a:ext cx="3746574" cy="2814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2" name="Google Shape;622;p82"/>
            <p:cNvGrpSpPr/>
            <p:nvPr/>
          </p:nvGrpSpPr>
          <p:grpSpPr>
            <a:xfrm>
              <a:off x="525875" y="1254500"/>
              <a:ext cx="3717575" cy="2842575"/>
              <a:chOff x="2601850" y="550925"/>
              <a:chExt cx="3717575" cy="2842575"/>
            </a:xfrm>
          </p:grpSpPr>
          <p:cxnSp>
            <p:nvCxnSpPr>
              <p:cNvPr id="623" name="Google Shape;623;p82"/>
              <p:cNvCxnSpPr/>
              <p:nvPr/>
            </p:nvCxnSpPr>
            <p:spPr>
              <a:xfrm flipH="1">
                <a:off x="4365625" y="550925"/>
                <a:ext cx="361200" cy="27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4" name="Google Shape;624;p82"/>
              <p:cNvCxnSpPr/>
              <p:nvPr/>
            </p:nvCxnSpPr>
            <p:spPr>
              <a:xfrm>
                <a:off x="2601850" y="1050925"/>
                <a:ext cx="375000" cy="1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5" name="Google Shape;625;p82"/>
              <p:cNvCxnSpPr/>
              <p:nvPr/>
            </p:nvCxnSpPr>
            <p:spPr>
              <a:xfrm flipH="1" rot="10800000">
                <a:off x="2694425" y="3013100"/>
                <a:ext cx="621900" cy="380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6" name="Google Shape;626;p82"/>
              <p:cNvCxnSpPr/>
              <p:nvPr/>
            </p:nvCxnSpPr>
            <p:spPr>
              <a:xfrm flipH="1">
                <a:off x="5999925" y="1625000"/>
                <a:ext cx="319500" cy="10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27" name="Google Shape;627;p82"/>
              <p:cNvCxnSpPr/>
              <p:nvPr/>
            </p:nvCxnSpPr>
            <p:spPr>
              <a:xfrm flipH="1">
                <a:off x="5059700" y="1050925"/>
                <a:ext cx="361200" cy="27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628" name="Google Shape;628;p82"/>
          <p:cNvSpPr txBox="1"/>
          <p:nvPr/>
        </p:nvSpPr>
        <p:spPr>
          <a:xfrm>
            <a:off x="585700" y="4663225"/>
            <a:ext cx="814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If we're trying to impact the most students, perhaps we should stick to larger schools?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29" name="Google Shape;629;p82"/>
          <p:cNvGrpSpPr/>
          <p:nvPr/>
        </p:nvGrpSpPr>
        <p:grpSpPr>
          <a:xfrm>
            <a:off x="4609825" y="2000675"/>
            <a:ext cx="3854625" cy="2345400"/>
            <a:chOff x="4609825" y="2000675"/>
            <a:chExt cx="3854625" cy="2345400"/>
          </a:xfrm>
        </p:grpSpPr>
        <p:cxnSp>
          <p:nvCxnSpPr>
            <p:cNvPr id="630" name="Google Shape;630;p82"/>
            <p:cNvCxnSpPr/>
            <p:nvPr/>
          </p:nvCxnSpPr>
          <p:spPr>
            <a:xfrm flipH="1">
              <a:off x="7845550" y="2840475"/>
              <a:ext cx="618900" cy="32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1" name="Google Shape;631;p82"/>
            <p:cNvCxnSpPr/>
            <p:nvPr/>
          </p:nvCxnSpPr>
          <p:spPr>
            <a:xfrm flipH="1">
              <a:off x="6218875" y="2245650"/>
              <a:ext cx="618900" cy="32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2" name="Google Shape;632;p82"/>
            <p:cNvCxnSpPr/>
            <p:nvPr/>
          </p:nvCxnSpPr>
          <p:spPr>
            <a:xfrm>
              <a:off x="4762650" y="2000675"/>
              <a:ext cx="445500" cy="2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3" name="Google Shape;633;p82"/>
            <p:cNvCxnSpPr/>
            <p:nvPr/>
          </p:nvCxnSpPr>
          <p:spPr>
            <a:xfrm flipH="1" rot="10800000">
              <a:off x="4833125" y="3965675"/>
              <a:ext cx="6219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4" name="Google Shape;634;p82"/>
            <p:cNvCxnSpPr/>
            <p:nvPr/>
          </p:nvCxnSpPr>
          <p:spPr>
            <a:xfrm flipH="1" rot="10800000">
              <a:off x="4609825" y="3670525"/>
              <a:ext cx="6219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0" name="Google Shape;640;p8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641" name="Google Shape;641;p8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642" name="Google Shape;642;p83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Write polars code that adds a new column to df with the number of 12th graders receiving free/reduced price lunch. Could your calculation be wrong? If so, how and why?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8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4" name="Google Shape;644;p8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645" name="Google Shape;645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646" name="Google Shape;646;p8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the number of 12th graders with free/reduced price lunch</a:t>
            </a:r>
            <a:endParaRPr/>
          </a:p>
        </p:txBody>
      </p:sp>
      <p:sp>
        <p:nvSpPr>
          <p:cNvPr id="652" name="Google Shape;65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84"/>
          <p:cNvSpPr txBox="1"/>
          <p:nvPr/>
        </p:nvSpPr>
        <p:spPr>
          <a:xfrm>
            <a:off x="163550" y="2462194"/>
            <a:ext cx="881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df_new = df_new.with_columns(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(pl.col(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'pct_frl') * pl.col('grade_12')).cast(int).alias('num_frl_12th')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we done?</a:t>
            </a:r>
            <a:endParaRPr/>
          </a:p>
        </p:txBody>
      </p:sp>
      <p:sp>
        <p:nvSpPr>
          <p:cNvPr id="659" name="Google Shape;659;p85"/>
          <p:cNvSpPr txBox="1"/>
          <p:nvPr>
            <p:ph idx="1" type="body"/>
          </p:nvPr>
        </p:nvSpPr>
        <p:spPr>
          <a:xfrm>
            <a:off x="107050" y="1249275"/>
            <a:ext cx="8520600" cy="25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a new answer, but it's still not the best we can do.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haven't defined "typical patterns", and we haven't addressed admission or attendance.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should spend some time understanding broad patterns in all three outcomes.</a:t>
            </a:r>
            <a:endParaRPr/>
          </a:p>
        </p:txBody>
      </p:sp>
      <p:sp>
        <p:nvSpPr>
          <p:cNvPr id="660" name="Google Shape;660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85"/>
          <p:cNvSpPr txBox="1"/>
          <p:nvPr/>
        </p:nvSpPr>
        <p:spPr>
          <a:xfrm>
            <a:off x="193900" y="536175"/>
            <a:ext cx="834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Task: Your manager asks you to identify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California public high schools that 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Roboto"/>
                <a:ea typeface="Roboto"/>
                <a:cs typeface="Roboto"/>
                <a:sym typeface="Roboto"/>
              </a:rPr>
              <a:t>defy typical patterns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Roboto Light"/>
                <a:ea typeface="Roboto Light"/>
                <a:cs typeface="Roboto Light"/>
                <a:sym typeface="Roboto Light"/>
              </a:rPr>
              <a:t> of application, admission, and/or attendance.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7" name="Google Shape;667;p8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668" name="Google Shape;668;p86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plot is better?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8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0" name="Google Shape;670;p8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671" name="Google Shape;67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672" name="Google Shape;672;p8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673" name="Google Shape;673;p86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Summarizing patterns</a:t>
            </a:r>
            <a:endParaRPr/>
          </a:p>
        </p:txBody>
      </p:sp>
      <p:sp>
        <p:nvSpPr>
          <p:cNvPr id="679" name="Google Shape;679;p8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Depending on the audience, we may or may not want to show every data point.</a:t>
            </a:r>
            <a:endParaRPr/>
          </a:p>
        </p:txBody>
      </p:sp>
      <p:sp>
        <p:nvSpPr>
          <p:cNvPr id="680" name="Google Shape;680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1" name="Google Shape;68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00" y="970400"/>
            <a:ext cx="3533325" cy="269667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7"/>
          <p:cNvSpPr txBox="1"/>
          <p:nvPr/>
        </p:nvSpPr>
        <p:spPr>
          <a:xfrm>
            <a:off x="88150" y="4370925"/>
            <a:ext cx="85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Note: The 0–25 frl_percentile bin consists of the 25% of schools with the lowest values of pct_free_reduced. </a:t>
            </a:r>
            <a:b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It is </a:t>
            </a:r>
            <a:r>
              <a:rPr lang="en" sz="12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</a:t>
            </a: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all schools where 0 &lt; pct_free_reduced &lt; 0.25.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83" name="Google Shape;683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325" y="931725"/>
            <a:ext cx="3849920" cy="27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87"/>
          <p:cNvSpPr txBox="1"/>
          <p:nvPr/>
        </p:nvSpPr>
        <p:spPr>
          <a:xfrm>
            <a:off x="2704975" y="1119950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5" name="Google Shape;685;p87"/>
          <p:cNvSpPr txBox="1"/>
          <p:nvPr/>
        </p:nvSpPr>
        <p:spPr>
          <a:xfrm>
            <a:off x="7095675" y="1119950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6" name="Google Shape;686;p87"/>
          <p:cNvSpPr txBox="1"/>
          <p:nvPr/>
        </p:nvSpPr>
        <p:spPr>
          <a:xfrm>
            <a:off x="215500" y="3857100"/>
            <a:ext cx="838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Another nice option: Make the points nearly transparent and overlay a bold curve on top!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Tidy data</a:t>
            </a:r>
            <a:endParaRPr/>
          </a:p>
        </p:txBody>
      </p:sp>
      <p:sp>
        <p:nvSpPr>
          <p:cNvPr id="692" name="Google Shape;692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88"/>
          <p:cNvSpPr txBox="1"/>
          <p:nvPr/>
        </p:nvSpPr>
        <p:spPr>
          <a:xfrm>
            <a:off x="4784900" y="873713"/>
            <a:ext cx="308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What data is needed to make this plot?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Tidy data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Each row represents one data point in the plot.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There are 4 points in the plot. 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So, 4 rows are needed.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Each point has 2 features: frl_percentile and avg_app_rate.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So, we need 2 columns.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94" name="Google Shape;694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50" y="1033250"/>
            <a:ext cx="3849920" cy="2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Tidy data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01" name="Google Shape;701;p89"/>
          <p:cNvGraphicFramePr/>
          <p:nvPr/>
        </p:nvGraphicFramePr>
        <p:xfrm>
          <a:off x="5133075" y="126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{7AB9B084-964A-44C9-96E6-E94D14E253E6}</a:tableStyleId>
              </a:tblPr>
              <a:tblGrid>
                <a:gridCol w="1464400"/>
                <a:gridCol w="146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2" name="Google Shape;702;p89"/>
          <p:cNvSpPr txBox="1"/>
          <p:nvPr/>
        </p:nvSpPr>
        <p:spPr>
          <a:xfrm>
            <a:off x="5133075" y="3409325"/>
            <a:ext cx="298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How do we generate this data?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03" name="Google Shape;70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50" y="1033250"/>
            <a:ext cx="3849920" cy="2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Writing visualization code with Seaborn</a:t>
            </a:r>
            <a:endParaRPr/>
          </a:p>
        </p:txBody>
      </p:sp>
      <p:sp>
        <p:nvSpPr>
          <p:cNvPr id="709" name="Google Shape;70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p90"/>
          <p:cNvSpPr txBox="1"/>
          <p:nvPr/>
        </p:nvSpPr>
        <p:spPr>
          <a:xfrm>
            <a:off x="163550" y="2462194"/>
            <a:ext cx="881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sns.scatterplot(df_new, x='pct_frl', y='app_rate', size='grade_12', ...)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1" name="Google Shape;711;p90"/>
          <p:cNvSpPr/>
          <p:nvPr/>
        </p:nvSpPr>
        <p:spPr>
          <a:xfrm>
            <a:off x="711425" y="2524744"/>
            <a:ext cx="1226700" cy="327000"/>
          </a:xfrm>
          <a:prstGeom prst="roundRect">
            <a:avLst>
              <a:gd fmla="val 16667" name="adj"/>
            </a:avLst>
          </a:prstGeom>
          <a:solidFill>
            <a:srgbClr val="C9DAF8">
              <a:alpha val="70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2" name="Google Shape;712;p90"/>
          <p:cNvSpPr txBox="1"/>
          <p:nvPr/>
        </p:nvSpPr>
        <p:spPr>
          <a:xfrm>
            <a:off x="336200" y="993950"/>
            <a:ext cx="341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Plotting function goes here: </a:t>
            </a:r>
            <a:r>
              <a:rPr lang="en" sz="1800">
                <a:solidFill>
                  <a:schemeClr val="accent3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scatterplot, lineplot, histplot</a:t>
            </a:r>
            <a:r>
              <a:rPr lang="en" sz="1800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, etc.</a:t>
            </a:r>
            <a:endParaRPr sz="1800"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13" name="Google Shape;713;p90"/>
          <p:cNvCxnSpPr>
            <a:endCxn id="711" idx="0"/>
          </p:cNvCxnSpPr>
          <p:nvPr/>
        </p:nvCxnSpPr>
        <p:spPr>
          <a:xfrm flipH="1">
            <a:off x="1324775" y="2009944"/>
            <a:ext cx="236100" cy="514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90"/>
          <p:cNvSpPr/>
          <p:nvPr/>
        </p:nvSpPr>
        <p:spPr>
          <a:xfrm>
            <a:off x="2041350" y="2524744"/>
            <a:ext cx="698100" cy="327000"/>
          </a:xfrm>
          <a:prstGeom prst="roundRect">
            <a:avLst>
              <a:gd fmla="val 16667" name="adj"/>
            </a:avLst>
          </a:prstGeom>
          <a:solidFill>
            <a:srgbClr val="FCE5CD">
              <a:alpha val="7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5" name="Google Shape;715;p90"/>
          <p:cNvSpPr txBox="1"/>
          <p:nvPr/>
        </p:nvSpPr>
        <p:spPr>
          <a:xfrm>
            <a:off x="443625" y="3082050"/>
            <a:ext cx="29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Your dataframe goes here</a:t>
            </a:r>
            <a:endParaRPr sz="18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16" name="Google Shape;716;p90"/>
          <p:cNvCxnSpPr>
            <a:endCxn id="715" idx="0"/>
          </p:cNvCxnSpPr>
          <p:nvPr/>
        </p:nvCxnSpPr>
        <p:spPr>
          <a:xfrm flipH="1">
            <a:off x="1925475" y="2851650"/>
            <a:ext cx="556500" cy="230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90"/>
          <p:cNvSpPr/>
          <p:nvPr/>
        </p:nvSpPr>
        <p:spPr>
          <a:xfrm>
            <a:off x="2943250" y="2524750"/>
            <a:ext cx="4710000" cy="327000"/>
          </a:xfrm>
          <a:prstGeom prst="roundRect">
            <a:avLst>
              <a:gd fmla="val 16667" name="adj"/>
            </a:avLst>
          </a:prstGeom>
          <a:solidFill>
            <a:srgbClr val="D9EAD3">
              <a:alpha val="7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8" name="Google Shape;718;p90"/>
          <p:cNvSpPr txBox="1"/>
          <p:nvPr/>
        </p:nvSpPr>
        <p:spPr>
          <a:xfrm>
            <a:off x="4500850" y="3513150"/>
            <a:ext cx="315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98038"/>
                </a:solidFill>
                <a:latin typeface="Roboto Light"/>
                <a:ea typeface="Roboto Light"/>
                <a:cs typeface="Roboto Light"/>
                <a:sym typeface="Roboto Light"/>
              </a:rPr>
              <a:t>Columns with information for </a:t>
            </a:r>
            <a:r>
              <a:rPr lang="en" sz="1800">
                <a:solidFill>
                  <a:srgbClr val="198038"/>
                </a:solidFill>
                <a:latin typeface="Roboto Light"/>
                <a:ea typeface="Roboto Light"/>
                <a:cs typeface="Roboto Light"/>
                <a:sym typeface="Roboto Light"/>
              </a:rPr>
              <a:t>x</a:t>
            </a:r>
            <a:r>
              <a:rPr lang="en" sz="1800">
                <a:solidFill>
                  <a:srgbClr val="198038"/>
                </a:solidFill>
                <a:latin typeface="Roboto Light"/>
                <a:ea typeface="Roboto Light"/>
                <a:cs typeface="Roboto Light"/>
                <a:sym typeface="Roboto Light"/>
              </a:rPr>
              <a:t>, y, color, size, etc. go here</a:t>
            </a:r>
            <a:endParaRPr sz="1800">
              <a:solidFill>
                <a:srgbClr val="198038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19" name="Google Shape;719;p90"/>
          <p:cNvCxnSpPr>
            <a:stCxn id="717" idx="2"/>
            <a:endCxn id="718" idx="0"/>
          </p:cNvCxnSpPr>
          <p:nvPr/>
        </p:nvCxnSpPr>
        <p:spPr>
          <a:xfrm>
            <a:off x="5298250" y="2851750"/>
            <a:ext cx="778800" cy="661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90"/>
          <p:cNvSpPr txBox="1"/>
          <p:nvPr/>
        </p:nvSpPr>
        <p:spPr>
          <a:xfrm>
            <a:off x="5422075" y="993950"/>
            <a:ext cx="315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Extra formatting arguments go here: this is look-it-up or ask-an-LLM territory!</a:t>
            </a:r>
            <a:endParaRPr i="1"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21" name="Google Shape;721;p90"/>
          <p:cNvCxnSpPr/>
          <p:nvPr/>
        </p:nvCxnSpPr>
        <p:spPr>
          <a:xfrm>
            <a:off x="7548625" y="1895175"/>
            <a:ext cx="342900" cy="5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Operations So Far</a:t>
            </a:r>
            <a:endParaRPr/>
          </a:p>
        </p:txBody>
      </p:sp>
      <p:sp>
        <p:nvSpPr>
          <p:cNvPr id="727" name="Google Shape;727;p91"/>
          <p:cNvSpPr txBox="1"/>
          <p:nvPr>
            <p:ph idx="1" type="body"/>
          </p:nvPr>
        </p:nvSpPr>
        <p:spPr>
          <a:xfrm>
            <a:off x="91100" y="393600"/>
            <a:ext cx="8520600" cy="4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</a:t>
            </a:r>
            <a:r>
              <a:rPr lang="en">
                <a:solidFill>
                  <a:schemeClr val="dk2"/>
                </a:solidFill>
              </a:rPr>
              <a:t> a preview of a dataframe.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</a:t>
            </a:r>
            <a:r>
              <a:rPr lang="en">
                <a:solidFill>
                  <a:schemeClr val="dk2"/>
                </a:solidFill>
              </a:rPr>
              <a:t> specific columns.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en">
                <a:solidFill>
                  <a:schemeClr val="dk2"/>
                </a:solidFill>
              </a:rPr>
              <a:t> new columns.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Filter</a:t>
            </a:r>
            <a:r>
              <a:rPr lang="en">
                <a:solidFill>
                  <a:schemeClr val="dk2"/>
                </a:solidFill>
              </a:rPr>
              <a:t> to specific rows.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lang="en">
                <a:solidFill>
                  <a:schemeClr val="dk2"/>
                </a:solidFill>
              </a:rPr>
              <a:t> the data by the values in a column.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Calculate</a:t>
            </a:r>
            <a:r>
              <a:rPr lang="en"/>
              <a:t> summary statistics for one or more columns.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Visualize 1D</a:t>
            </a:r>
            <a:r>
              <a:rPr lang="en"/>
              <a:t> (one dimensional) data with a boxplot or histogram.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Visualize 2D</a:t>
            </a:r>
            <a:r>
              <a:rPr lang="en"/>
              <a:t> data with a scatterplot or lineplot.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Group</a:t>
            </a:r>
            <a:r>
              <a:rPr lang="en"/>
              <a:t> by some variable, and then do something (most often,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aggregate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English: 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 unique value</a:t>
            </a:r>
            <a:r>
              <a:rPr lang="en"/>
              <a:t> of COLUMN(S), do SOMETHING."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🧙 Grouping and visualizing → Majority of EDA with tabular data!</a:t>
            </a:r>
            <a:endParaRPr/>
          </a:p>
        </p:txBody>
      </p:sp>
      <p:sp>
        <p:nvSpPr>
          <p:cNvPr id="728" name="Google Shape;728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Split-Apply-Combine Paradigm</a:t>
            </a:r>
            <a:endParaRPr/>
          </a:p>
        </p:txBody>
      </p:sp>
      <p:sp>
        <p:nvSpPr>
          <p:cNvPr id="734" name="Google Shape;734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5" name="Google Shape;735;p92"/>
          <p:cNvPicPr preferRelativeResize="0"/>
          <p:nvPr/>
        </p:nvPicPr>
        <p:blipFill rotWithShape="1">
          <a:blip r:embed="rId3">
            <a:alphaModFix/>
          </a:blip>
          <a:srcRect b="0" l="0" r="86893" t="9560"/>
          <a:stretch/>
        </p:blipFill>
        <p:spPr>
          <a:xfrm>
            <a:off x="409425" y="1335900"/>
            <a:ext cx="750351" cy="31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92"/>
          <p:cNvSpPr txBox="1"/>
          <p:nvPr/>
        </p:nvSpPr>
        <p:spPr>
          <a:xfrm>
            <a:off x="635800" y="4641875"/>
            <a:ext cx="53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unique value of city,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the number of rows."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37" name="Google Shape;73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850" y="3276450"/>
            <a:ext cx="1476950" cy="1697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8" name="Google Shape;738;p92"/>
          <p:cNvGrpSpPr/>
          <p:nvPr/>
        </p:nvGrpSpPr>
        <p:grpSpPr>
          <a:xfrm>
            <a:off x="313450" y="658800"/>
            <a:ext cx="2488524" cy="3881075"/>
            <a:chOff x="313450" y="658800"/>
            <a:chExt cx="2488524" cy="3881075"/>
          </a:xfrm>
        </p:grpSpPr>
        <p:sp>
          <p:nvSpPr>
            <p:cNvPr id="739" name="Google Shape;739;p92"/>
            <p:cNvSpPr txBox="1"/>
            <p:nvPr/>
          </p:nvSpPr>
          <p:spPr>
            <a:xfrm>
              <a:off x="313450" y="658800"/>
              <a:ext cx="1920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1: Split 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(by city)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740" name="Google Shape;740;p92"/>
            <p:cNvPicPr preferRelativeResize="0"/>
            <p:nvPr/>
          </p:nvPicPr>
          <p:blipFill rotWithShape="1">
            <a:blip r:embed="rId3">
              <a:alphaModFix/>
            </a:blip>
            <a:srcRect b="0" l="12002" r="59313" t="9560"/>
            <a:stretch/>
          </p:blipFill>
          <p:spPr>
            <a:xfrm>
              <a:off x="1159775" y="1356900"/>
              <a:ext cx="1642199" cy="3182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1" name="Google Shape;741;p92"/>
          <p:cNvGrpSpPr/>
          <p:nvPr/>
        </p:nvGrpSpPr>
        <p:grpSpPr>
          <a:xfrm>
            <a:off x="2562763" y="658800"/>
            <a:ext cx="2253136" cy="3860075"/>
            <a:chOff x="2562763" y="658800"/>
            <a:chExt cx="2253136" cy="3860075"/>
          </a:xfrm>
        </p:grpSpPr>
        <p:sp>
          <p:nvSpPr>
            <p:cNvPr id="742" name="Google Shape;742;p92"/>
            <p:cNvSpPr txBox="1"/>
            <p:nvPr/>
          </p:nvSpPr>
          <p:spPr>
            <a:xfrm>
              <a:off x="2562763" y="658800"/>
              <a:ext cx="14400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2: Apply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(count rows)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743" name="Google Shape;743;p92"/>
            <p:cNvPicPr preferRelativeResize="0"/>
            <p:nvPr/>
          </p:nvPicPr>
          <p:blipFill rotWithShape="1">
            <a:blip r:embed="rId3">
              <a:alphaModFix/>
            </a:blip>
            <a:srcRect b="0" l="39231" r="27221" t="9560"/>
            <a:stretch/>
          </p:blipFill>
          <p:spPr>
            <a:xfrm>
              <a:off x="2895299" y="1335900"/>
              <a:ext cx="1920599" cy="3182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4" name="Google Shape;744;p92"/>
          <p:cNvGrpSpPr/>
          <p:nvPr/>
        </p:nvGrpSpPr>
        <p:grpSpPr>
          <a:xfrm>
            <a:off x="4331500" y="781800"/>
            <a:ext cx="2046862" cy="3737075"/>
            <a:chOff x="4331500" y="781800"/>
            <a:chExt cx="2046862" cy="3737075"/>
          </a:xfrm>
        </p:grpSpPr>
        <p:sp>
          <p:nvSpPr>
            <p:cNvPr id="745" name="Google Shape;745;p92"/>
            <p:cNvSpPr txBox="1"/>
            <p:nvPr/>
          </p:nvSpPr>
          <p:spPr>
            <a:xfrm>
              <a:off x="4331500" y="781800"/>
              <a:ext cx="164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3: Combine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746" name="Google Shape;746;p92"/>
            <p:cNvPicPr preferRelativeResize="0"/>
            <p:nvPr/>
          </p:nvPicPr>
          <p:blipFill rotWithShape="1">
            <a:blip r:embed="rId3">
              <a:alphaModFix/>
            </a:blip>
            <a:srcRect b="0" l="74846" r="0" t="9560"/>
            <a:stretch/>
          </p:blipFill>
          <p:spPr>
            <a:xfrm>
              <a:off x="4938362" y="1335900"/>
              <a:ext cx="1440000" cy="3182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Split-Apply-Combine Paradigm</a:t>
            </a:r>
            <a:endParaRPr/>
          </a:p>
        </p:txBody>
      </p:sp>
      <p:sp>
        <p:nvSpPr>
          <p:cNvPr id="752" name="Google Shape;752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93"/>
          <p:cNvSpPr txBox="1"/>
          <p:nvPr/>
        </p:nvSpPr>
        <p:spPr>
          <a:xfrm>
            <a:off x="313450" y="506400"/>
            <a:ext cx="19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1: Split 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(by city)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4" name="Google Shape;754;p93"/>
          <p:cNvSpPr txBox="1"/>
          <p:nvPr/>
        </p:nvSpPr>
        <p:spPr>
          <a:xfrm>
            <a:off x="2094025" y="506400"/>
            <a:ext cx="2154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2: Apply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(average tot_enrolled)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5" name="Google Shape;755;p93"/>
          <p:cNvSpPr txBox="1"/>
          <p:nvPr/>
        </p:nvSpPr>
        <p:spPr>
          <a:xfrm>
            <a:off x="4331500" y="629400"/>
            <a:ext cx="164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3: Combine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56" name="Google Shape;756;p93"/>
          <p:cNvPicPr preferRelativeResize="0"/>
          <p:nvPr/>
        </p:nvPicPr>
        <p:blipFill rotWithShape="1">
          <a:blip r:embed="rId3">
            <a:alphaModFix/>
          </a:blip>
          <a:srcRect b="0" l="0" r="0" t="9404"/>
          <a:stretch/>
        </p:blipFill>
        <p:spPr>
          <a:xfrm>
            <a:off x="362350" y="1343938"/>
            <a:ext cx="5412526" cy="30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93"/>
          <p:cNvSpPr txBox="1"/>
          <p:nvPr/>
        </p:nvSpPr>
        <p:spPr>
          <a:xfrm>
            <a:off x="313450" y="4641875"/>
            <a:ext cx="85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unique value of city,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the mean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# of students enrolled across its schools."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58" name="Google Shape;758;p93"/>
          <p:cNvGrpSpPr/>
          <p:nvPr/>
        </p:nvGrpSpPr>
        <p:grpSpPr>
          <a:xfrm>
            <a:off x="5366125" y="2914563"/>
            <a:ext cx="3116996" cy="1610363"/>
            <a:chOff x="5366125" y="2914563"/>
            <a:chExt cx="3116996" cy="1610363"/>
          </a:xfrm>
        </p:grpSpPr>
        <p:pic>
          <p:nvPicPr>
            <p:cNvPr id="759" name="Google Shape;75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03741" y="2914562"/>
              <a:ext cx="1779380" cy="161036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0" name="Google Shape;760;p93"/>
            <p:cNvCxnSpPr/>
            <p:nvPr/>
          </p:nvCxnSpPr>
          <p:spPr>
            <a:xfrm flipH="1" rot="10800000">
              <a:off x="6461000" y="4015450"/>
              <a:ext cx="238500" cy="4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93"/>
            <p:cNvSpPr txBox="1"/>
            <p:nvPr/>
          </p:nvSpPr>
          <p:spPr>
            <a:xfrm>
              <a:off x="5366125" y="3923375"/>
              <a:ext cx="121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Josh grew up here!</a:t>
              </a:r>
              <a:endParaRPr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One big high school.</a:t>
              </a:r>
              <a:endParaRPr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4"/>
          <p:cNvSpPr txBox="1"/>
          <p:nvPr>
            <p:ph type="ctrTitle"/>
          </p:nvPr>
        </p:nvSpPr>
        <p:spPr>
          <a:xfrm>
            <a:off x="311700" y="744575"/>
            <a:ext cx="8675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Exploratory</a:t>
            </a:r>
            <a:r>
              <a:rPr lang="en">
                <a:solidFill>
                  <a:schemeClr val="accent3"/>
                </a:solidFill>
              </a:rPr>
              <a:t> Data Analysis (EDA) II</a:t>
            </a:r>
            <a:endParaRPr/>
          </a:p>
        </p:txBody>
      </p:sp>
      <p:sp>
        <p:nvSpPr>
          <p:cNvPr id="767" name="Google Shape;767;p94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8" name="Google Shape;768;p94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9" name="Google Shape;769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