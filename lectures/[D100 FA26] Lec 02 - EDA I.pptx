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  <p:sldMasterId id="214748369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y="5143500" cx="9144000"/>
  <p:notesSz cx="6858000" cy="9144000"/>
  <p:embeddedFontLst>
    <p:embeddedFont>
      <p:font typeface="Roboto Medium"/>
      <p:regular r:id="rId69"/>
      <p:bold r:id="rId70"/>
      <p:italic r:id="rId71"/>
      <p:boldItalic r:id="rId72"/>
    </p:embeddedFont>
    <p:embeddedFont>
      <p:font typeface="Roboto"/>
      <p:regular r:id="rId73"/>
      <p:bold r:id="rId74"/>
      <p:italic r:id="rId75"/>
      <p:boldItalic r:id="rId76"/>
    </p:embeddedFont>
    <p:embeddedFont>
      <p:font typeface="Inter Light"/>
      <p:regular r:id="rId77"/>
      <p:bold r:id="rId78"/>
      <p:italic r:id="rId79"/>
      <p:boldItalic r:id="rId80"/>
    </p:embeddedFont>
    <p:embeddedFont>
      <p:font typeface="Inconsolata"/>
      <p:regular r:id="rId81"/>
      <p:bold r:id="rId82"/>
    </p:embeddedFont>
    <p:embeddedFont>
      <p:font typeface="Inter"/>
      <p:regular r:id="rId83"/>
      <p:bold r:id="rId84"/>
      <p:italic r:id="rId85"/>
      <p:boldItalic r:id="rId86"/>
    </p:embeddedFont>
    <p:embeddedFont>
      <p:font typeface="Roboto Light"/>
      <p:regular r:id="rId87"/>
      <p:bold r:id="rId88"/>
      <p:italic r:id="rId89"/>
      <p:boldItalic r:id="rId90"/>
    </p:embeddedFont>
    <p:embeddedFont>
      <p:font typeface="Helvetica Neue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ED6840-9BD6-4F22-91A9-2DCE8AE9BBBB}">
  <a:tblStyle styleId="{8FED6840-9BD6-4F22-91A9-2DCE8AE9BB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Inter-bold.fntdata"/><Relationship Id="rId83" Type="http://schemas.openxmlformats.org/officeDocument/2006/relationships/font" Target="fonts/Inter-regular.fntdata"/><Relationship Id="rId42" Type="http://schemas.openxmlformats.org/officeDocument/2006/relationships/slide" Target="slides/slide35.xml"/><Relationship Id="rId86" Type="http://schemas.openxmlformats.org/officeDocument/2006/relationships/font" Target="fonts/Inter-boldItalic.fntdata"/><Relationship Id="rId41" Type="http://schemas.openxmlformats.org/officeDocument/2006/relationships/slide" Target="slides/slide34.xml"/><Relationship Id="rId85" Type="http://schemas.openxmlformats.org/officeDocument/2006/relationships/font" Target="fonts/Inter-italic.fntdata"/><Relationship Id="rId44" Type="http://schemas.openxmlformats.org/officeDocument/2006/relationships/slide" Target="slides/slide37.xml"/><Relationship Id="rId88" Type="http://schemas.openxmlformats.org/officeDocument/2006/relationships/font" Target="fonts/RobotoLight-bold.fntdata"/><Relationship Id="rId43" Type="http://schemas.openxmlformats.org/officeDocument/2006/relationships/slide" Target="slides/slide36.xml"/><Relationship Id="rId87" Type="http://schemas.openxmlformats.org/officeDocument/2006/relationships/font" Target="fonts/RobotoLight-regular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RobotoLight-italic.fntdata"/><Relationship Id="rId80" Type="http://schemas.openxmlformats.org/officeDocument/2006/relationships/font" Target="fonts/InterLight-boldItalic.fntdata"/><Relationship Id="rId82" Type="http://schemas.openxmlformats.org/officeDocument/2006/relationships/font" Target="fonts/Inconsolata-bold.fntdata"/><Relationship Id="rId81" Type="http://schemas.openxmlformats.org/officeDocument/2006/relationships/font" Target="fonts/Inconsolat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oboto-regular.fntdata"/><Relationship Id="rId72" Type="http://schemas.openxmlformats.org/officeDocument/2006/relationships/font" Target="fonts/RobotoMedium-boldItalic.fntdata"/><Relationship Id="rId31" Type="http://schemas.openxmlformats.org/officeDocument/2006/relationships/slide" Target="slides/slide24.xml"/><Relationship Id="rId75" Type="http://schemas.openxmlformats.org/officeDocument/2006/relationships/font" Target="fonts/Roboto-italic.fntdata"/><Relationship Id="rId30" Type="http://schemas.openxmlformats.org/officeDocument/2006/relationships/slide" Target="slides/slide23.xml"/><Relationship Id="rId74" Type="http://schemas.openxmlformats.org/officeDocument/2006/relationships/font" Target="fonts/Roboto-bold.fntdata"/><Relationship Id="rId33" Type="http://schemas.openxmlformats.org/officeDocument/2006/relationships/slide" Target="slides/slide26.xml"/><Relationship Id="rId77" Type="http://schemas.openxmlformats.org/officeDocument/2006/relationships/font" Target="fonts/InterLight-regular.fntdata"/><Relationship Id="rId32" Type="http://schemas.openxmlformats.org/officeDocument/2006/relationships/slide" Target="slides/slide25.xml"/><Relationship Id="rId76" Type="http://schemas.openxmlformats.org/officeDocument/2006/relationships/font" Target="fonts/Roboto-boldItalic.fntdata"/><Relationship Id="rId35" Type="http://schemas.openxmlformats.org/officeDocument/2006/relationships/slide" Target="slides/slide28.xml"/><Relationship Id="rId79" Type="http://schemas.openxmlformats.org/officeDocument/2006/relationships/font" Target="fonts/InterLight-italic.fntdata"/><Relationship Id="rId34" Type="http://schemas.openxmlformats.org/officeDocument/2006/relationships/slide" Target="slides/slide27.xml"/><Relationship Id="rId78" Type="http://schemas.openxmlformats.org/officeDocument/2006/relationships/font" Target="fonts/InterLight-bold.fntdata"/><Relationship Id="rId71" Type="http://schemas.openxmlformats.org/officeDocument/2006/relationships/font" Target="fonts/RobotoMedium-italic.fntdata"/><Relationship Id="rId70" Type="http://schemas.openxmlformats.org/officeDocument/2006/relationships/font" Target="fonts/RobotoMedium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obotoMedium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94" Type="http://schemas.openxmlformats.org/officeDocument/2006/relationships/font" Target="fonts/HelveticaNeue-boldItalic.fntdata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1" Type="http://schemas.openxmlformats.org/officeDocument/2006/relationships/font" Target="fonts/HelveticaNeue-regular.fntdata"/><Relationship Id="rId90" Type="http://schemas.openxmlformats.org/officeDocument/2006/relationships/font" Target="fonts/RobotoLight-boldItalic.fntdata"/><Relationship Id="rId93" Type="http://schemas.openxmlformats.org/officeDocument/2006/relationships/font" Target="fonts/HelveticaNeue-italic.fntdata"/><Relationship Id="rId92" Type="http://schemas.openxmlformats.org/officeDocument/2006/relationships/font" Target="fonts/HelveticaNeue-bold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LIDES_API209028700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LIDES_API209028700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ae4121a16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ae4121a16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a331f127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a331f12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formalized in wording, but still mostly the same: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World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c0bf2b7c_0_3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9c0bf2b7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1af45219f_12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1af45219f_12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c0bf2b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9c0bf2b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c0bf2b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9c0bf2b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9c0bf2b7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9c0bf2b7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9c0bf2b7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9c0bf2b7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9c0bf2b7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9c0bf2b7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9c0bf2b7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9c0bf2b7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c0bf2b7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9c0bf2b7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9c0bf2b7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9c0bf2b7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e68114340_56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e68114340_56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9c0bf2b7c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9c0bf2b7c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c0bf2b7c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f9c0bf2b7c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SLIDES_API162555209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SLIDES_API162555209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9c0bf2b7c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9c0bf2b7c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9c0bf2b7c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9c0bf2b7c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9c0bf2b7c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9c0bf2b7c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e02f2d3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e02f2d3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58fc74eb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58fc74eb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58fc74ebf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58fc74eb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1af45219f_114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1af45219f_114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58fc74ebf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e58fc74ebf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58fc74eb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e58fc74eb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58fc74eb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58fc74eb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58fc74ebf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58fc74ebf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e68114340_31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e68114340_31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74d65fde9_1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74d65fde9_1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58fc74ebf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58fc74ebf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ee02f2d3c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ee02f2d3c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58fc74ebf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e58fc74ebf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SLIDES_API55259557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SLIDES_API55259557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e02f2d3c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e02f2d3c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58fc74ebf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e58fc74ebf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58fc74ebf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e58fc74ebf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58fc74ebf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e58fc74ebf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e681143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ee681143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8010094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8010094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e68114340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ee68114340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ee68114340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ee68114340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e58fc74ebf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e58fc74ebf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e68114340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ee68114340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ee68114340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ee68114340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58fc74ebf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e58fc74ebf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SLIDES_API4925726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SLIDES_API4925726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ee68114340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ee68114340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e68114340_3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ee68114340_3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ee68114340_31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ee68114340_31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e68114340_31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ee68114340_31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58fc74ebf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e58fc74ebf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b0ef65192_34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fb0ef65192_34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SLIDES_API16782193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SLIDES_API16782193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e58fc74ebf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e58fc74ebf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e58fc74ebf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e58fc74ebf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e58fc74ebf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e58fc74ebf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e58fc74ebf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e58fc74ebf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e58fc74ebf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e58fc74ebf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1af45219f_11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f1af45219f_11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ef04e6391c_10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ef04e6391c_10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95431" y="402210"/>
            <a:ext cx="83781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667431" y="402210"/>
            <a:ext cx="37977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95431" y="402210"/>
            <a:ext cx="8378100" cy="189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" name="Google Shape;59;p9"/>
          <p:cNvCxnSpPr/>
          <p:nvPr/>
        </p:nvCxnSpPr>
        <p:spPr>
          <a:xfrm>
            <a:off x="95431" y="402210"/>
            <a:ext cx="83697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72" name="Google Shape;72;p12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" name="Google Shape;9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SECTION_HEADER_1_1">
    <p:bg>
      <p:bgPr>
        <a:solidFill>
          <a:srgbClr val="4A86E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23" name="Google Shape;1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5" name="Google Shape;125;p23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5" name="Google Shape;1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27"/>
          <p:cNvCxnSpPr/>
          <p:nvPr/>
        </p:nvCxnSpPr>
        <p:spPr>
          <a:xfrm>
            <a:off x="95431" y="402210"/>
            <a:ext cx="8391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51" name="Google Shape;15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53" name="Google Shape;153;p2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9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1" name="Google Shape;161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2" name="Google Shape;162;p29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" name="Google Shape;166;p30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0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9" name="Google Shape;169;p30"/>
          <p:cNvCxnSpPr/>
          <p:nvPr/>
        </p:nvCxnSpPr>
        <p:spPr>
          <a:xfrm>
            <a:off x="4667431" y="402210"/>
            <a:ext cx="3819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0" name="Google Shape;17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31"/>
          <p:cNvCxnSpPr/>
          <p:nvPr/>
        </p:nvCxnSpPr>
        <p:spPr>
          <a:xfrm>
            <a:off x="95431" y="402210"/>
            <a:ext cx="8391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1" name="Google Shape;181;p32"/>
          <p:cNvCxnSpPr/>
          <p:nvPr/>
        </p:nvCxnSpPr>
        <p:spPr>
          <a:xfrm flipH="1" rot="10800000">
            <a:off x="95431" y="396210"/>
            <a:ext cx="8371800" cy="60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8" name="Google Shape;188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194" name="Google Shape;194;p3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201" name="Google Shape;201;p38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8" name="Google Shape;208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9" name="Google Shape;209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2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22" name="Google Shape;222;p42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23" name="Google Shape;223;p42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4" name="Google Shape;224;p42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225" name="Google Shape;22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8" name="Google Shape;22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4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33" name="Google Shape;233;p44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34" name="Google Shape;234;p44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39" name="Google Shape;23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1" name="Google Shape;241;p4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1.xml"/><Relationship Id="rId24" Type="http://schemas.openxmlformats.org/officeDocument/2006/relationships/theme" Target="../theme/theme3.xml"/><Relationship Id="rId23" Type="http://schemas.openxmlformats.org/officeDocument/2006/relationships/slideLayout" Target="../slideLayouts/slideLayout43.xml"/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10312" y="594345"/>
            <a:ext cx="627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33856439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0600" y="240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8515100" y="594350"/>
            <a:ext cx="61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2341814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3" name="Google Shape;133;p24" title="QR Code for [D100 SU26] Lec 03 - EDA II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600" y="456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.do/features-google-slides?payload=eyJwcmVzZW50YXRpb25JZCI6IjF3Q2Q3bGc2c09Kc2JVZVV5bGxrN2VUbEtjSFBMSkdlaFd1VTNiTFJQb2dvIiwic2xpZGVJZCI6IlNMSURFU19BUEkyMDkwMjg3MDA4XzAiLCJ0eXBlIjoiU2xpZG9Kb2luaW5nIn0%3D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chrome.google.com/webstore/detail/slido/dhhclfjehmpacimcdknijodpjpmppkii" TargetMode="External"/><Relationship Id="rId6" Type="http://schemas.openxmlformats.org/officeDocument/2006/relationships/hyperlink" Target="https://www.sli.do/features-google-slides?interaction-type=Sm9pbg%3D%3D" TargetMode="External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s100.org/sp26/ack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dstem.org/us/courses/102680/discussion/8220612" TargetMode="External"/><Relationship Id="rId4" Type="http://schemas.openxmlformats.org/officeDocument/2006/relationships/hyperlink" Target="https://forms.gle/HoQf2cCmPnAQ8tVx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hyperlink" Target="http://universityofcalifornia.edu/about-us/information-center/admissions-source-schoo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15.png"/><Relationship Id="rId8" Type="http://schemas.openxmlformats.org/officeDocument/2006/relationships/hyperlink" Target="https://www.sli.do/features-google-slides?payload=eyJwb2xsVXVpZCI6IjMzYzNkYThlLTkzZGQtNDVkZC05YTVlLWIyMDliMWY5MWQxMiIsInByZXNlbnRhdGlvbklkIjoiMXdDZDdsZzZzT0pzYlVlVXlsbGs3ZVRsS2NIUExKR2VoV3VVM2JMUlBvZ28iLCJzbGlkZUlkIjoiU0xJREVTX0FQSTE2MjU1NTIwOTFfMCIsInRpbWVsaW5lIjpbeyJzaG93UmVzdWx0cyI6dHJ1ZSwicG9sbFF1ZXN0aW9uVXVpZCI6ImE4NzRmNDlmLTRmMDgtNGY2ZS04MTg1LTEyYjI3MGRkNWJlMCJ9XSwidHlwZSI6IlNsaWRvUG9sbCJ9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universityofcalifornia.edu/about-us/information-center/admissions-source-school" TargetMode="External"/><Relationship Id="rId4" Type="http://schemas.openxmlformats.org/officeDocument/2006/relationships/image" Target="../media/image49.png"/><Relationship Id="rId5" Type="http://schemas.openxmlformats.org/officeDocument/2006/relationships/hyperlink" Target="http://universityofcalifornia.edu/about-us/information-center/admissions-source-school" TargetMode="External"/><Relationship Id="rId6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universityofcalifornia.edu/about-us/information-center/admissions-source-school" TargetMode="External"/><Relationship Id="rId4" Type="http://schemas.openxmlformats.org/officeDocument/2006/relationships/image" Target="../media/image44.png"/><Relationship Id="rId5" Type="http://schemas.openxmlformats.org/officeDocument/2006/relationships/hyperlink" Target="https://dataprivacylab.org/projects/identifiability/paper1.pdf" TargetMode="External"/><Relationship Id="rId6" Type="http://schemas.openxmlformats.org/officeDocument/2006/relationships/hyperlink" Target="https://www.npr.org/2026/06/12/nx-s1-5855734/census-bureau-data-differential-privacy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cde.ca.gov/ds/ad/ceffingertipfacts.asp" TargetMode="External"/><Relationship Id="rId4" Type="http://schemas.openxmlformats.org/officeDocument/2006/relationships/hyperlink" Target="https://www.universityofcalifornia.edu/about-us/information-center/admissions-source-schoo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cde.ca.gov/ds/ad/downloadabledata.asp#Annual" TargetMode="External"/><Relationship Id="rId4" Type="http://schemas.openxmlformats.org/officeDocument/2006/relationships/hyperlink" Target="https://www.cde.ca.gov/ds/ad/filesenrcensus.asp" TargetMode="External"/><Relationship Id="rId5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hyperlink" Target="https://www.sli.do/features-google-slides?payload=eyJwb2xsVXVpZCI6IjI5MjFhYjIyLTE1MDEtNDNhNi1hZTg5LWVjODRjNWZkYzQ4OCIsInByZXNlbnRhdGlvbklkIjoiMXdDZDdsZzZzT0pzYlVlVXlsbGs3ZVRsS2NIUExKR2VoV3VVM2JMUlBvZ28iLCJzbGlkZUlkIjoiU0xJREVTX0FQSTU1MjU5NTU3OV8wIiwidGltZWxpbmUiOlt7InNob3dSZXN1bHRzIjpmYWxzZSwicG9sbFF1ZXN0aW9uVXVpZCI6ImExZTBlNjhmLWZkMzYtNDg4Zi1hNWE3LWRlYjJmMjE2MWNiMCJ9LHsicG9sbFF1ZXN0aW9uVXVpZCI6ImExZTBlNjhmLWZkMzYtNDg4Zi1hNWE3LWRlYjJmMjE2MWNiMCIsInNob3dSZXN1bHRzIjp0cnVlfV0sInR5cGUiOiJTbGlkb1BvbGwifQ%3D%3D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Relationship Id="rId4" Type="http://schemas.openxmlformats.org/officeDocument/2006/relationships/hyperlink" Target="https://math.stackexchange.com/questions/966331/why-john-tukey-set-1-5-iqr-to-detect-outliers-instead-of-1-or-2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hyperlink" Target="https://www.sli.do/features-google-slides?payload=eyJwb2xsVXVpZCI6IjhlMTc4N2I3LWJkMGEtNDgxYi1iZWY1LTMzNWI0NWE2ZjYzYyIsInByZXNlbnRhdGlvbklkIjoiMXdDZDdsZzZzT0pzYlVlVXlsbGs3ZVRsS2NIUExKR2VoV3VVM2JMUlBvZ28iLCJzbGlkZUlkIjoiU0xJREVTX0FQSTE4MDEwMDk0NjFfMCIsInRpbWVsaW5lIjpbeyJzaG93UmVzdWx0cyI6ZmFsc2UsInBvbGxRdWVzdGlvblV1aWQiOiJkYWFkYzQ1NC1hYjE2LTQ2ZTYtYWQ0NC1mNTI0NDVmNWQ1MmIifSx7InNob3dSZXN1bHRzIjp0cnVlLCJwb2xsUXVlc3Rpb25VdWlkIjoiZGFhZGM0NTQtYWIxNi00NmU2LWFkNDQtZjUyNDQ1ZjVkNTJiIn1dLCJ0eXBlIjoiU2xpZG9Qb2xsIn0%3D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Relationship Id="rId4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hyperlink" Target="https://www.sli.do/features-google-slides?payload=eyJwb2xsVXVpZCI6IjczZGFhODkxLTk4NmYtNDZkYi05ODJjLTdjMDI4MmFmNDAzMiIsInByZXNlbnRhdGlvbklkIjoiMXdDZDdsZzZzT0pzYlVlVXlsbGs3ZVRsS2NIUExKR2VoV3VVM2JMUlBvZ28iLCJzbGlkZUlkIjoiU0xJREVTX0FQSTQ5MjU3MjY2MV8wIiwidGltZWxpbmUiOlt7InNob3dSZXN1bHRzIjpmYWxzZSwicG9sbFF1ZXN0aW9uVXVpZCI6Ijg3OGMyZjJmLTlhM2YtNDQ3My05NTNkLWI0YzlkZjFmYzZkMCJ9LHsicG9sbFF1ZXN0aW9uVXVpZCI6Ijg3OGMyZjJmLTlhM2YtNDQ3My05NTNkLWI0YzlkZjFmYzZkMCIsInNob3dSZXN1bHRzIjp0cnVlfV0sInR5cGUiOiJTbGlkb1BvbGwifQ%3D%3D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hyperlink" Target="https://www.sli.do/features-google-slides?payload=eyJwb2xsVXVpZCI6ImJlZGJkYWRmLWRiOGYtNDI5Mi05ZWY3LTI4NDUwYjA3ZWI5NiIsInByZXNlbnRhdGlvbklkIjoiMXdDZDdsZzZzT0pzYlVlVXlsbGs3ZVRsS2NIUExKR2VoV3VVM2JMUlBvZ28iLCJzbGlkZUlkIjoiU0xJREVTX0FQSTE2NzgyMTkzMjNfMCIsInRpbWVsaW5lIjpbeyJzaG93UmVzdWx0cyI6ZmFsc2UsInBvbGxRdWVzdGlvblV1aWQiOiJmOWQ4OTRkNC04MDQ4LTQwMzktODg5NC04NDdjMGE5MjlhODgifSx7InNob3dSZXN1bHRzIjp0cnVlLCJwb2xsUXVlc3Rpb25VdWlkIjoiZjlkODk0ZDQtODA0OC00MDM5LTg4OTQtODQ3YzBhOTI5YTg4In1dLCJ0eXBlIjoiU2xpZG9Qb2xsIn0%3D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6.png"/><Relationship Id="rId6" Type="http://schemas.openxmlformats.org/officeDocument/2006/relationships/image" Target="../media/image5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ds100.org/sp26/ack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d" id="247" name="Google Shape;247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020" y="508000"/>
            <a:ext cx="874500" cy="382594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248" name="Google Shape;248;p46"/>
          <p:cNvSpPr txBox="1"/>
          <p:nvPr/>
        </p:nvSpPr>
        <p:spPr>
          <a:xfrm>
            <a:off x="2590800" y="1928813"/>
            <a:ext cx="60453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Join at slido.com</a:t>
            </a:r>
            <a:b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#33856439</a:t>
            </a:r>
            <a:endParaRPr b="1" sz="36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249" name="Google Shape;249;p46"/>
          <p:cNvSpPr txBox="1"/>
          <p:nvPr/>
        </p:nvSpPr>
        <p:spPr>
          <a:xfrm>
            <a:off x="2286000" y="4381500"/>
            <a:ext cx="30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ⓘ</a:t>
            </a:r>
            <a:endParaRPr b="1" sz="13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250" name="Google Shape;250;p46"/>
          <p:cNvSpPr txBox="1"/>
          <p:nvPr/>
        </p:nvSpPr>
        <p:spPr>
          <a:xfrm>
            <a:off x="2590800" y="4381500"/>
            <a:ext cx="6045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Click </a:t>
            </a:r>
            <a:r>
              <a:rPr b="1" lang="en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Present with Slido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or install our </a:t>
            </a: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Chrome extension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to display joining instructions for participants while presenting.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1" name="Google Shape;2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oll-type-id" id="252" name="Google Shape;252;p4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782" y="1659132"/>
            <a:ext cx="1825235" cy="182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</a:t>
            </a:r>
            <a:r>
              <a:rPr lang="en"/>
              <a:t> Data Analysis (EDA) I</a:t>
            </a:r>
            <a:endParaRPr/>
          </a:p>
        </p:txBody>
      </p:sp>
      <p:sp>
        <p:nvSpPr>
          <p:cNvPr id="258" name="Google Shape;258;p47"/>
          <p:cNvSpPr txBox="1"/>
          <p:nvPr>
            <p:ph idx="1" type="subTitle"/>
          </p:nvPr>
        </p:nvSpPr>
        <p:spPr>
          <a:xfrm>
            <a:off x="311700" y="279717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Fundamental</a:t>
            </a:r>
            <a:r>
              <a:rPr lang="en" sz="1800">
                <a:solidFill>
                  <a:srgbClr val="666666"/>
                </a:solidFill>
              </a:rPr>
              <a:t> tabular manipulations and visualizations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259" name="Google Shape;259;p47"/>
          <p:cNvSpPr txBox="1"/>
          <p:nvPr>
            <p:ph idx="1" type="subTitle"/>
          </p:nvPr>
        </p:nvSpPr>
        <p:spPr>
          <a:xfrm>
            <a:off x="311700" y="3854350"/>
            <a:ext cx="8520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0" name="Google Shape;260;p47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1" name="Google Shape;26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47"/>
          <p:cNvSpPr txBox="1"/>
          <p:nvPr/>
        </p:nvSpPr>
        <p:spPr>
          <a:xfrm>
            <a:off x="174350" y="193700"/>
            <a:ext cx="557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⚠️ Reminder to start the Zoom recording!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/>
        </p:nvSpPr>
        <p:spPr>
          <a:xfrm>
            <a:off x="129450" y="547225"/>
            <a:ext cx="8343000" cy="4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Discussion and Staff Office Hours start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week!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Discussion assignments have been released!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deadline to switch discussion sections (or opt-out/in) is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Friday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9/18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Prerequisite Quiz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signups are live on PrairieTest! Check out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#56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on Ed for logistics.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Instructor OH start today! Wheeler 210, 2-3PM (right after lecture, upstairs)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Ed policy: instructors have forbidden course staff from answering redundant questions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Homework 00 (coding </a:t>
            </a:r>
            <a:r>
              <a:rPr b="1" lang="en" sz="16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math portion)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due this Friday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(Sept. 4th) at 11:59PM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Fill out the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Final Exam Conflict form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ASAP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if you have a final exam conflict or DSP-related overlap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(Data 100 Final Exam: Wednesday, December 16th @ 11:30 - 2:30 PM)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DSP Students: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Make sure your accommodation letters are submitted via the DSP portal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Announcements!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4" y="1108248"/>
            <a:ext cx="6662426" cy="3477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 txBox="1"/>
          <p:nvPr/>
        </p:nvSpPr>
        <p:spPr>
          <a:xfrm>
            <a:off x="447575" y="282375"/>
            <a:ext cx="208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Askademia!</a:t>
            </a:r>
            <a:endParaRPr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7" name="Google Shape;277;p49"/>
          <p:cNvSpPr txBox="1"/>
          <p:nvPr/>
        </p:nvSpPr>
        <p:spPr>
          <a:xfrm>
            <a:off x="3038825" y="413300"/>
            <a:ext cx="346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Developed by a former Data 100 TA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8" name="Google Shape;278;p49"/>
          <p:cNvSpPr txBox="1"/>
          <p:nvPr/>
        </p:nvSpPr>
        <p:spPr>
          <a:xfrm>
            <a:off x="7137675" y="2137275"/>
            <a:ext cx="18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Also, no ads! (YouTube has ads)</a:t>
            </a:r>
            <a:endParaRPr i="1"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9" name="Google Shape;279;p49"/>
          <p:cNvSpPr/>
          <p:nvPr/>
        </p:nvSpPr>
        <p:spPr>
          <a:xfrm>
            <a:off x="18625" y="6200"/>
            <a:ext cx="9057000" cy="5050500"/>
          </a:xfrm>
          <a:prstGeom prst="rect">
            <a:avLst/>
          </a:prstGeom>
          <a:solidFill>
            <a:srgbClr val="C9DAF8">
              <a:alpha val="7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400">
                <a:latin typeface="Roboto Light"/>
                <a:ea typeface="Roboto Light"/>
                <a:cs typeface="Roboto Light"/>
                <a:sym typeface="Roboto Light"/>
              </a:rPr>
              <a:t>Temporarily down! We’ll make an announcement when it’s back up and running.</a:t>
            </a:r>
            <a:endParaRPr i="1" sz="64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Tabular Data + Berkeley Admission Data</a:t>
            </a:r>
            <a:endParaRPr/>
          </a:p>
        </p:txBody>
      </p:sp>
      <p:sp>
        <p:nvSpPr>
          <p:cNvPr id="285" name="Google Shape;285;p50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en"/>
              <a:t>Today’s lecture starts from slide 15</a:t>
            </a:r>
            <a:endParaRPr/>
          </a:p>
        </p:txBody>
      </p:sp>
      <p:sp>
        <p:nvSpPr>
          <p:cNvPr id="286" name="Google Shape;286;p50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Scientists Love Tabular Data</a:t>
            </a:r>
            <a:endParaRPr/>
          </a:p>
        </p:txBody>
      </p:sp>
      <p:sp>
        <p:nvSpPr>
          <p:cNvPr id="292" name="Google Shape;292;p51"/>
          <p:cNvSpPr txBox="1"/>
          <p:nvPr>
            <p:ph idx="1" type="body"/>
          </p:nvPr>
        </p:nvSpPr>
        <p:spPr>
          <a:xfrm>
            <a:off x="107050" y="402200"/>
            <a:ext cx="85206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Tabular data</a:t>
            </a:r>
            <a:r>
              <a:rPr lang="en"/>
              <a:t> = data in a 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Typically: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93" name="Google Shape;29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" name="Google Shape;294;p51"/>
          <p:cNvPicPr preferRelativeResize="0"/>
          <p:nvPr/>
        </p:nvPicPr>
        <p:blipFill rotWithShape="1">
          <a:blip r:embed="rId3">
            <a:alphaModFix/>
          </a:blip>
          <a:srcRect b="0" l="1513" r="1513" t="0"/>
          <a:stretch/>
        </p:blipFill>
        <p:spPr>
          <a:xfrm>
            <a:off x="1222350" y="1423925"/>
            <a:ext cx="4202726" cy="239974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51"/>
          <p:cNvSpPr/>
          <p:nvPr/>
        </p:nvSpPr>
        <p:spPr>
          <a:xfrm>
            <a:off x="1273900" y="1796700"/>
            <a:ext cx="4202700" cy="20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1"/>
          <p:cNvSpPr/>
          <p:nvPr/>
        </p:nvSpPr>
        <p:spPr>
          <a:xfrm>
            <a:off x="2689675" y="1416175"/>
            <a:ext cx="1196400" cy="240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1"/>
          <p:cNvSpPr txBox="1"/>
          <p:nvPr/>
        </p:nvSpPr>
        <p:spPr>
          <a:xfrm>
            <a:off x="5726350" y="1483350"/>
            <a:ext cx="323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A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row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represents one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observation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(here, a single person running for president in a particular year).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8" name="Google Shape;298;p51"/>
          <p:cNvSpPr txBox="1"/>
          <p:nvPr/>
        </p:nvSpPr>
        <p:spPr>
          <a:xfrm>
            <a:off x="5705900" y="2617425"/>
            <a:ext cx="323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A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column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represents some characteristic, or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feature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, of that observation (here, the political party of that person).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9" name="Google Shape;299;p51"/>
          <p:cNvSpPr txBox="1"/>
          <p:nvPr/>
        </p:nvSpPr>
        <p:spPr>
          <a:xfrm>
            <a:off x="152400" y="3990325"/>
            <a:ext cx="8937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 Data 8, you worked with the </a:t>
            </a:r>
            <a:r>
              <a:rPr lang="en" sz="1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datascience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library using </a:t>
            </a:r>
            <a:r>
              <a:rPr lang="en" sz="1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Table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 Data 100, we’ll use a new(ish) industry-standard library called </a:t>
            </a:r>
            <a:r>
              <a:rPr lang="en" sz="1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polars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(and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SQL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/>
        </p:nvSpPr>
        <p:spPr>
          <a:xfrm>
            <a:off x="3776250" y="2952000"/>
            <a:ext cx="5165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SQL is a declarative programming language for working with tabular data in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databases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Completely different syntax from Python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Most of our SQL will be a review from CS61A / 88C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5" name="Google Shape;305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Python Data Science Tools: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polars</a:t>
            </a:r>
            <a:r>
              <a:rPr lang="en">
                <a:solidFill>
                  <a:schemeClr val="accent3"/>
                </a:solidFill>
              </a:rPr>
              <a:t> and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SQL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06" name="Google Shape;30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7" name="Google Shape;307;p52"/>
          <p:cNvPicPr preferRelativeResize="0"/>
          <p:nvPr/>
        </p:nvPicPr>
        <p:blipFill rotWithShape="1">
          <a:blip r:embed="rId3">
            <a:alphaModFix/>
          </a:blip>
          <a:srcRect b="32742" l="0" r="0" t="32742"/>
          <a:stretch/>
        </p:blipFill>
        <p:spPr>
          <a:xfrm>
            <a:off x="531750" y="1054275"/>
            <a:ext cx="3060049" cy="10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2"/>
          <p:cNvSpPr txBox="1"/>
          <p:nvPr/>
        </p:nvSpPr>
        <p:spPr>
          <a:xfrm>
            <a:off x="3776250" y="694475"/>
            <a:ext cx="5165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Inconsolata"/>
                <a:ea typeface="Inconsolata"/>
                <a:cs typeface="Inconsolata"/>
                <a:sym typeface="Inconsolata"/>
              </a:rPr>
              <a:t>polars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is a Python (and R, …) library for working with tabular data in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dataframes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Successor to the industry standard </a:t>
            </a:r>
            <a:r>
              <a:rPr lang="en" sz="1600">
                <a:solidFill>
                  <a:schemeClr val="accent3"/>
                </a:solidFill>
                <a:latin typeface="Inconsolata"/>
                <a:ea typeface="Inconsolata"/>
                <a:cs typeface="Inconsolata"/>
                <a:sym typeface="Inconsolata"/>
              </a:rPr>
              <a:t>pandas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which has similar syntax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Similar to the </a:t>
            </a:r>
            <a:r>
              <a:rPr lang="en" sz="1600">
                <a:solidFill>
                  <a:schemeClr val="accent3"/>
                </a:solidFill>
                <a:latin typeface="Inconsolata"/>
                <a:ea typeface="Inconsolata"/>
                <a:cs typeface="Inconsolata"/>
                <a:sym typeface="Inconsolata"/>
              </a:rPr>
              <a:t>datascience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library from Data 8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9" name="Google Shape;309;p52"/>
          <p:cNvSpPr txBox="1"/>
          <p:nvPr/>
        </p:nvSpPr>
        <p:spPr>
          <a:xfrm>
            <a:off x="1497525" y="3130650"/>
            <a:ext cx="163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SQL</a:t>
            </a:r>
            <a:endParaRPr sz="4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manipulation</a:t>
            </a:r>
            <a:endParaRPr/>
          </a:p>
        </p:txBody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framework of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manipulating</a:t>
            </a:r>
            <a:r>
              <a:rPr lang="en"/>
              <a:t>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visualizing </a:t>
            </a:r>
            <a:r>
              <a:rPr lang="en"/>
              <a:t>tabular data is shared across languages.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goal of Data 100 is </a:t>
            </a:r>
            <a:r>
              <a:rPr lang="en" u="sng"/>
              <a:t>not</a:t>
            </a:r>
            <a:r>
              <a:rPr lang="en"/>
              <a:t> to "learn" polars (or SQL).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Data 100 is not a coding class.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100 provides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mental frameworks</a:t>
            </a:r>
            <a:r>
              <a:rPr lang="en"/>
              <a:t> that apply to any particular tool you use in the future.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other words, we are establishing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shared language</a:t>
            </a:r>
            <a:r>
              <a:rPr lang="en"/>
              <a:t> you can use to describe manipulations and visualizations of tabular data to other people (and LLMs!).</a:t>
            </a:r>
            <a:endParaRPr/>
          </a:p>
        </p:txBody>
      </p:sp>
      <p:sp>
        <p:nvSpPr>
          <p:cNvPr id="316" name="Google Shape;31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typical exploratory data analysis (EDA) workflow</a:t>
            </a:r>
            <a:endParaRPr/>
          </a:p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54"/>
          <p:cNvSpPr/>
          <p:nvPr/>
        </p:nvSpPr>
        <p:spPr>
          <a:xfrm>
            <a:off x="277650" y="895469"/>
            <a:ext cx="1239000" cy="1995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Database with </a:t>
            </a:r>
            <a:r>
              <a:rPr lang="en" u="sng">
                <a:latin typeface="Roboto Light"/>
                <a:ea typeface="Roboto Light"/>
                <a:cs typeface="Roboto Light"/>
                <a:sym typeface="Roboto Light"/>
              </a:rPr>
              <a:t>many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tables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324" name="Google Shape;324;p54"/>
          <p:cNvGraphicFramePr/>
          <p:nvPr/>
        </p:nvGraphicFramePr>
        <p:xfrm>
          <a:off x="3389975" y="1315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5" name="Google Shape;325;p54"/>
          <p:cNvGraphicFramePr/>
          <p:nvPr/>
        </p:nvGraphicFramePr>
        <p:xfrm>
          <a:off x="5583000" y="1242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82850"/>
                <a:gridCol w="382850"/>
              </a:tblGrid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6" name="Google Shape;326;p54"/>
          <p:cNvGraphicFramePr/>
          <p:nvPr/>
        </p:nvGraphicFramePr>
        <p:xfrm>
          <a:off x="5583000" y="2104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82850"/>
                <a:gridCol w="382850"/>
              </a:tblGrid>
              <a:tr h="6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54"/>
          <p:cNvSpPr txBox="1"/>
          <p:nvPr/>
        </p:nvSpPr>
        <p:spPr>
          <a:xfrm>
            <a:off x="58975" y="4004200"/>
            <a:ext cx="235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Updated frequently (e.g., after a customer purchase)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28" name="Google Shape;328;p54"/>
          <p:cNvGrpSpPr/>
          <p:nvPr/>
        </p:nvGrpSpPr>
        <p:grpSpPr>
          <a:xfrm>
            <a:off x="1516650" y="565857"/>
            <a:ext cx="4750300" cy="4244655"/>
            <a:chOff x="1516650" y="565857"/>
            <a:chExt cx="4750300" cy="4244655"/>
          </a:xfrm>
        </p:grpSpPr>
        <p:cxnSp>
          <p:nvCxnSpPr>
            <p:cNvPr id="329" name="Google Shape;329;p54"/>
            <p:cNvCxnSpPr/>
            <p:nvPr/>
          </p:nvCxnSpPr>
          <p:spPr>
            <a:xfrm>
              <a:off x="1606690" y="2000806"/>
              <a:ext cx="1572900" cy="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0" name="Google Shape;330;p54"/>
            <p:cNvSpPr txBox="1"/>
            <p:nvPr/>
          </p:nvSpPr>
          <p:spPr>
            <a:xfrm>
              <a:off x="3772825" y="565857"/>
              <a:ext cx="2254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 few </a:t>
              </a: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snapshotted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tables (or just one!)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1" name="Google Shape;331;p54"/>
            <p:cNvSpPr txBox="1"/>
            <p:nvPr/>
          </p:nvSpPr>
          <p:spPr>
            <a:xfrm>
              <a:off x="3690625" y="2798481"/>
              <a:ext cx="2418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Manipulate with polars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(or R, pandas, Excel…)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2" name="Google Shape;332;p54"/>
            <p:cNvSpPr txBox="1"/>
            <p:nvPr/>
          </p:nvSpPr>
          <p:spPr>
            <a:xfrm>
              <a:off x="1516650" y="1002856"/>
              <a:ext cx="185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Basic table manipulations with </a:t>
              </a:r>
              <a:r>
                <a:rPr lang="en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SQL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3" name="Google Shape;333;p54"/>
            <p:cNvSpPr txBox="1"/>
            <p:nvPr/>
          </p:nvSpPr>
          <p:spPr>
            <a:xfrm>
              <a:off x="3251350" y="4133413"/>
              <a:ext cx="301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Snapshot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: Version at some specific moment in time. 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34" name="Google Shape;334;p54"/>
          <p:cNvGrpSpPr/>
          <p:nvPr/>
        </p:nvGrpSpPr>
        <p:grpSpPr>
          <a:xfrm>
            <a:off x="6411950" y="710538"/>
            <a:ext cx="2778875" cy="3117000"/>
            <a:chOff x="6411950" y="710538"/>
            <a:chExt cx="2778875" cy="3117000"/>
          </a:xfrm>
        </p:grpSpPr>
        <p:pic>
          <p:nvPicPr>
            <p:cNvPr id="335" name="Google Shape;335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88050" y="1538375"/>
              <a:ext cx="2234799" cy="93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54"/>
            <p:cNvSpPr txBox="1"/>
            <p:nvPr/>
          </p:nvSpPr>
          <p:spPr>
            <a:xfrm>
              <a:off x="6771925" y="2585444"/>
              <a:ext cx="2418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Visualize with seaborn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(or R, matplotlib, Excel…)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7" name="Google Shape;337;p54"/>
            <p:cNvSpPr/>
            <p:nvPr/>
          </p:nvSpPr>
          <p:spPr>
            <a:xfrm>
              <a:off x="6494325" y="710538"/>
              <a:ext cx="765600" cy="510900"/>
            </a:xfrm>
            <a:prstGeom prst="uturnArrow">
              <a:avLst>
                <a:gd fmla="val 11308" name="adj1"/>
                <a:gd fmla="val 25000" name="adj2"/>
                <a:gd fmla="val 32384" name="adj3"/>
                <a:gd fmla="val 43750" name="adj4"/>
                <a:gd fmla="val 80507" name="adj5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8" name="Google Shape;338;p54"/>
            <p:cNvSpPr/>
            <p:nvPr/>
          </p:nvSpPr>
          <p:spPr>
            <a:xfrm rot="10800000">
              <a:off x="6411950" y="3316638"/>
              <a:ext cx="765600" cy="510900"/>
            </a:xfrm>
            <a:prstGeom prst="uturnArrow">
              <a:avLst>
                <a:gd fmla="val 11308" name="adj1"/>
                <a:gd fmla="val 25000" name="adj2"/>
                <a:gd fmla="val 32384" name="adj3"/>
                <a:gd fmla="val 43750" name="adj4"/>
                <a:gd fmla="val 80507" name="adj5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road to UC Berkeley</a:t>
            </a:r>
            <a:endParaRPr/>
          </a:p>
        </p:txBody>
      </p:sp>
      <p:sp>
        <p:nvSpPr>
          <p:cNvPr id="344" name="Google Shape;344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~1,700 public schools in California (i.e., state-funded, no tuition) offer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12th grade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public high school seniors (i.e., 12th graders)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apply</a:t>
            </a:r>
            <a:r>
              <a:rPr lang="en"/>
              <a:t> directly to UC Berkeley.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UC Berkeley chooses whether to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admit</a:t>
            </a:r>
            <a:r>
              <a:rPr lang="en"/>
              <a:t> each student who applies.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Admitted students then choose whether to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attend</a:t>
            </a:r>
            <a:r>
              <a:rPr lang="en"/>
              <a:t> UC Berkeley (i.e., enroll/matriculate)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outcomes: (1)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apply</a:t>
            </a:r>
            <a:r>
              <a:rPr lang="en"/>
              <a:t>, (2)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admit</a:t>
            </a:r>
            <a:r>
              <a:rPr lang="en"/>
              <a:t>, and (3)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attend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5"/>
          <p:cNvSpPr txBox="1"/>
          <p:nvPr/>
        </p:nvSpPr>
        <p:spPr>
          <a:xfrm>
            <a:off x="107050" y="4346950"/>
            <a:ext cx="87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Students can also apply to UC Berkeley from private high schools in California, out-of-state high schools, international high schools, community colleges, and other colleges. We're going to focus just on public high schools in California. </a:t>
            </a:r>
            <a:endParaRPr i="1"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Analyst at Admissions Office</a:t>
            </a:r>
            <a:endParaRPr/>
          </a:p>
        </p:txBody>
      </p:sp>
      <p:sp>
        <p:nvSpPr>
          <p:cNvPr id="352" name="Google Shape;352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Scenario: You are an analyst working for the UC Berkeley admissions office.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manager asks you to identify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/>
              <a:t> California public high schools that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/>
              <a:t> of application, admission, and/or attendance.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admissions office wants to visit these schools to figure out what's going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really well</a:t>
            </a:r>
            <a:r>
              <a:rPr lang="en"/>
              <a:t> or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really wrong</a:t>
            </a:r>
            <a:r>
              <a:rPr lang="en"/>
              <a:t>.</a:t>
            </a:r>
            <a:endParaRPr/>
          </a:p>
        </p:txBody>
      </p:sp>
      <p:sp>
        <p:nvSpPr>
          <p:cNvPr id="353" name="Google Shape;35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Clarifying the task</a:t>
            </a:r>
            <a:endParaRPr/>
          </a:p>
        </p:txBody>
      </p:sp>
      <p:sp>
        <p:nvSpPr>
          <p:cNvPr id="359" name="Google Shape;359;p57"/>
          <p:cNvSpPr txBox="1"/>
          <p:nvPr>
            <p:ph idx="1" type="body"/>
          </p:nvPr>
        </p:nvSpPr>
        <p:spPr>
          <a:xfrm>
            <a:off x="107050" y="1420150"/>
            <a:ext cx="8520600" cy="32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analysis is not solving problem sets. Your future manager is not hiding the correct answer for you to discover.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Huge mindset shift!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science is about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asking good questions</a:t>
            </a:r>
            <a:r>
              <a:rPr lang="en"/>
              <a:t> (and </a:t>
            </a:r>
            <a:r>
              <a:rPr i="1" lang="en"/>
              <a:t>attempting</a:t>
            </a:r>
            <a:r>
              <a:rPr lang="en"/>
              <a:t> to answer them).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Asking questions is a PRACTICED skill. It drives your daily work. It's tested in interviews, too 🙂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practice! </a:t>
            </a:r>
            <a:r>
              <a:rPr lang="en"/>
              <a:t>What kinds of clarifying questions will you ask your manager before tackling this task?</a:t>
            </a:r>
            <a:endParaRPr/>
          </a:p>
        </p:txBody>
      </p:sp>
      <p:sp>
        <p:nvSpPr>
          <p:cNvPr id="360" name="Google Shape;36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7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clarifying questions</a:t>
            </a:r>
            <a:endParaRPr/>
          </a:p>
        </p:txBody>
      </p:sp>
      <p:sp>
        <p:nvSpPr>
          <p:cNvPr id="367" name="Google Shape;367;p58"/>
          <p:cNvSpPr txBox="1"/>
          <p:nvPr>
            <p:ph idx="1" type="body"/>
          </p:nvPr>
        </p:nvSpPr>
        <p:spPr>
          <a:xfrm>
            <a:off x="107050" y="1325250"/>
            <a:ext cx="8520600" cy="3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five schools? Why not three or ten or some other number?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focus on California public schools? Why not a different state? Why not private schools?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a "typical" pattern? Is this defined across all schools or just similar groups of schools?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you care most about applications, admission, or attendance?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you want to look at schools over time, or just in one year?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Are you more interested in high-performing schools or low-performing schools?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kind of data do we have access to? What data could we request access to?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8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9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 Ended Here!</a:t>
            </a:r>
            <a:endParaRPr/>
          </a:p>
        </p:txBody>
      </p:sp>
      <p:sp>
        <p:nvSpPr>
          <p:cNvPr id="375" name="Google Shape;375;p59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9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admissions data</a:t>
            </a:r>
            <a:endParaRPr/>
          </a:p>
        </p:txBody>
      </p:sp>
      <p:sp>
        <p:nvSpPr>
          <p:cNvPr id="382" name="Google Shape;382;p60"/>
          <p:cNvSpPr txBox="1"/>
          <p:nvPr>
            <p:ph idx="1" type="body"/>
          </p:nvPr>
        </p:nvSpPr>
        <p:spPr>
          <a:xfrm>
            <a:off x="107050" y="502225"/>
            <a:ext cx="4049400" cy="44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UC provides data on the number of applicants, admits, and attendees from schools around the world.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will work with the public high school (HS) data for students admitted in 2025.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🧙There is lots of public data on the internet. Be scrappy! You are not helpless!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🧑‍💻 Personal project idea: Repeat analysis for multiple years, types of high schools, and different UC campuses.</a:t>
            </a:r>
            <a:endParaRPr/>
          </a:p>
        </p:txBody>
      </p:sp>
      <p:sp>
        <p:nvSpPr>
          <p:cNvPr id="383" name="Google Shape;38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4" name="Google Shape;38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850" y="546000"/>
            <a:ext cx="4049401" cy="425097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60"/>
          <p:cNvSpPr txBox="1"/>
          <p:nvPr/>
        </p:nvSpPr>
        <p:spPr>
          <a:xfrm>
            <a:off x="4308850" y="4796975"/>
            <a:ext cx="460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Light"/>
                <a:ea typeface="Roboto Light"/>
                <a:cs typeface="Roboto Light"/>
                <a:sym typeface="Roboto Light"/>
              </a:rPr>
              <a:t>Data: </a:t>
            </a:r>
            <a:r>
              <a:rPr lang="en" sz="9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universityofcalifornia.edu/about-us/information-center/admissions-source-school</a:t>
            </a:r>
            <a:r>
              <a:rPr lang="en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9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admissions dataset</a:t>
            </a:r>
            <a:endParaRPr/>
          </a:p>
        </p:txBody>
      </p:sp>
      <p:sp>
        <p:nvSpPr>
          <p:cNvPr id="391" name="Google Shape;39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1"/>
          <p:cNvSpPr txBox="1"/>
          <p:nvPr/>
        </p:nvSpPr>
        <p:spPr>
          <a:xfrm>
            <a:off x="94750" y="444913"/>
            <a:ext cx="874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What questions do you have about this dataset? What do you know from just this preview?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93" name="Google Shape;39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575" y="876026"/>
            <a:ext cx="5302174" cy="30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6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400" name="Google Shape;400;p6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401" name="Google Shape;401;p62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questions do you have about this dataset? What do you know from just this preview?</a:t>
            </a:r>
            <a:endParaRPr b="1" sz="29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6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3" name="Google Shape;403;p6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04" name="Google Shape;404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405" name="Google Shape;405;p62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admissions dataset</a:t>
            </a:r>
            <a:endParaRPr/>
          </a:p>
        </p:txBody>
      </p:sp>
      <p:sp>
        <p:nvSpPr>
          <p:cNvPr id="411" name="Google Shape;41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63"/>
          <p:cNvSpPr txBox="1"/>
          <p:nvPr/>
        </p:nvSpPr>
        <p:spPr>
          <a:xfrm>
            <a:off x="94750" y="444913"/>
            <a:ext cx="874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What questions do you have about this dataset? What do you know from just this preview?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413" name="Google Shape;413;p63"/>
          <p:cNvGraphicFramePr/>
          <p:nvPr/>
        </p:nvGraphicFramePr>
        <p:xfrm>
          <a:off x="568625" y="4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2143150"/>
                <a:gridCol w="4042800"/>
                <a:gridCol w="1820800"/>
              </a:tblGrid>
              <a:tr h="14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Load in the dataset.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Show a preview of the data.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 = pl.read_csv('pivoted-ucb-admissions.csv')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414" name="Google Shape;414;p63"/>
          <p:cNvSpPr txBox="1"/>
          <p:nvPr/>
        </p:nvSpPr>
        <p:spPr>
          <a:xfrm>
            <a:off x="540750" y="4570525"/>
            <a:ext cx="81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CSV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Comma separated values file. Common way to store tabular data. </a:t>
            </a:r>
            <a:b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the polars object for tabular data.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15" name="Google Shape;41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575" y="876026"/>
            <a:ext cx="5302174" cy="30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Code in Data 100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1" name="Google Shape;421;p64"/>
          <p:cNvSpPr txBox="1"/>
          <p:nvPr>
            <p:ph idx="1" type="body"/>
          </p:nvPr>
        </p:nvSpPr>
        <p:spPr>
          <a:xfrm>
            <a:off x="107050" y="402200"/>
            <a:ext cx="83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scientists are doing more of their work by giving LLMs </a:t>
            </a:r>
            <a:r>
              <a:rPr b="1" lang="en" u="sng">
                <a:latin typeface="Roboto"/>
                <a:ea typeface="Roboto"/>
                <a:cs typeface="Roboto"/>
                <a:sym typeface="Roboto"/>
              </a:rPr>
              <a:t>specific</a:t>
            </a:r>
            <a:r>
              <a:rPr lang="en"/>
              <a:t> instructions in English, as opposed to writing code from scratch.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That being said, data scientists often need to read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and understand</a:t>
            </a:r>
            <a:r>
              <a:rPr lang="en"/>
              <a:t> code produced by LLMs and by other data scientists.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100 is adapting to this trend. You will spend more time providing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precise English instructions </a:t>
            </a:r>
            <a:r>
              <a:rPr lang="en"/>
              <a:t>and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interpreting code</a:t>
            </a:r>
            <a:r>
              <a:rPr lang="en"/>
              <a:t>, as opposed to writing </a:t>
            </a:r>
            <a:r>
              <a:rPr lang="en"/>
              <a:t>code from scratch.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still complete Data 100 without ever interacting with an LLM! But, to stay competitive on the job market, we encourage you to develop basic fluency with LLMs.</a:t>
            </a:r>
            <a:endParaRPr/>
          </a:p>
        </p:txBody>
      </p:sp>
      <p:sp>
        <p:nvSpPr>
          <p:cNvPr id="422" name="Google Shape;42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questions about the admissions dataset</a:t>
            </a:r>
            <a:endParaRPr/>
          </a:p>
        </p:txBody>
      </p:sp>
      <p:sp>
        <p:nvSpPr>
          <p:cNvPr id="428" name="Google Shape;428;p65"/>
          <p:cNvSpPr txBox="1"/>
          <p:nvPr>
            <p:ph idx="1" type="body"/>
          </p:nvPr>
        </p:nvSpPr>
        <p:spPr>
          <a:xfrm>
            <a:off x="193900" y="1551125"/>
            <a:ext cx="8520600" cy="30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you trust the data? How closely does it correspond to the truth?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schools have the highest application/admission/attendance rates?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Extremes.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r>
              <a:rPr lang="en"/>
              <a:t>How much do application/admission/attendance rates differ across schools?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Are other school characteristics related to the rates above?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Correlation.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We could ask more, but let's start with these next time!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9" name="Google Shape;42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65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questions about the admissions dataset</a:t>
            </a:r>
            <a:endParaRPr/>
          </a:p>
        </p:txBody>
      </p:sp>
      <p:sp>
        <p:nvSpPr>
          <p:cNvPr id="436" name="Google Shape;436;p66"/>
          <p:cNvSpPr txBox="1"/>
          <p:nvPr>
            <p:ph idx="1" type="body"/>
          </p:nvPr>
        </p:nvSpPr>
        <p:spPr>
          <a:xfrm>
            <a:off x="193900" y="1551125"/>
            <a:ext cx="8520600" cy="30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you trust the data? How closely does it correspond to the truth?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Which schools have the highest application/admission/attendance rates?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Extremes.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How much do application/admission/attendance rates differ across schools?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Are other school characteristics related to the rates above?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Correlation.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We could ask more, but let's start with these for now!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7" name="Google Shape;43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6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about data provenance (i.e., where the data comes from)</a:t>
            </a:r>
            <a:endParaRPr/>
          </a:p>
        </p:txBody>
      </p:sp>
      <p:sp>
        <p:nvSpPr>
          <p:cNvPr id="444" name="Google Shape;444;p67"/>
          <p:cNvSpPr txBox="1"/>
          <p:nvPr>
            <p:ph idx="1" type="body"/>
          </p:nvPr>
        </p:nvSpPr>
        <p:spPr>
          <a:xfrm>
            <a:off x="116725" y="3062875"/>
            <a:ext cx="8810700" cy="17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Where did our data come from?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UC admissions public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reshaped</a:t>
            </a:r>
            <a:r>
              <a:rPr lang="en"/>
              <a:t> the data to make it easier to work with. The transformation above is called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pivot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values were changed in the pivot. Missing values are shown as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dropped rows with no visible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6" name="Google Shape;446;p67"/>
          <p:cNvGrpSpPr/>
          <p:nvPr/>
        </p:nvGrpSpPr>
        <p:grpSpPr>
          <a:xfrm>
            <a:off x="210525" y="592075"/>
            <a:ext cx="3345901" cy="2075827"/>
            <a:chOff x="210525" y="592075"/>
            <a:chExt cx="3345901" cy="2075827"/>
          </a:xfrm>
        </p:grpSpPr>
        <p:pic>
          <p:nvPicPr>
            <p:cNvPr id="447" name="Google Shape;447;p67"/>
            <p:cNvPicPr preferRelativeResize="0"/>
            <p:nvPr/>
          </p:nvPicPr>
          <p:blipFill rotWithShape="1">
            <a:blip r:embed="rId4">
              <a:alphaModFix/>
            </a:blip>
            <a:srcRect b="0" l="0" r="0" t="53175"/>
            <a:stretch/>
          </p:blipFill>
          <p:spPr>
            <a:xfrm>
              <a:off x="210525" y="1023175"/>
              <a:ext cx="3345901" cy="1644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67"/>
            <p:cNvSpPr txBox="1"/>
            <p:nvPr/>
          </p:nvSpPr>
          <p:spPr>
            <a:xfrm>
              <a:off x="875800" y="592075"/>
              <a:ext cx="20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From </a:t>
              </a:r>
              <a:r>
                <a:rPr lang="en" sz="1600" u="sng">
                  <a:solidFill>
                    <a:schemeClr val="hlink"/>
                  </a:solidFill>
                  <a:latin typeface="Roboto Light"/>
                  <a:ea typeface="Roboto Light"/>
                  <a:cs typeface="Roboto Light"/>
                  <a:sym typeface="Roboto Light"/>
                  <a:hlinkClick r:id="rId5"/>
                </a:rPr>
                <a:t>website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49" name="Google Shape;449;p67"/>
          <p:cNvSpPr txBox="1"/>
          <p:nvPr/>
        </p:nvSpPr>
        <p:spPr>
          <a:xfrm>
            <a:off x="6091850" y="474200"/>
            <a:ext cx="97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Our data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50" name="Google Shape;450;p67"/>
          <p:cNvSpPr/>
          <p:nvPr/>
        </p:nvSpPr>
        <p:spPr>
          <a:xfrm>
            <a:off x="277775" y="2342575"/>
            <a:ext cx="3333300" cy="41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👋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51" name="Google Shape;45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5678" y="888450"/>
            <a:ext cx="4300460" cy="2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is there missing data?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8"/>
          <p:cNvSpPr txBox="1"/>
          <p:nvPr>
            <p:ph idx="1" type="body"/>
          </p:nvPr>
        </p:nvSpPr>
        <p:spPr>
          <a:xfrm>
            <a:off x="93150" y="3936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Do you trust this data? Is it "complete"?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Admit/attend counts &lt;3 are written as null (i.e., missing). </a:t>
            </a: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excluded schools with &lt;5 applicants. </a:t>
            </a:r>
            <a:endParaRPr/>
          </a:p>
        </p:txBody>
      </p:sp>
      <p:sp>
        <p:nvSpPr>
          <p:cNvPr id="458" name="Google Shape;45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59" name="Google Shape;459;p68"/>
          <p:cNvGraphicFramePr/>
          <p:nvPr/>
        </p:nvGraphicFramePr>
        <p:xfrm>
          <a:off x="181388" y="410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877700"/>
                <a:gridCol w="4233350"/>
                <a:gridCol w="2180000"/>
              </a:tblGrid>
              <a:tr h="5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9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Sort the dataset in ascending order by the 'applied' column.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.sort('applied', descending=False)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applied ASC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460" name="Google Shape;46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00" y="1605625"/>
            <a:ext cx="4883701" cy="22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68"/>
          <p:cNvSpPr txBox="1"/>
          <p:nvPr/>
        </p:nvSpPr>
        <p:spPr>
          <a:xfrm>
            <a:off x="5394750" y="1722275"/>
            <a:ext cx="3509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Why does UC hide low counts? Privacy. Imagine a HS with applied=1 and admitted=0. Suppose you know a student </a:t>
            </a: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from that HS </a:t>
            </a: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who applied to Berkeley. With your knowledge </a:t>
            </a:r>
            <a:r>
              <a:rPr i="1" lang="en" sz="11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and</a:t>
            </a: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the UC data, you could figure out that student was rejected from Berkeley. Breach of privacy!</a:t>
            </a:r>
            <a:b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Seminal research about </a:t>
            </a:r>
            <a:r>
              <a:rPr b="1"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identifiability</a:t>
            </a: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i="1" lang="en" sz="11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Sweeney (2000)</a:t>
            </a:r>
            <a:b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 the </a:t>
            </a:r>
            <a:r>
              <a:rPr i="1" lang="en" sz="11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6"/>
              </a:rPr>
              <a:t>news</a:t>
            </a:r>
            <a:r>
              <a:rPr i="1"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recently, too!</a:t>
            </a:r>
            <a:endParaRPr i="1"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The admissions dataset</a:t>
            </a:r>
            <a:endParaRPr/>
          </a:p>
        </p:txBody>
      </p:sp>
      <p:sp>
        <p:nvSpPr>
          <p:cNvPr id="467" name="Google Shape;46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8" name="Google Shape;46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83" y="596500"/>
            <a:ext cx="7053301" cy="41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Are all students represented?</a:t>
            </a:r>
            <a:endParaRPr/>
          </a:p>
        </p:txBody>
      </p:sp>
      <p:sp>
        <p:nvSpPr>
          <p:cNvPr id="474" name="Google Shape;474;p70"/>
          <p:cNvSpPr txBox="1"/>
          <p:nvPr>
            <p:ph idx="1" type="body"/>
          </p:nvPr>
        </p:nvSpPr>
        <p:spPr>
          <a:xfrm>
            <a:off x="107050" y="402200"/>
            <a:ext cx="8810700" cy="20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Do you trust this data? Is it "complete"?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~1700 traditional public schools</a:t>
            </a:r>
            <a:r>
              <a:rPr lang="en"/>
              <a:t> offer 12th grade in CA, but only ~1300 rows in dataset. Why?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76" name="Google Shape;476;p70"/>
          <p:cNvGraphicFramePr/>
          <p:nvPr/>
        </p:nvGraphicFramePr>
        <p:xfrm>
          <a:off x="229538" y="127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877700"/>
                <a:gridCol w="4233350"/>
                <a:gridCol w="2180000"/>
              </a:tblGrid>
              <a:tr h="14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 the number of rows in the dataset.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len(df)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       OR         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df.shape[0]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COUNT(*)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7" name="Google Shape;477;p70"/>
          <p:cNvSpPr txBox="1"/>
          <p:nvPr/>
        </p:nvSpPr>
        <p:spPr>
          <a:xfrm>
            <a:off x="226150" y="2691575"/>
            <a:ext cx="56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478" name="Google Shape;478;p70"/>
          <p:cNvGraphicFramePr/>
          <p:nvPr/>
        </p:nvGraphicFramePr>
        <p:xfrm>
          <a:off x="229538" y="3504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877700"/>
                <a:gridCol w="4233350"/>
                <a:gridCol w="2180000"/>
              </a:tblGrid>
              <a:tr h="3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Find the minimum of the 'applied' column.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df['applied'].min()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MIN(applied)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9" name="Google Shape;479;p70"/>
          <p:cNvSpPr txBox="1"/>
          <p:nvPr/>
        </p:nvSpPr>
        <p:spPr>
          <a:xfrm>
            <a:off x="226150" y="2379063"/>
            <a:ext cx="822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Two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main reasons: 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1. Schools with no applicants are excluded from UC data entirely. See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Documentation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2. We also dropped rows with no 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visible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data (i.e., 1–4 applicants).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0" name="Google Shape;480;p70"/>
          <p:cNvSpPr txBox="1"/>
          <p:nvPr/>
        </p:nvSpPr>
        <p:spPr>
          <a:xfrm>
            <a:off x="2107250" y="4403950"/>
            <a:ext cx="634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Same approach for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or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and lots of other summarizing functions.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wisdom</a:t>
            </a:r>
            <a:endParaRPr/>
          </a:p>
        </p:txBody>
      </p:sp>
      <p:sp>
        <p:nvSpPr>
          <p:cNvPr id="486" name="Google Shape;486;p71"/>
          <p:cNvSpPr txBox="1"/>
          <p:nvPr>
            <p:ph idx="1" type="body"/>
          </p:nvPr>
        </p:nvSpPr>
        <p:spPr>
          <a:xfrm>
            <a:off x="107050" y="402200"/>
            <a:ext cx="8520600" cy="4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🧙 Data ≠ truth. Data can be a good/OK/bad/incorrect approximation of reality.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Just because it's in a neatly organized table does not mean it's reliable!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Be skeptical about your data.</a:t>
            </a:r>
            <a:r>
              <a:rPr lang="en"/>
              <a:t> Where does it come from? What's missing? How is it limited?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concerns about admissions dataset: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Not all public high schools in California are represented.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We have limited information about schools with few applicants to UC Berkeley.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🧙 However, don't give up because of data limitations.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Data scientists often make do with imperfect data.</a:t>
            </a:r>
            <a:r>
              <a:rPr lang="en"/>
              <a:t> Be forthcoming about limitations, but push forward! </a:t>
            </a:r>
            <a:endParaRPr/>
          </a:p>
        </p:txBody>
      </p:sp>
      <p:sp>
        <p:nvSpPr>
          <p:cNvPr id="487" name="Google Shape;48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questions about the admissions dataset</a:t>
            </a:r>
            <a:endParaRPr/>
          </a:p>
        </p:txBody>
      </p:sp>
      <p:sp>
        <p:nvSpPr>
          <p:cNvPr id="493" name="Google Shape;493;p72"/>
          <p:cNvSpPr txBox="1"/>
          <p:nvPr>
            <p:ph idx="1" type="body"/>
          </p:nvPr>
        </p:nvSpPr>
        <p:spPr>
          <a:xfrm>
            <a:off x="107050" y="1524175"/>
            <a:ext cx="85206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 you trust the data? How closely does it correspond to the truth?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schools have the highest application/admission/attendance rates?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Extremes.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>
                <a:solidFill>
                  <a:schemeClr val="dk2"/>
                </a:solidFill>
              </a:rPr>
              <a:t>How much do application/admission/attendance rates differ across schools?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How are distance from UC Berkeley, average socioeconomic status, free/reduced lunch percentage, and charter status related to the rates above?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Correlations.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72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outlier schools</a:t>
            </a:r>
            <a:endParaRPr/>
          </a:p>
        </p:txBody>
      </p:sp>
      <p:sp>
        <p:nvSpPr>
          <p:cNvPr id="501" name="Google Shape;501;p73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schools have the highest application rates?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03" name="Google Shape;503;p73"/>
          <p:cNvGraphicFramePr/>
          <p:nvPr/>
        </p:nvGraphicFramePr>
        <p:xfrm>
          <a:off x="181388" y="414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877700"/>
                <a:gridCol w="4233350"/>
                <a:gridCol w="2180000"/>
              </a:tblGrid>
              <a:tr h="1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Sort the dataset in descending order by the 'applied' column.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.sort('applied', descending=True)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applied DESC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504" name="Google Shape;504;p73"/>
          <p:cNvSpPr txBox="1"/>
          <p:nvPr/>
        </p:nvSpPr>
        <p:spPr>
          <a:xfrm>
            <a:off x="3731025" y="3075550"/>
            <a:ext cx="349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No! These are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not rates.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5" name="Google Shape;505;p73"/>
          <p:cNvSpPr txBox="1"/>
          <p:nvPr/>
        </p:nvSpPr>
        <p:spPr>
          <a:xfrm>
            <a:off x="276025" y="3544950"/>
            <a:ext cx="44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Application rate = # applied / </a:t>
            </a:r>
            <a:r>
              <a:rPr i="1"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possible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applicants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73"/>
          <p:cNvSpPr txBox="1"/>
          <p:nvPr/>
        </p:nvSpPr>
        <p:spPr>
          <a:xfrm>
            <a:off x="240525" y="3075550"/>
            <a:ext cx="349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Does this table answer the question?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507" name="Google Shape;507;p73"/>
          <p:cNvGrpSpPr/>
          <p:nvPr/>
        </p:nvGrpSpPr>
        <p:grpSpPr>
          <a:xfrm>
            <a:off x="4974150" y="3317700"/>
            <a:ext cx="3853800" cy="658350"/>
            <a:chOff x="4974150" y="3317700"/>
            <a:chExt cx="3853800" cy="658350"/>
          </a:xfrm>
        </p:grpSpPr>
        <p:sp>
          <p:nvSpPr>
            <p:cNvPr id="508" name="Google Shape;508;p73"/>
            <p:cNvSpPr txBox="1"/>
            <p:nvPr/>
          </p:nvSpPr>
          <p:spPr>
            <a:xfrm>
              <a:off x="4974150" y="3544950"/>
              <a:ext cx="275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≈  # applied / </a:t>
              </a: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# 12th graders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09" name="Google Shape;509;p73"/>
            <p:cNvSpPr txBox="1"/>
            <p:nvPr/>
          </p:nvSpPr>
          <p:spPr>
            <a:xfrm>
              <a:off x="7024650" y="3317700"/>
              <a:ext cx="1803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⚠️Assumption!</a:t>
              </a:r>
              <a:endParaRPr i="1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pic>
        <p:nvPicPr>
          <p:cNvPr id="510" name="Google Shape;510;p73"/>
          <p:cNvPicPr preferRelativeResize="0"/>
          <p:nvPr/>
        </p:nvPicPr>
        <p:blipFill rotWithShape="1">
          <a:blip r:embed="rId3">
            <a:alphaModFix/>
          </a:blip>
          <a:srcRect b="0" l="6455" r="0" t="23041"/>
          <a:stretch/>
        </p:blipFill>
        <p:spPr>
          <a:xfrm>
            <a:off x="917025" y="950688"/>
            <a:ext cx="6962051" cy="1948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6" name="Google Shape;51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75" y="152400"/>
            <a:ext cx="781534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in New Data</a:t>
            </a:r>
            <a:endParaRPr/>
          </a:p>
        </p:txBody>
      </p:sp>
      <p:sp>
        <p:nvSpPr>
          <p:cNvPr id="522" name="Google Shape;522;p75"/>
          <p:cNvSpPr txBox="1"/>
          <p:nvPr>
            <p:ph idx="1" type="body"/>
          </p:nvPr>
        </p:nvSpPr>
        <p:spPr>
          <a:xfrm>
            <a:off x="107050" y="402200"/>
            <a:ext cx="8520600" cy="22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California Department of Education publishes </a:t>
            </a:r>
            <a:r>
              <a:rPr lang="en" u="sng">
                <a:solidFill>
                  <a:schemeClr val="hlink"/>
                </a:solidFill>
                <a:hlinkClick r:id="rId3"/>
              </a:rPr>
              <a:t>lots of data</a:t>
            </a:r>
            <a:r>
              <a:rPr lang="en"/>
              <a:t> on schools in CA.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Census Day Enrollment Data</a:t>
            </a:r>
            <a:r>
              <a:rPr lang="en"/>
              <a:t> to find the # of 12th graders at each school in the 2024-2025 academic year.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we can join the UC admissions data to the </a:t>
            </a:r>
            <a:r>
              <a:rPr lang="en"/>
              <a:t>12th grade enrollment data</a:t>
            </a:r>
            <a:r>
              <a:rPr lang="en"/>
              <a:t>. </a:t>
            </a:r>
            <a:r>
              <a:rPr i="1" lang="en"/>
              <a:t>Note: Joining this data is tricky, </a:t>
            </a:r>
            <a:r>
              <a:rPr i="1" lang="en"/>
              <a:t>since</a:t>
            </a:r>
            <a:r>
              <a:rPr i="1" lang="en"/>
              <a:t> high school names can be written differently in different places.</a:t>
            </a:r>
            <a:endParaRPr/>
          </a:p>
        </p:txBody>
      </p:sp>
      <p:sp>
        <p:nvSpPr>
          <p:cNvPr id="523" name="Google Shape;52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24" name="Google Shape;524;p75"/>
          <p:cNvGrpSpPr/>
          <p:nvPr/>
        </p:nvGrpSpPr>
        <p:grpSpPr>
          <a:xfrm>
            <a:off x="926363" y="2762875"/>
            <a:ext cx="6977533" cy="2216100"/>
            <a:chOff x="926363" y="2762875"/>
            <a:chExt cx="6977533" cy="2216100"/>
          </a:xfrm>
        </p:grpSpPr>
        <p:pic>
          <p:nvPicPr>
            <p:cNvPr id="525" name="Google Shape;52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26363" y="2789575"/>
              <a:ext cx="6977533" cy="21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75"/>
            <p:cNvSpPr/>
            <p:nvPr/>
          </p:nvSpPr>
          <p:spPr>
            <a:xfrm>
              <a:off x="6459634" y="2762875"/>
              <a:ext cx="77400" cy="2216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1" name="Google Shape;531;p76"/>
          <p:cNvGraphicFramePr/>
          <p:nvPr/>
        </p:nvGraphicFramePr>
        <p:xfrm>
          <a:off x="181375" y="412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620000"/>
                <a:gridCol w="3956475"/>
                <a:gridCol w="2944125"/>
              </a:tblGrid>
              <a:tr h="3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6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Create a new column with the application rate for each school.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 = pd.read_csv('pivoted-ucb-data-w-enrollment.csv')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= df.with_columns(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app_rate=pl.col(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'applied') / pl.col('grade_12')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applied / grade_12 AS app_rate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532" name="Google Shape;532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the application rate</a:t>
            </a:r>
            <a:endParaRPr/>
          </a:p>
        </p:txBody>
      </p:sp>
      <p:sp>
        <p:nvSpPr>
          <p:cNvPr id="533" name="Google Shape;533;p76"/>
          <p:cNvSpPr txBox="1"/>
          <p:nvPr>
            <p:ph idx="1" type="body"/>
          </p:nvPr>
        </p:nvSpPr>
        <p:spPr>
          <a:xfrm>
            <a:off x="107050" y="402200"/>
            <a:ext cx="8810700" cy="33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 rate = # applied / # 12th graders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5" name="Google Shape;535;p76"/>
          <p:cNvPicPr preferRelativeResize="0"/>
          <p:nvPr/>
        </p:nvPicPr>
        <p:blipFill rotWithShape="1">
          <a:blip r:embed="rId3">
            <a:alphaModFix/>
          </a:blip>
          <a:srcRect b="0" l="0" r="9322" t="0"/>
          <a:stretch/>
        </p:blipFill>
        <p:spPr>
          <a:xfrm>
            <a:off x="497100" y="1135875"/>
            <a:ext cx="6976074" cy="240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6"/>
          <p:cNvPicPr preferRelativeResize="0"/>
          <p:nvPr/>
        </p:nvPicPr>
        <p:blipFill rotWithShape="1">
          <a:blip r:embed="rId3">
            <a:alphaModFix/>
          </a:blip>
          <a:srcRect b="0" l="90748" r="0" t="0"/>
          <a:stretch/>
        </p:blipFill>
        <p:spPr>
          <a:xfrm>
            <a:off x="7473175" y="1135875"/>
            <a:ext cx="711823" cy="24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6"/>
          <p:cNvSpPr/>
          <p:nvPr/>
        </p:nvSpPr>
        <p:spPr>
          <a:xfrm>
            <a:off x="4088475" y="1081950"/>
            <a:ext cx="550500" cy="247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8" name="Google Shape;538;p76"/>
          <p:cNvSpPr/>
          <p:nvPr/>
        </p:nvSpPr>
        <p:spPr>
          <a:xfrm>
            <a:off x="6816525" y="1024675"/>
            <a:ext cx="675900" cy="2517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Highest application rates</a:t>
            </a:r>
            <a:endParaRPr/>
          </a:p>
        </p:txBody>
      </p:sp>
      <p:sp>
        <p:nvSpPr>
          <p:cNvPr id="544" name="Google Shape;544;p77"/>
          <p:cNvSpPr txBox="1"/>
          <p:nvPr>
            <p:ph idx="1" type="body"/>
          </p:nvPr>
        </p:nvSpPr>
        <p:spPr>
          <a:xfrm>
            <a:off x="107050" y="402200"/>
            <a:ext cx="88107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schools have the highest application rates?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46" name="Google Shape;546;p77"/>
          <p:cNvGraphicFramePr/>
          <p:nvPr/>
        </p:nvGraphicFramePr>
        <p:xfrm>
          <a:off x="181375" y="412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620000"/>
                <a:gridCol w="3956475"/>
                <a:gridCol w="2944125"/>
              </a:tblGrid>
              <a:tr h="3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6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Sort the DataFrame by the app_rate column in descending order.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.sort('app_rate', descending=True)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applied / grade_12 AS app_rate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b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app_rate DESC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547" name="Google Shape;54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725" y="1006650"/>
            <a:ext cx="6257552" cy="21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77"/>
          <p:cNvSpPr txBox="1"/>
          <p:nvPr/>
        </p:nvSpPr>
        <p:spPr>
          <a:xfrm>
            <a:off x="210650" y="3241575"/>
            <a:ext cx="627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How can you have an application rate over 100%?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 entry error? Maybe some 11th graders applied? Incorrect join?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9" name="Google Shape;549;p77"/>
          <p:cNvSpPr/>
          <p:nvPr/>
        </p:nvSpPr>
        <p:spPr>
          <a:xfrm>
            <a:off x="6580850" y="981400"/>
            <a:ext cx="590400" cy="1543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Highest application rates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8"/>
          <p:cNvSpPr txBox="1"/>
          <p:nvPr>
            <p:ph idx="1" type="body"/>
          </p:nvPr>
        </p:nvSpPr>
        <p:spPr>
          <a:xfrm>
            <a:off x="107050" y="402200"/>
            <a:ext cx="88107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issue is rare. Let's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filter</a:t>
            </a:r>
            <a:r>
              <a:rPr lang="en"/>
              <a:t> the dataset to remove the four unusual data points.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57" name="Google Shape;557;p78"/>
          <p:cNvGraphicFramePr/>
          <p:nvPr/>
        </p:nvGraphicFramePr>
        <p:xfrm>
          <a:off x="201050" y="399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622200"/>
                <a:gridCol w="3847875"/>
                <a:gridCol w="2917400"/>
              </a:tblGrid>
              <a:tr h="7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1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Filter data to rows where app_rate &lt;= 1.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Then, sort by app_rate.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df_new</a:t>
                      </a: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df.filter(pl.col('app_rate') &lt;= 1)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df_new.sort('app_rate', descending=True)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applied/grade_12 AS app_rate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 app_rate &lt;= 1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app_rate DESC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558" name="Google Shape;55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850" y="933454"/>
            <a:ext cx="6245725" cy="20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8"/>
          <p:cNvSpPr txBox="1"/>
          <p:nvPr/>
        </p:nvSpPr>
        <p:spPr>
          <a:xfrm>
            <a:off x="225000" y="3212375"/>
            <a:ext cx="709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Are we done? Do we have an answer to our manager's original question?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5" name="Google Shape;565;p7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566" name="Google Shape;566;p79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Are we done? Do we have an answer to our manager's original request to identify five unusual schools?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7" name="Google Shape;567;p7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8" name="Google Shape;568;p7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69" name="Google Shape;569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570" name="Google Shape;570;p7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571" name="Google Shape;571;p7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Returning to the original question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0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We certainly have an answer,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but is it the best we can do</a:t>
            </a:r>
            <a:r>
              <a:rPr lang="en"/>
              <a:t>?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not considered </a:t>
            </a:r>
            <a:r>
              <a:rPr lang="en"/>
              <a:t>low application rates, or</a:t>
            </a:r>
            <a:r>
              <a:rPr lang="en"/>
              <a:t> admission/</a:t>
            </a:r>
            <a:r>
              <a:rPr lang="en"/>
              <a:t>attendance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not defined "typical pattern".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of the schools is quite small. Another one looks like a specialized school.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this a good representation of different kinds of public schools in California?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🧙 One of the key tasks of a data scientist is to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define "success"</a:t>
            </a:r>
            <a:r>
              <a:rPr lang="en"/>
              <a:t>. You'll often need to transform fuzzy instructions into concrete goals or metrics.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9" name="Google Shape;5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125" y="1182675"/>
            <a:ext cx="4480698" cy="14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80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Operations So Far</a:t>
            </a:r>
            <a:endParaRPr/>
          </a:p>
        </p:txBody>
      </p:sp>
      <p:sp>
        <p:nvSpPr>
          <p:cNvPr id="586" name="Google Shape;586;p81"/>
          <p:cNvSpPr txBox="1"/>
          <p:nvPr>
            <p:ph idx="1" type="body"/>
          </p:nvPr>
        </p:nvSpPr>
        <p:spPr>
          <a:xfrm>
            <a:off x="107050" y="629275"/>
            <a:ext cx="8520600" cy="31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View</a:t>
            </a:r>
            <a:r>
              <a:rPr lang="en"/>
              <a:t> a preview of a dataframe.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Select</a:t>
            </a:r>
            <a:r>
              <a:rPr lang="en"/>
              <a:t> specific rows or columns.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en"/>
              <a:t> new columns.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Filter</a:t>
            </a:r>
            <a:r>
              <a:rPr lang="en"/>
              <a:t> to specific rows.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lang="en"/>
              <a:t> the data by the values in a column.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Join</a:t>
            </a:r>
            <a:r>
              <a:rPr lang="en"/>
              <a:t> in additional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incoming!</a:t>
            </a:r>
            <a:endParaRPr/>
          </a:p>
        </p:txBody>
      </p:sp>
      <p:sp>
        <p:nvSpPr>
          <p:cNvPr id="587" name="Google Shape;587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questions about the admissions dataset</a:t>
            </a:r>
            <a:endParaRPr/>
          </a:p>
        </p:txBody>
      </p:sp>
      <p:sp>
        <p:nvSpPr>
          <p:cNvPr id="593" name="Google Shape;593;p82"/>
          <p:cNvSpPr txBox="1"/>
          <p:nvPr>
            <p:ph idx="1" type="body"/>
          </p:nvPr>
        </p:nvSpPr>
        <p:spPr>
          <a:xfrm>
            <a:off x="107050" y="550600"/>
            <a:ext cx="8520600" cy="4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 you trust the data? How closely does it correspond to the truth?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Which schools have the highest application/admission/attendance rates?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Extremes.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How much do application/admission/attendance rates differ across schools?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How are distance from UC Berkeley, average socioeconomic status, free/reduced lunch percentage, and charter status related to the rates above?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Correlation.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 are OK!</a:t>
            </a:r>
            <a:endParaRPr/>
          </a:p>
        </p:txBody>
      </p:sp>
      <p:sp>
        <p:nvSpPr>
          <p:cNvPr id="600" name="Google Shape;600;p83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application rates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02" name="Google Shape;602;p83"/>
          <p:cNvGraphicFramePr/>
          <p:nvPr/>
        </p:nvGraphicFramePr>
        <p:xfrm>
          <a:off x="107050" y="455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359900"/>
                <a:gridCol w="2722475"/>
                <a:gridCol w="2624550"/>
              </a:tblGrid>
              <a:tr h="1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Compute summary statistics about app_rate.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df.select('app_rate').describe()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No concise equivalent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603" name="Google Shape;603;p83"/>
          <p:cNvSpPr txBox="1"/>
          <p:nvPr/>
        </p:nvSpPr>
        <p:spPr>
          <a:xfrm>
            <a:off x="1736125" y="3068702"/>
            <a:ext cx="26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Is this helpful?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4" name="Google Shape;604;p83"/>
          <p:cNvSpPr txBox="1"/>
          <p:nvPr/>
        </p:nvSpPr>
        <p:spPr>
          <a:xfrm>
            <a:off x="1736125" y="3586827"/>
            <a:ext cx="689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Kind of. But humans process images a lot faster than text.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05" name="Google Shape;60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950" y="1061175"/>
            <a:ext cx="4480698" cy="14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51" y="2772551"/>
            <a:ext cx="1505475" cy="12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Plots</a:t>
            </a:r>
            <a:endParaRPr/>
          </a:p>
        </p:txBody>
      </p:sp>
      <p:sp>
        <p:nvSpPr>
          <p:cNvPr id="612" name="Google Shape;61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3" name="Google Shape;613;p84"/>
          <p:cNvPicPr preferRelativeResize="0"/>
          <p:nvPr/>
        </p:nvPicPr>
        <p:blipFill rotWithShape="1">
          <a:blip r:embed="rId3">
            <a:alphaModFix/>
          </a:blip>
          <a:srcRect b="0" l="9412" r="0" t="656"/>
          <a:stretch/>
        </p:blipFill>
        <p:spPr>
          <a:xfrm>
            <a:off x="1357275" y="768575"/>
            <a:ext cx="2794726" cy="385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4" name="Google Shape;614;p84"/>
          <p:cNvGrpSpPr/>
          <p:nvPr/>
        </p:nvGrpSpPr>
        <p:grpSpPr>
          <a:xfrm>
            <a:off x="3880100" y="1621950"/>
            <a:ext cx="4148125" cy="1259575"/>
            <a:chOff x="3880100" y="1621950"/>
            <a:chExt cx="4148125" cy="1259575"/>
          </a:xfrm>
        </p:grpSpPr>
        <p:sp>
          <p:nvSpPr>
            <p:cNvPr id="615" name="Google Shape;615;p84"/>
            <p:cNvSpPr txBox="1"/>
            <p:nvPr/>
          </p:nvSpPr>
          <p:spPr>
            <a:xfrm>
              <a:off x="4537125" y="2481325"/>
              <a:ext cx="349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b="1" baseline="30000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st</a:t>
              </a:r>
              <a:r>
                <a:rPr b="1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quartile</a:t>
              </a:r>
              <a:r>
                <a:rPr lang="en">
                  <a:solidFill>
                    <a:schemeClr val="accent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(Q1, 25th percentile)</a:t>
              </a:r>
              <a:endParaRPr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16" name="Google Shape;616;p84"/>
            <p:cNvSpPr txBox="1"/>
            <p:nvPr/>
          </p:nvSpPr>
          <p:spPr>
            <a:xfrm>
              <a:off x="4533500" y="2022150"/>
              <a:ext cx="238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b="1" baseline="30000" lang="en">
                  <a:latin typeface="Roboto"/>
                  <a:ea typeface="Roboto"/>
                  <a:cs typeface="Roboto"/>
                  <a:sym typeface="Roboto"/>
                </a:rPr>
                <a:t>nd</a:t>
              </a: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 quartile</a:t>
              </a: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 (median)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17" name="Google Shape;617;p84"/>
            <p:cNvSpPr txBox="1"/>
            <p:nvPr/>
          </p:nvSpPr>
          <p:spPr>
            <a:xfrm>
              <a:off x="4533500" y="1621950"/>
              <a:ext cx="285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b="1" baseline="30000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rd</a:t>
              </a:r>
              <a:r>
                <a:rPr b="1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quartile</a:t>
              </a:r>
              <a:r>
                <a:rPr lang="en">
                  <a:solidFill>
                    <a:schemeClr val="accent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(Q3, 75th percentile)</a:t>
              </a:r>
              <a:endParaRPr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618" name="Google Shape;618;p84"/>
            <p:cNvCxnSpPr>
              <a:stCxn id="617" idx="1"/>
            </p:cNvCxnSpPr>
            <p:nvPr/>
          </p:nvCxnSpPr>
          <p:spPr>
            <a:xfrm flipH="1">
              <a:off x="3880100" y="1822050"/>
              <a:ext cx="653400" cy="231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9" name="Google Shape;619;p84"/>
            <p:cNvCxnSpPr>
              <a:stCxn id="615" idx="1"/>
            </p:cNvCxnSpPr>
            <p:nvPr/>
          </p:nvCxnSpPr>
          <p:spPr>
            <a:xfrm rot="10800000">
              <a:off x="3921825" y="2488825"/>
              <a:ext cx="615300" cy="19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0" name="Google Shape;620;p84"/>
            <p:cNvCxnSpPr>
              <a:stCxn id="616" idx="1"/>
            </p:cNvCxnSpPr>
            <p:nvPr/>
          </p:nvCxnSpPr>
          <p:spPr>
            <a:xfrm flipH="1">
              <a:off x="3890600" y="2222250"/>
              <a:ext cx="642900" cy="1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21" name="Google Shape;621;p84"/>
          <p:cNvGrpSpPr/>
          <p:nvPr/>
        </p:nvGrpSpPr>
        <p:grpSpPr>
          <a:xfrm>
            <a:off x="3859575" y="1161325"/>
            <a:ext cx="4925700" cy="2251675"/>
            <a:chOff x="3859575" y="1161325"/>
            <a:chExt cx="4925700" cy="2251675"/>
          </a:xfrm>
        </p:grpSpPr>
        <p:sp>
          <p:nvSpPr>
            <p:cNvPr id="622" name="Google Shape;622;p84"/>
            <p:cNvSpPr txBox="1"/>
            <p:nvPr/>
          </p:nvSpPr>
          <p:spPr>
            <a:xfrm>
              <a:off x="4505775" y="1161325"/>
              <a:ext cx="419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Whisker</a:t>
              </a: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: Largest </a:t>
              </a: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non-outlier data point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23" name="Google Shape;623;p84"/>
            <p:cNvSpPr txBox="1"/>
            <p:nvPr/>
          </p:nvSpPr>
          <p:spPr>
            <a:xfrm>
              <a:off x="4505775" y="3012800"/>
              <a:ext cx="427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Whisker</a:t>
              </a: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: </a:t>
              </a: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Smallest non-outlier </a:t>
              </a: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data point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624" name="Google Shape;624;p84"/>
            <p:cNvCxnSpPr/>
            <p:nvPr/>
          </p:nvCxnSpPr>
          <p:spPr>
            <a:xfrm rot="10800000">
              <a:off x="3859575" y="1360275"/>
              <a:ext cx="646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5" name="Google Shape;625;p84"/>
            <p:cNvCxnSpPr/>
            <p:nvPr/>
          </p:nvCxnSpPr>
          <p:spPr>
            <a:xfrm rot="10800000">
              <a:off x="3906375" y="3212900"/>
              <a:ext cx="646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26" name="Google Shape;626;p84"/>
          <p:cNvGrpSpPr/>
          <p:nvPr/>
        </p:nvGrpSpPr>
        <p:grpSpPr>
          <a:xfrm>
            <a:off x="2936425" y="500600"/>
            <a:ext cx="5329800" cy="3694700"/>
            <a:chOff x="2936425" y="500600"/>
            <a:chExt cx="5329800" cy="3694700"/>
          </a:xfrm>
        </p:grpSpPr>
        <p:sp>
          <p:nvSpPr>
            <p:cNvPr id="627" name="Google Shape;627;p84"/>
            <p:cNvSpPr txBox="1"/>
            <p:nvPr/>
          </p:nvSpPr>
          <p:spPr>
            <a:xfrm>
              <a:off x="4595725" y="500600"/>
              <a:ext cx="285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5B5B5B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Outliers  (&gt; Q</a:t>
              </a:r>
              <a:r>
                <a:rPr lang="en">
                  <a:solidFill>
                    <a:srgbClr val="5B5B5B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3</a:t>
              </a:r>
              <a:r>
                <a:rPr lang="en">
                  <a:solidFill>
                    <a:srgbClr val="5B5B5B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+ 1.5*IQR)</a:t>
              </a:r>
              <a:endParaRPr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28" name="Google Shape;628;p84"/>
            <p:cNvSpPr txBox="1"/>
            <p:nvPr/>
          </p:nvSpPr>
          <p:spPr>
            <a:xfrm>
              <a:off x="4595725" y="3795100"/>
              <a:ext cx="367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5B5B5B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Outliers (&lt; Q1 - 1.5*IQR)</a:t>
              </a:r>
              <a:endParaRPr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629" name="Google Shape;629;p84"/>
            <p:cNvCxnSpPr>
              <a:stCxn id="627" idx="1"/>
            </p:cNvCxnSpPr>
            <p:nvPr/>
          </p:nvCxnSpPr>
          <p:spPr>
            <a:xfrm flipH="1">
              <a:off x="3102325" y="700700"/>
              <a:ext cx="1493400" cy="3258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0" name="Google Shape;630;p84"/>
            <p:cNvCxnSpPr/>
            <p:nvPr/>
          </p:nvCxnSpPr>
          <p:spPr>
            <a:xfrm rot="10800000">
              <a:off x="2936425" y="3670888"/>
              <a:ext cx="1659300" cy="324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31" name="Google Shape;631;p84"/>
          <p:cNvSpPr/>
          <p:nvPr/>
        </p:nvSpPr>
        <p:spPr>
          <a:xfrm>
            <a:off x="1478775" y="1980988"/>
            <a:ext cx="243000" cy="541500"/>
          </a:xfrm>
          <a:prstGeom prst="leftBrace">
            <a:avLst>
              <a:gd fmla="val 50000" name="adj1"/>
              <a:gd fmla="val 5039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2" name="Google Shape;632;p84"/>
          <p:cNvSpPr txBox="1"/>
          <p:nvPr/>
        </p:nvSpPr>
        <p:spPr>
          <a:xfrm>
            <a:off x="162000" y="1994663"/>
            <a:ext cx="128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50% of the </a:t>
            </a:r>
            <a:b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 lives here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3" name="Google Shape;633;p84"/>
          <p:cNvSpPr txBox="1"/>
          <p:nvPr/>
        </p:nvSpPr>
        <p:spPr>
          <a:xfrm>
            <a:off x="6076450" y="4229175"/>
            <a:ext cx="29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IQR = interquartile range = Q3 - Q1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84"/>
          <p:cNvSpPr txBox="1"/>
          <p:nvPr/>
        </p:nvSpPr>
        <p:spPr>
          <a:xfrm>
            <a:off x="523525" y="4663225"/>
            <a:ext cx="630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4A86E8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Why 1.5?</a:t>
            </a:r>
            <a:r>
              <a:rPr lang="en" sz="10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"I was present when Dr. John Tukey gave a talk, and he was asked... why 1.5 was chosen [for the IQR multiplier].... what he [Tukey] said was [that] 2 was too big... and 1 was too small... and 1.5 was just right."</a:t>
            </a:r>
            <a:endParaRPr sz="10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0" name="Google Shape;640;p8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641" name="Google Shape;641;p85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What's the minimum possible length of a boxplot whisker? (Hint: try to come up with an example dataset and/or boxplot that would make the whiskers as small as possible)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p8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3" name="Google Shape;643;p8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644" name="Google Shape;64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645" name="Google Shape;645;p85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646" name="Google Shape;646;p85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Hypothetical boxplot</a:t>
            </a:r>
            <a:endParaRPr/>
          </a:p>
        </p:txBody>
      </p:sp>
      <p:sp>
        <p:nvSpPr>
          <p:cNvPr id="652" name="Google Shape;65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3" name="Google Shape;653;p86"/>
          <p:cNvPicPr preferRelativeResize="0"/>
          <p:nvPr/>
        </p:nvPicPr>
        <p:blipFill rotWithShape="1">
          <a:blip r:embed="rId3">
            <a:alphaModFix/>
          </a:blip>
          <a:srcRect b="0" l="0" r="0" t="1088"/>
          <a:stretch/>
        </p:blipFill>
        <p:spPr>
          <a:xfrm>
            <a:off x="1508025" y="785150"/>
            <a:ext cx="3085200" cy="38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6"/>
          <p:cNvSpPr txBox="1"/>
          <p:nvPr/>
        </p:nvSpPr>
        <p:spPr>
          <a:xfrm>
            <a:off x="4978350" y="2481325"/>
            <a:ext cx="34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5" name="Google Shape;655;p86"/>
          <p:cNvSpPr txBox="1"/>
          <p:nvPr/>
        </p:nvSpPr>
        <p:spPr>
          <a:xfrm>
            <a:off x="4974725" y="1621950"/>
            <a:ext cx="285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6" name="Google Shape;656;p86"/>
          <p:cNvSpPr txBox="1"/>
          <p:nvPr/>
        </p:nvSpPr>
        <p:spPr>
          <a:xfrm>
            <a:off x="4947000" y="1161325"/>
            <a:ext cx="41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No Upper Whisker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! All values above Q3 are outliers.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7" name="Google Shape;657;p86"/>
          <p:cNvSpPr txBox="1"/>
          <p:nvPr/>
        </p:nvSpPr>
        <p:spPr>
          <a:xfrm>
            <a:off x="5036950" y="500600"/>
            <a:ext cx="285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Outliers  (&gt; Q3 + 1.5*IQR)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8" name="Google Shape;658;p86"/>
          <p:cNvSpPr txBox="1"/>
          <p:nvPr/>
        </p:nvSpPr>
        <p:spPr>
          <a:xfrm>
            <a:off x="5036950" y="3795100"/>
            <a:ext cx="367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Outliers (&lt; Q1 - 1.5*IQR)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59" name="Google Shape;659;p86"/>
          <p:cNvCxnSpPr>
            <a:stCxn id="655" idx="1"/>
          </p:cNvCxnSpPr>
          <p:nvPr/>
        </p:nvCxnSpPr>
        <p:spPr>
          <a:xfrm flipH="1">
            <a:off x="4321325" y="1822050"/>
            <a:ext cx="653400" cy="231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86"/>
          <p:cNvCxnSpPr>
            <a:stCxn id="657" idx="1"/>
          </p:cNvCxnSpPr>
          <p:nvPr/>
        </p:nvCxnSpPr>
        <p:spPr>
          <a:xfrm flipH="1">
            <a:off x="3543550" y="700700"/>
            <a:ext cx="1493400" cy="325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86"/>
          <p:cNvCxnSpPr>
            <a:stCxn id="654" idx="1"/>
          </p:cNvCxnSpPr>
          <p:nvPr/>
        </p:nvCxnSpPr>
        <p:spPr>
          <a:xfrm rot="10800000">
            <a:off x="4363050" y="2488825"/>
            <a:ext cx="615300" cy="192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86"/>
          <p:cNvCxnSpPr/>
          <p:nvPr/>
        </p:nvCxnSpPr>
        <p:spPr>
          <a:xfrm rot="10800000">
            <a:off x="3377650" y="3670888"/>
            <a:ext cx="1659300" cy="324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3" name="Google Shape;663;p86"/>
          <p:cNvSpPr/>
          <p:nvPr/>
        </p:nvSpPr>
        <p:spPr>
          <a:xfrm>
            <a:off x="2662050" y="1342150"/>
            <a:ext cx="1042800" cy="6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4" name="Google Shape;664;p86"/>
          <p:cNvSpPr/>
          <p:nvPr/>
        </p:nvSpPr>
        <p:spPr>
          <a:xfrm>
            <a:off x="2682000" y="2518251"/>
            <a:ext cx="1042800" cy="73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5" name="Google Shape;665;p86"/>
          <p:cNvSpPr txBox="1"/>
          <p:nvPr/>
        </p:nvSpPr>
        <p:spPr>
          <a:xfrm>
            <a:off x="4947000" y="2940500"/>
            <a:ext cx="41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No Lower Whisker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! All values below Q1 are outliers.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6" name="Google Shape;666;p86"/>
          <p:cNvSpPr/>
          <p:nvPr/>
        </p:nvSpPr>
        <p:spPr>
          <a:xfrm>
            <a:off x="1474400" y="635650"/>
            <a:ext cx="487500" cy="38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67" name="Google Shape;667;p86"/>
          <p:cNvCxnSpPr/>
          <p:nvPr/>
        </p:nvCxnSpPr>
        <p:spPr>
          <a:xfrm>
            <a:off x="1898025" y="475800"/>
            <a:ext cx="0" cy="4475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Box Plots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87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application rates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75" name="Google Shape;675;p87"/>
          <p:cNvGraphicFramePr/>
          <p:nvPr/>
        </p:nvGraphicFramePr>
        <p:xfrm>
          <a:off x="107050" y="451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116900"/>
                <a:gridCol w="5320750"/>
              </a:tblGrid>
              <a:tr h="10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/>
                </a:tc>
              </a:tr>
              <a:tr h="11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boxplot of the values in app_rate.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sns.boxplot(df_new, x='app_rate')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/>
                </a:tc>
              </a:tr>
            </a:tbl>
          </a:graphicData>
        </a:graphic>
      </p:graphicFrame>
      <p:pic>
        <p:nvPicPr>
          <p:cNvPr id="676" name="Google Shape;67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00" y="1525787"/>
            <a:ext cx="1879325" cy="15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525" y="1203737"/>
            <a:ext cx="3321000" cy="27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Histograms</a:t>
            </a:r>
            <a:endParaRPr/>
          </a:p>
        </p:txBody>
      </p:sp>
      <p:sp>
        <p:nvSpPr>
          <p:cNvPr id="683" name="Google Shape;683;p88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application rates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85" name="Google Shape;685;p88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116900"/>
                <a:gridCol w="5320750"/>
              </a:tblGrid>
              <a:tr h="12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histogram of the values in app_rate.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sns.histplot(df_new, x='app_rate')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686" name="Google Shape;68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125" y="1530862"/>
            <a:ext cx="1879325" cy="15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650" y="1072438"/>
            <a:ext cx="3660174" cy="272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oogle Shape;692;p89"/>
          <p:cNvGrpSpPr/>
          <p:nvPr/>
        </p:nvGrpSpPr>
        <p:grpSpPr>
          <a:xfrm>
            <a:off x="462096" y="1365250"/>
            <a:ext cx="4109905" cy="2963600"/>
            <a:chOff x="462096" y="1365250"/>
            <a:chExt cx="4109905" cy="2963600"/>
          </a:xfrm>
        </p:grpSpPr>
        <p:grpSp>
          <p:nvGrpSpPr>
            <p:cNvPr id="693" name="Google Shape;693;p89"/>
            <p:cNvGrpSpPr/>
            <p:nvPr/>
          </p:nvGrpSpPr>
          <p:grpSpPr>
            <a:xfrm>
              <a:off x="462096" y="1909500"/>
              <a:ext cx="3532484" cy="2419350"/>
              <a:chOff x="462096" y="1909500"/>
              <a:chExt cx="3532484" cy="2419350"/>
            </a:xfrm>
          </p:grpSpPr>
          <p:pic>
            <p:nvPicPr>
              <p:cNvPr id="694" name="Google Shape;69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62096" y="1909500"/>
                <a:ext cx="3532484" cy="2419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5" name="Google Shape;695;p89"/>
              <p:cNvSpPr/>
              <p:nvPr/>
            </p:nvSpPr>
            <p:spPr>
              <a:xfrm rot="-5400000">
                <a:off x="2671471" y="2426575"/>
                <a:ext cx="134700" cy="21312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89"/>
              <p:cNvSpPr txBox="1"/>
              <p:nvPr/>
            </p:nvSpPr>
            <p:spPr>
              <a:xfrm>
                <a:off x="2007221" y="3049825"/>
                <a:ext cx="152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 Light"/>
                    <a:ea typeface="Roboto Light"/>
                    <a:cs typeface="Roboto Light"/>
                    <a:sym typeface="Roboto Light"/>
                  </a:rPr>
                  <a:t>A long </a:t>
                </a:r>
                <a:r>
                  <a:rPr b="1" lang="en">
                    <a:latin typeface="Roboto"/>
                    <a:ea typeface="Roboto"/>
                    <a:cs typeface="Roboto"/>
                    <a:sym typeface="Roboto"/>
                  </a:rPr>
                  <a:t>right</a:t>
                </a:r>
                <a:r>
                  <a:rPr lang="en">
                    <a:latin typeface="Roboto Light"/>
                    <a:ea typeface="Roboto Light"/>
                    <a:cs typeface="Roboto Light"/>
                    <a:sym typeface="Roboto Light"/>
                  </a:rPr>
                  <a:t> tail</a:t>
                </a:r>
                <a:endParaRPr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697" name="Google Shape;697;p89"/>
            <p:cNvSpPr txBox="1"/>
            <p:nvPr/>
          </p:nvSpPr>
          <p:spPr>
            <a:xfrm>
              <a:off x="512401" y="1365250"/>
              <a:ext cx="40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Right/positive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skew   →   Mean &gt; Median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98" name="Google Shape;698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Histograms</a:t>
            </a:r>
            <a:endParaRPr/>
          </a:p>
        </p:txBody>
      </p:sp>
      <p:sp>
        <p:nvSpPr>
          <p:cNvPr id="699" name="Google Shape;699;p89"/>
          <p:cNvSpPr txBox="1"/>
          <p:nvPr>
            <p:ph idx="1" type="body"/>
          </p:nvPr>
        </p:nvSpPr>
        <p:spPr>
          <a:xfrm>
            <a:off x="107050" y="402200"/>
            <a:ext cx="8520600" cy="14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skew</a:t>
            </a:r>
            <a:r>
              <a:rPr lang="en"/>
              <a:t> of a histogram describes the direction in which its "tail" extends.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01" name="Google Shape;701;p89"/>
          <p:cNvGrpSpPr/>
          <p:nvPr/>
        </p:nvGrpSpPr>
        <p:grpSpPr>
          <a:xfrm>
            <a:off x="1462371" y="1945475"/>
            <a:ext cx="2411100" cy="881900"/>
            <a:chOff x="1795625" y="2279850"/>
            <a:chExt cx="2411100" cy="881900"/>
          </a:xfrm>
        </p:grpSpPr>
        <p:sp>
          <p:nvSpPr>
            <p:cNvPr id="702" name="Google Shape;702;p89"/>
            <p:cNvSpPr txBox="1"/>
            <p:nvPr/>
          </p:nvSpPr>
          <p:spPr>
            <a:xfrm>
              <a:off x="1795625" y="2484650"/>
              <a:ext cx="24111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Looks like a </a:t>
              </a: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on its side → </a:t>
              </a: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for positive skew!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03" name="Google Shape;703;p89"/>
            <p:cNvSpPr txBox="1"/>
            <p:nvPr/>
          </p:nvSpPr>
          <p:spPr>
            <a:xfrm rot="-5400000">
              <a:off x="2884100" y="2161200"/>
              <a:ext cx="316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endParaRPr b="1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4" name="Google Shape;704;p89"/>
          <p:cNvGrpSpPr/>
          <p:nvPr/>
        </p:nvGrpSpPr>
        <p:grpSpPr>
          <a:xfrm>
            <a:off x="4895400" y="1365250"/>
            <a:ext cx="4059600" cy="2949900"/>
            <a:chOff x="4895400" y="1365250"/>
            <a:chExt cx="4059600" cy="2949900"/>
          </a:xfrm>
        </p:grpSpPr>
        <p:grpSp>
          <p:nvGrpSpPr>
            <p:cNvPr id="705" name="Google Shape;705;p89"/>
            <p:cNvGrpSpPr/>
            <p:nvPr/>
          </p:nvGrpSpPr>
          <p:grpSpPr>
            <a:xfrm>
              <a:off x="5136900" y="1895800"/>
              <a:ext cx="3383700" cy="2419350"/>
              <a:chOff x="4884650" y="2243875"/>
              <a:chExt cx="3383700" cy="2419350"/>
            </a:xfrm>
          </p:grpSpPr>
          <p:pic>
            <p:nvPicPr>
              <p:cNvPr id="706" name="Google Shape;706;p8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884650" y="2243875"/>
                <a:ext cx="3383700" cy="2419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7" name="Google Shape;707;p89"/>
              <p:cNvSpPr/>
              <p:nvPr/>
            </p:nvSpPr>
            <p:spPr>
              <a:xfrm rot="-5400000">
                <a:off x="6396150" y="2774925"/>
                <a:ext cx="134700" cy="21312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89"/>
              <p:cNvSpPr txBox="1"/>
              <p:nvPr/>
            </p:nvSpPr>
            <p:spPr>
              <a:xfrm>
                <a:off x="5884300" y="3398175"/>
                <a:ext cx="152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 Light"/>
                    <a:ea typeface="Roboto Light"/>
                    <a:cs typeface="Roboto Light"/>
                    <a:sym typeface="Roboto Light"/>
                  </a:rPr>
                  <a:t>A long </a:t>
                </a:r>
                <a:r>
                  <a:rPr b="1" lang="en">
                    <a:latin typeface="Roboto"/>
                    <a:ea typeface="Roboto"/>
                    <a:cs typeface="Roboto"/>
                    <a:sym typeface="Roboto"/>
                  </a:rPr>
                  <a:t>left</a:t>
                </a:r>
                <a:r>
                  <a:rPr lang="en">
                    <a:latin typeface="Roboto Light"/>
                    <a:ea typeface="Roboto Light"/>
                    <a:cs typeface="Roboto Light"/>
                    <a:sym typeface="Roboto Light"/>
                  </a:rPr>
                  <a:t> tail</a:t>
                </a:r>
                <a:endParaRPr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709" name="Google Shape;709;p89"/>
            <p:cNvSpPr txBox="1"/>
            <p:nvPr/>
          </p:nvSpPr>
          <p:spPr>
            <a:xfrm>
              <a:off x="4895400" y="1365250"/>
              <a:ext cx="40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Left/negative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skew   →   Mean &lt; Median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Histograms</a:t>
            </a:r>
            <a:endParaRPr/>
          </a:p>
        </p:txBody>
      </p:sp>
      <p:sp>
        <p:nvSpPr>
          <p:cNvPr id="715" name="Google Shape;715;p90"/>
          <p:cNvSpPr txBox="1"/>
          <p:nvPr>
            <p:ph idx="1" type="body"/>
          </p:nvPr>
        </p:nvSpPr>
        <p:spPr>
          <a:xfrm>
            <a:off x="107050" y="402200"/>
            <a:ext cx="8520600" cy="14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mode</a:t>
            </a:r>
            <a:r>
              <a:rPr lang="en"/>
              <a:t> is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</a:t>
            </a:r>
            <a:r>
              <a:rPr lang="en"/>
              <a:t>st frequent value of a distribution.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distribution with one clear peak is called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unimodal</a:t>
            </a:r>
            <a:r>
              <a:rPr lang="en"/>
              <a:t>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peaks: bimodal.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More peaks: multimodal.</a:t>
            </a:r>
            <a:endParaRPr/>
          </a:p>
        </p:txBody>
      </p:sp>
      <p:sp>
        <p:nvSpPr>
          <p:cNvPr id="716" name="Google Shape;716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7" name="Google Shape;71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0" y="1895800"/>
            <a:ext cx="3782997" cy="276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900" y="1895788"/>
            <a:ext cx="4036699" cy="2766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90"/>
          <p:cNvCxnSpPr/>
          <p:nvPr/>
        </p:nvCxnSpPr>
        <p:spPr>
          <a:xfrm flipH="1">
            <a:off x="2032625" y="2281400"/>
            <a:ext cx="1068000" cy="17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90"/>
          <p:cNvSpPr txBox="1"/>
          <p:nvPr/>
        </p:nvSpPr>
        <p:spPr>
          <a:xfrm>
            <a:off x="3072650" y="2057600"/>
            <a:ext cx="15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Unimodal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21" name="Google Shape;721;p90"/>
          <p:cNvCxnSpPr/>
          <p:nvPr/>
        </p:nvCxnSpPr>
        <p:spPr>
          <a:xfrm rot="-5400000">
            <a:off x="6061350" y="1705900"/>
            <a:ext cx="705000" cy="508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2" name="Google Shape;722;p90"/>
          <p:cNvCxnSpPr/>
          <p:nvPr/>
        </p:nvCxnSpPr>
        <p:spPr>
          <a:xfrm flipH="1" rot="-5400000">
            <a:off x="6470875" y="2042850"/>
            <a:ext cx="912600" cy="10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3" name="Google Shape;723;p90"/>
          <p:cNvSpPr txBox="1"/>
          <p:nvPr/>
        </p:nvSpPr>
        <p:spPr>
          <a:xfrm>
            <a:off x="6460675" y="12376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Bimodal?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pattern exist?</a:t>
            </a:r>
            <a:endParaRPr/>
          </a:p>
        </p:txBody>
      </p:sp>
      <p:sp>
        <p:nvSpPr>
          <p:cNvPr id="729" name="Google Shape;729;p91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1" name="Google Shape;73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122" y="1117950"/>
            <a:ext cx="4292375" cy="319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7" name="Google Shape;737;p9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738" name="Google Shape;738;p92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Why is there so much variation in application rates across schools?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9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0" name="Google Shape;740;p9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741" name="Google Shape;74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742" name="Google Shape;742;p92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743" name="Google Shape;743;p92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pattern exist?</a:t>
            </a:r>
            <a:endParaRPr/>
          </a:p>
        </p:txBody>
      </p:sp>
      <p:sp>
        <p:nvSpPr>
          <p:cNvPr id="749" name="Google Shape;749;p93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93"/>
          <p:cNvSpPr txBox="1"/>
          <p:nvPr/>
        </p:nvSpPr>
        <p:spPr>
          <a:xfrm>
            <a:off x="291025" y="3672575"/>
            <a:ext cx="856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Lots of reasons. The decision to apply is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complex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Money, distance, academic resources, individual and family priorities … do we have this data?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52" name="Google Shape;75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037" y="950225"/>
            <a:ext cx="3516774" cy="26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8" name="Google Shape;75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75" y="152400"/>
            <a:ext cx="781534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82875" cy="460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5" name="Google Shape;76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350" y="825800"/>
            <a:ext cx="4182874" cy="105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4350" y="2332200"/>
            <a:ext cx="4863326" cy="8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8250" y="3978628"/>
            <a:ext cx="5274201" cy="1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95"/>
          <p:cNvSpPr/>
          <p:nvPr/>
        </p:nvSpPr>
        <p:spPr>
          <a:xfrm>
            <a:off x="4937125" y="545625"/>
            <a:ext cx="2248800" cy="507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This is where we got the 12th grade count!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69" name="Google Shape;769;p95"/>
          <p:cNvSpPr/>
          <p:nvPr/>
        </p:nvSpPr>
        <p:spPr>
          <a:xfrm>
            <a:off x="6036750" y="1884450"/>
            <a:ext cx="2248800" cy="507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Proxy for average socioeconomic status.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0" name="Google Shape;770;p95"/>
          <p:cNvSpPr/>
          <p:nvPr/>
        </p:nvSpPr>
        <p:spPr>
          <a:xfrm>
            <a:off x="5838875" y="3182475"/>
            <a:ext cx="3093600" cy="1130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Latitude/longitude of each school → Calculate distance to Berkeley?</a:t>
            </a:r>
            <a:br>
              <a:rPr lang="en">
                <a:latin typeface="Roboto Light"/>
                <a:ea typeface="Roboto Light"/>
                <a:cs typeface="Roboto Light"/>
                <a:sym typeface="Roboto Light"/>
              </a:rPr>
            </a:b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Identify charter schools (i.e., more flexible/specialized)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13" y="2396975"/>
            <a:ext cx="8758774" cy="2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in More New Data</a:t>
            </a:r>
            <a:endParaRPr/>
          </a:p>
        </p:txBody>
      </p:sp>
      <p:sp>
        <p:nvSpPr>
          <p:cNvPr id="777" name="Google Shape;777;p96"/>
          <p:cNvSpPr txBox="1"/>
          <p:nvPr>
            <p:ph idx="1" type="body"/>
          </p:nvPr>
        </p:nvSpPr>
        <p:spPr>
          <a:xfrm>
            <a:off x="107050" y="402200"/>
            <a:ext cx="8520600" cy="22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Join the UC admissions data to the expanded California public schools data. 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🧑‍💻 Personal project idea: Reproduce these joins from scratch. Download the raw data and talk to an LLM! </a:t>
            </a:r>
            <a:endParaRPr i="1"/>
          </a:p>
        </p:txBody>
      </p:sp>
      <p:sp>
        <p:nvSpPr>
          <p:cNvPr id="778" name="Google Shape;778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9" name="Google Shape;779;p96"/>
          <p:cNvSpPr/>
          <p:nvPr/>
        </p:nvSpPr>
        <p:spPr>
          <a:xfrm>
            <a:off x="4798053" y="2319050"/>
            <a:ext cx="54300" cy="2216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Distances to UC Berkeley from each school</a:t>
            </a:r>
            <a:endParaRPr/>
          </a:p>
        </p:txBody>
      </p:sp>
      <p:sp>
        <p:nvSpPr>
          <p:cNvPr id="785" name="Google Shape;785;p97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distance to UC Berkeley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87" name="Google Shape;787;p97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116900"/>
                <a:gridCol w="5320750"/>
              </a:tblGrid>
              <a:tr h="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boxplot of the values in dist_to_ucb.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sns.boxplot(df_new, x='dist_to_ucb')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788" name="Google Shape;78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101" y="1028725"/>
            <a:ext cx="3760326" cy="312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Distances to UC Berkeley from each school</a:t>
            </a:r>
            <a:endParaRPr/>
          </a:p>
        </p:txBody>
      </p:sp>
      <p:sp>
        <p:nvSpPr>
          <p:cNvPr id="794" name="Google Shape;794;p98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distance to UC Berkeley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96" name="Google Shape;796;p98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116900"/>
                <a:gridCol w="5320750"/>
              </a:tblGrid>
              <a:tr h="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boxplot of the values in dist_to_ucb.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sns.boxplot(df_new, x='dist_to_ucb')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797" name="Google Shape;7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101" y="1028725"/>
            <a:ext cx="3760326" cy="312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9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3" name="Google Shape;803;p9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804" name="Google Shape;804;p99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Here is the boxplot of dist_to_ucb_miles. Describe the shape of the histogram of dist_to_ucb_miles.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9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6" name="Google Shape;806;p9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807" name="Google Shape;807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808" name="Google Shape;808;p9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809" name="Google Shape;809;p9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Boxplots and histograms are not interchangeable</a:t>
            </a:r>
            <a:endParaRPr/>
          </a:p>
        </p:txBody>
      </p:sp>
      <p:sp>
        <p:nvSpPr>
          <p:cNvPr id="815" name="Google Shape;815;p100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Boxplots cannot show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modality</a:t>
            </a:r>
            <a:r>
              <a:rPr lang="en"/>
              <a:t> </a:t>
            </a:r>
            <a:r>
              <a:rPr lang="en"/>
              <a:t>(i.e., number of peaks). But they are easier to glance at.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17" name="Google Shape;817;p100"/>
          <p:cNvGraphicFramePr/>
          <p:nvPr/>
        </p:nvGraphicFramePr>
        <p:xfrm>
          <a:off x="107050" y="455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3468725"/>
                <a:gridCol w="4968925"/>
              </a:tblGrid>
              <a:tr h="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/>
                </a:tc>
              </a:tr>
              <a:tr h="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histogram of the values in dist_to_ucb.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sns.histplot(df, x='dist_to_ucb')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/>
                </a:tc>
              </a:tr>
            </a:tbl>
          </a:graphicData>
        </a:graphic>
      </p:graphicFrame>
      <p:pic>
        <p:nvPicPr>
          <p:cNvPr id="818" name="Google Shape;81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350" y="1130062"/>
            <a:ext cx="3464650" cy="26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25" y="1130049"/>
            <a:ext cx="3128174" cy="25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bins → More detail</a:t>
            </a:r>
            <a:endParaRPr/>
          </a:p>
        </p:txBody>
      </p:sp>
      <p:sp>
        <p:nvSpPr>
          <p:cNvPr id="825" name="Google Shape;825;p101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more bins to see more detail.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27" name="Google Shape;827;p101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4371500"/>
                <a:gridCol w="4066150"/>
              </a:tblGrid>
              <a:tr h="1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histogram of the values in dist_to_ucb, using 50 bins.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sns.histplot(df, x='dist_to_ucb', bins=50)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828" name="Google Shape;82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25" y="1079738"/>
            <a:ext cx="3616199" cy="274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350" y="1130062"/>
            <a:ext cx="3464650" cy="26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plots to real-world phenomena</a:t>
            </a:r>
            <a:endParaRPr/>
          </a:p>
        </p:txBody>
      </p:sp>
      <p:sp>
        <p:nvSpPr>
          <p:cNvPr id="835" name="Google Shape;835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6" name="Google Shape;836;p102"/>
          <p:cNvSpPr txBox="1"/>
          <p:nvPr>
            <p:ph idx="1" type="body"/>
          </p:nvPr>
        </p:nvSpPr>
        <p:spPr>
          <a:xfrm>
            <a:off x="82850" y="3936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are there three peaks (i.e., three modes, or trimodal)?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25" y="1446425"/>
            <a:ext cx="3835874" cy="29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025" y="1200438"/>
            <a:ext cx="2675923" cy="32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2645" y="2542020"/>
            <a:ext cx="259200" cy="20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Connecting plots to real-world phenomena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03"/>
          <p:cNvSpPr txBox="1"/>
          <p:nvPr>
            <p:ph idx="1" type="body"/>
          </p:nvPr>
        </p:nvSpPr>
        <p:spPr>
          <a:xfrm>
            <a:off x="93150" y="399525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three population hubs in California: Bay Area, LA/Orange County, and San Diego.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47" name="Google Shape;847;p103"/>
          <p:cNvGraphicFramePr/>
          <p:nvPr/>
        </p:nvGraphicFramePr>
        <p:xfrm>
          <a:off x="156175" y="423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{8FED6840-9BD6-4F22-91A9-2DCE8AE9BBBB}</a:tableStyleId>
              </a:tblPr>
              <a:tblGrid>
                <a:gridCol w="1733500"/>
                <a:gridCol w="3352075"/>
                <a:gridCol w="3352075"/>
              </a:tblGrid>
              <a:tr h="7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SQL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For each city, count the number of rows.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df['city'].value_counts()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COUNT(*)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city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848" name="Google Shape;84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750" y="1046300"/>
            <a:ext cx="3652625" cy="276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625" y="1046300"/>
            <a:ext cx="1950218" cy="23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5145" y="1980345"/>
            <a:ext cx="259200" cy="20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2125" y="1189418"/>
            <a:ext cx="2021587" cy="23228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103"/>
          <p:cNvGrpSpPr/>
          <p:nvPr/>
        </p:nvGrpSpPr>
        <p:grpSpPr>
          <a:xfrm>
            <a:off x="731475" y="1862475"/>
            <a:ext cx="6939675" cy="1855225"/>
            <a:chOff x="731475" y="1862475"/>
            <a:chExt cx="6939675" cy="1855225"/>
          </a:xfrm>
        </p:grpSpPr>
        <p:sp>
          <p:nvSpPr>
            <p:cNvPr id="853" name="Google Shape;853;p103"/>
            <p:cNvSpPr/>
            <p:nvPr/>
          </p:nvSpPr>
          <p:spPr>
            <a:xfrm>
              <a:off x="731475" y="2393500"/>
              <a:ext cx="805800" cy="13242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4" name="Google Shape;854;p103"/>
            <p:cNvSpPr/>
            <p:nvPr/>
          </p:nvSpPr>
          <p:spPr>
            <a:xfrm>
              <a:off x="7198350" y="1862475"/>
              <a:ext cx="472800" cy="443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5" name="Google Shape;855;p103"/>
            <p:cNvSpPr/>
            <p:nvPr/>
          </p:nvSpPr>
          <p:spPr>
            <a:xfrm>
              <a:off x="4691675" y="1862475"/>
              <a:ext cx="1683300" cy="9732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6" name="Google Shape;856;p103"/>
          <p:cNvGrpSpPr/>
          <p:nvPr/>
        </p:nvGrpSpPr>
        <p:grpSpPr>
          <a:xfrm>
            <a:off x="3240675" y="1638288"/>
            <a:ext cx="5203675" cy="1926663"/>
            <a:chOff x="3240675" y="1638288"/>
            <a:chExt cx="5203675" cy="1926663"/>
          </a:xfrm>
        </p:grpSpPr>
        <p:sp>
          <p:nvSpPr>
            <p:cNvPr id="857" name="Google Shape;857;p103"/>
            <p:cNvSpPr/>
            <p:nvPr/>
          </p:nvSpPr>
          <p:spPr>
            <a:xfrm>
              <a:off x="3240675" y="2745350"/>
              <a:ext cx="375000" cy="819600"/>
            </a:xfrm>
            <a:prstGeom prst="rect">
              <a:avLst/>
            </a:prstGeom>
            <a:noFill/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8" name="Google Shape;858;p103"/>
            <p:cNvSpPr/>
            <p:nvPr/>
          </p:nvSpPr>
          <p:spPr>
            <a:xfrm>
              <a:off x="8185150" y="3138875"/>
              <a:ext cx="259200" cy="175500"/>
            </a:xfrm>
            <a:prstGeom prst="rect">
              <a:avLst/>
            </a:prstGeom>
            <a:noFill/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9" name="Google Shape;859;p103"/>
            <p:cNvSpPr/>
            <p:nvPr/>
          </p:nvSpPr>
          <p:spPr>
            <a:xfrm>
              <a:off x="4680700" y="1638288"/>
              <a:ext cx="1683300" cy="201600"/>
            </a:xfrm>
            <a:prstGeom prst="rect">
              <a:avLst/>
            </a:prstGeom>
            <a:noFill/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0" name="Google Shape;860;p103"/>
          <p:cNvGrpSpPr/>
          <p:nvPr/>
        </p:nvGrpSpPr>
        <p:grpSpPr>
          <a:xfrm>
            <a:off x="2518500" y="1189425"/>
            <a:ext cx="5875750" cy="2417100"/>
            <a:chOff x="2518500" y="1189425"/>
            <a:chExt cx="5875750" cy="2417100"/>
          </a:xfrm>
        </p:grpSpPr>
        <p:sp>
          <p:nvSpPr>
            <p:cNvPr id="861" name="Google Shape;861;p103"/>
            <p:cNvSpPr/>
            <p:nvPr/>
          </p:nvSpPr>
          <p:spPr>
            <a:xfrm>
              <a:off x="2518500" y="1189425"/>
              <a:ext cx="693900" cy="2417100"/>
            </a:xfrm>
            <a:prstGeom prst="rect">
              <a:avLst/>
            </a:prstGeom>
            <a:noFill/>
            <a:ln cap="flat" cmpd="sng" w="9525">
              <a:solidFill>
                <a:srgbClr val="00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2" name="Google Shape;862;p103"/>
            <p:cNvSpPr/>
            <p:nvPr/>
          </p:nvSpPr>
          <p:spPr>
            <a:xfrm>
              <a:off x="7810150" y="2784650"/>
              <a:ext cx="584100" cy="309600"/>
            </a:xfrm>
            <a:prstGeom prst="rect">
              <a:avLst/>
            </a:prstGeom>
            <a:noFill/>
            <a:ln cap="flat" cmpd="sng" w="9525">
              <a:solidFill>
                <a:srgbClr val="00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3" name="Google Shape;863;p103"/>
            <p:cNvSpPr/>
            <p:nvPr/>
          </p:nvSpPr>
          <p:spPr>
            <a:xfrm>
              <a:off x="4669600" y="1414100"/>
              <a:ext cx="1705500" cy="201600"/>
            </a:xfrm>
            <a:prstGeom prst="rect">
              <a:avLst/>
            </a:prstGeom>
            <a:noFill/>
            <a:ln cap="flat" cmpd="sng" w="9525">
              <a:solidFill>
                <a:srgbClr val="00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4" name="Google Shape;864;p103"/>
            <p:cNvSpPr/>
            <p:nvPr/>
          </p:nvSpPr>
          <p:spPr>
            <a:xfrm>
              <a:off x="4680575" y="3300725"/>
              <a:ext cx="1705500" cy="201600"/>
            </a:xfrm>
            <a:prstGeom prst="rect">
              <a:avLst/>
            </a:prstGeom>
            <a:noFill/>
            <a:ln cap="flat" cmpd="sng" w="9525">
              <a:solidFill>
                <a:srgbClr val="00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5" name="Google Shape;865;p103"/>
          <p:cNvGrpSpPr/>
          <p:nvPr/>
        </p:nvGrpSpPr>
        <p:grpSpPr>
          <a:xfrm>
            <a:off x="1549650" y="2263975"/>
            <a:ext cx="6540675" cy="1318500"/>
            <a:chOff x="1549650" y="2263975"/>
            <a:chExt cx="6540675" cy="1318500"/>
          </a:xfrm>
        </p:grpSpPr>
        <p:sp>
          <p:nvSpPr>
            <p:cNvPr id="866" name="Google Shape;866;p103"/>
            <p:cNvSpPr/>
            <p:nvPr/>
          </p:nvSpPr>
          <p:spPr>
            <a:xfrm>
              <a:off x="1549650" y="2911975"/>
              <a:ext cx="951600" cy="670500"/>
            </a:xfrm>
            <a:prstGeom prst="rect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7" name="Google Shape;867;p103"/>
            <p:cNvSpPr/>
            <p:nvPr/>
          </p:nvSpPr>
          <p:spPr>
            <a:xfrm>
              <a:off x="7736025" y="2263975"/>
              <a:ext cx="354300" cy="520500"/>
            </a:xfrm>
            <a:prstGeom prst="rect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8" name="Google Shape;868;p103"/>
            <p:cNvSpPr/>
            <p:nvPr/>
          </p:nvSpPr>
          <p:spPr>
            <a:xfrm>
              <a:off x="4679900" y="2871400"/>
              <a:ext cx="1705500" cy="393600"/>
            </a:xfrm>
            <a:prstGeom prst="rect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application rates</a:t>
            </a:r>
            <a:endParaRPr/>
          </a:p>
        </p:txBody>
      </p:sp>
      <p:sp>
        <p:nvSpPr>
          <p:cNvPr id="874" name="Google Shape;874;p104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104"/>
          <p:cNvSpPr txBox="1"/>
          <p:nvPr/>
        </p:nvSpPr>
        <p:spPr>
          <a:xfrm>
            <a:off x="285475" y="3338675"/>
            <a:ext cx="8603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Lots of reasons. This is a 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hard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issue.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Money, distance, academic resources, individual and family 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priorities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…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Starting point: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application rates correlate with free reduced lunch (FRL) percentage?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7" name="Google Shape;87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25" y="875850"/>
            <a:ext cx="3110526" cy="23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questions about the admissions dataset</a:t>
            </a:r>
            <a:endParaRPr/>
          </a:p>
        </p:txBody>
      </p:sp>
      <p:sp>
        <p:nvSpPr>
          <p:cNvPr id="883" name="Google Shape;883;p105"/>
          <p:cNvSpPr txBox="1"/>
          <p:nvPr>
            <p:ph idx="1" type="body"/>
          </p:nvPr>
        </p:nvSpPr>
        <p:spPr>
          <a:xfrm>
            <a:off x="107050" y="550600"/>
            <a:ext cx="8520600" cy="4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 you trust the data? How closely does it correspond to the truth?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Which schools have the highest application/admission/attendance rates?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Extremes.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>
                <a:solidFill>
                  <a:schemeClr val="dk2"/>
                </a:solidFill>
              </a:rPr>
              <a:t>How much do application/admission/attendance rates differ across schools?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How are distance from UC Berkeley, average socioeconomic status, free/reduced lunch percentage, and charter status related to the rates above?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Correlation.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More on this one next time!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Exploratory</a:t>
            </a:r>
            <a:r>
              <a:rPr lang="en">
                <a:solidFill>
                  <a:schemeClr val="accent3"/>
                </a:solidFill>
              </a:rPr>
              <a:t> Data Analysis (EDA) I</a:t>
            </a:r>
            <a:endParaRPr/>
          </a:p>
        </p:txBody>
      </p:sp>
      <p:sp>
        <p:nvSpPr>
          <p:cNvPr id="890" name="Google Shape;890;p106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1" name="Google Shape;891;p106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2" name="Google Shape;892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